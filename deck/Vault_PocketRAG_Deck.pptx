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Oval 3"/>
          <p:cNvSpPr/>
          <p:nvPr/>
        </p:nvSpPr>
        <p:spPr>
          <a:xfrm>
            <a:off x="9531954" y="984928"/>
            <a:ext cx="31089" cy="31089"/>
          </a:xfrm>
          <a:prstGeom prst="ellipse">
            <a:avLst/>
          </a:prstGeom>
          <a:solidFill>
            <a:srgbClr val="1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Oval 4"/>
          <p:cNvSpPr/>
          <p:nvPr/>
        </p:nvSpPr>
        <p:spPr>
          <a:xfrm>
            <a:off x="8004974" y="2191734"/>
            <a:ext cx="31089" cy="31089"/>
          </a:xfrm>
          <a:prstGeom prst="ellipse">
            <a:avLst/>
          </a:prstGeom>
          <a:solidFill>
            <a:srgbClr val="12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Oval 5"/>
          <p:cNvSpPr/>
          <p:nvPr/>
        </p:nvSpPr>
        <p:spPr>
          <a:xfrm>
            <a:off x="7335035" y="1738194"/>
            <a:ext cx="31089" cy="31089"/>
          </a:xfrm>
          <a:prstGeom prst="ellipse">
            <a:avLst/>
          </a:prstGeom>
          <a:solidFill>
            <a:srgbClr val="102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Oval 6"/>
          <p:cNvSpPr/>
          <p:nvPr/>
        </p:nvSpPr>
        <p:spPr>
          <a:xfrm>
            <a:off x="11224987" y="1823004"/>
            <a:ext cx="31089" cy="31089"/>
          </a:xfrm>
          <a:prstGeom prst="ellipse">
            <a:avLst/>
          </a:prstGeom>
          <a:solidFill>
            <a:srgbClr val="11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Oval 7"/>
          <p:cNvSpPr/>
          <p:nvPr/>
        </p:nvSpPr>
        <p:spPr>
          <a:xfrm>
            <a:off x="9238345" y="1838385"/>
            <a:ext cx="31089" cy="31089"/>
          </a:xfrm>
          <a:prstGeom prst="ellipse">
            <a:avLst/>
          </a:prstGeom>
          <a:solidFill>
            <a:srgbClr val="112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Oval 8"/>
          <p:cNvSpPr/>
          <p:nvPr/>
        </p:nvSpPr>
        <p:spPr>
          <a:xfrm>
            <a:off x="6802155" y="1290725"/>
            <a:ext cx="31089" cy="31089"/>
          </a:xfrm>
          <a:prstGeom prst="ellipse">
            <a:avLst/>
          </a:prstGeom>
          <a:solidFill>
            <a:srgbClr val="123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Oval 9"/>
          <p:cNvSpPr/>
          <p:nvPr/>
        </p:nvSpPr>
        <p:spPr>
          <a:xfrm>
            <a:off x="8637269" y="1118935"/>
            <a:ext cx="31089" cy="31089"/>
          </a:xfrm>
          <a:prstGeom prst="ellipse">
            <a:avLst/>
          </a:prstGeom>
          <a:solidFill>
            <a:srgbClr val="133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Oval 10"/>
          <p:cNvSpPr/>
          <p:nvPr/>
        </p:nvSpPr>
        <p:spPr>
          <a:xfrm>
            <a:off x="11728748" y="1721534"/>
            <a:ext cx="31089" cy="31089"/>
          </a:xfrm>
          <a:prstGeom prst="ellipse">
            <a:avLst/>
          </a:prstGeom>
          <a:solidFill>
            <a:srgbClr val="11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Oval 11"/>
          <p:cNvSpPr/>
          <p:nvPr/>
        </p:nvSpPr>
        <p:spPr>
          <a:xfrm>
            <a:off x="7092703" y="624008"/>
            <a:ext cx="31089" cy="31089"/>
          </a:xfrm>
          <a:prstGeom prst="ellipse">
            <a:avLst/>
          </a:prstGeom>
          <a:solidFill>
            <a:srgbClr val="11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Oval 12"/>
          <p:cNvSpPr/>
          <p:nvPr/>
        </p:nvSpPr>
        <p:spPr>
          <a:xfrm>
            <a:off x="10831639" y="1346504"/>
            <a:ext cx="31089" cy="31089"/>
          </a:xfrm>
          <a:prstGeom prst="ellipse">
            <a:avLst/>
          </a:prstGeom>
          <a:solidFill>
            <a:srgbClr val="144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Oval 13"/>
          <p:cNvSpPr/>
          <p:nvPr/>
        </p:nvSpPr>
        <p:spPr>
          <a:xfrm>
            <a:off x="10706998" y="480743"/>
            <a:ext cx="31089" cy="31089"/>
          </a:xfrm>
          <a:prstGeom prst="ellipse">
            <a:avLst/>
          </a:prstGeom>
          <a:solidFill>
            <a:srgbClr val="11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Oval 14"/>
          <p:cNvSpPr/>
          <p:nvPr/>
        </p:nvSpPr>
        <p:spPr>
          <a:xfrm>
            <a:off x="11054580" y="2643689"/>
            <a:ext cx="31089" cy="31089"/>
          </a:xfrm>
          <a:prstGeom prst="ellipse">
            <a:avLst/>
          </a:prstGeom>
          <a:solidFill>
            <a:srgbClr val="112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Oval 15"/>
          <p:cNvSpPr/>
          <p:nvPr/>
        </p:nvSpPr>
        <p:spPr>
          <a:xfrm>
            <a:off x="7387773" y="1146118"/>
            <a:ext cx="31089" cy="31089"/>
          </a:xfrm>
          <a:prstGeom prst="ellipse">
            <a:avLst/>
          </a:prstGeom>
          <a:solidFill>
            <a:srgbClr val="133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Oval 16"/>
          <p:cNvSpPr/>
          <p:nvPr/>
        </p:nvSpPr>
        <p:spPr>
          <a:xfrm>
            <a:off x="7661230" y="2733863"/>
            <a:ext cx="31089" cy="31089"/>
          </a:xfrm>
          <a:prstGeom prst="ellipse">
            <a:avLst/>
          </a:prstGeom>
          <a:solidFill>
            <a:srgbClr val="10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Oval 17"/>
          <p:cNvSpPr/>
          <p:nvPr/>
        </p:nvSpPr>
        <p:spPr>
          <a:xfrm>
            <a:off x="11934093" y="2428447"/>
            <a:ext cx="31089" cy="31089"/>
          </a:xfrm>
          <a:prstGeom prst="ellipse">
            <a:avLst/>
          </a:prstGeom>
          <a:solidFill>
            <a:srgbClr val="10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Oval 18"/>
          <p:cNvSpPr/>
          <p:nvPr/>
        </p:nvSpPr>
        <p:spPr>
          <a:xfrm>
            <a:off x="9128933" y="3163220"/>
            <a:ext cx="31089" cy="31089"/>
          </a:xfrm>
          <a:prstGeom prst="ellipse">
            <a:avLst/>
          </a:prstGeom>
          <a:solidFill>
            <a:srgbClr val="1447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Oval 19"/>
          <p:cNvSpPr/>
          <p:nvPr/>
        </p:nvSpPr>
        <p:spPr>
          <a:xfrm>
            <a:off x="7944018" y="2907406"/>
            <a:ext cx="31089" cy="31089"/>
          </a:xfrm>
          <a:prstGeom prst="ellipse">
            <a:avLst/>
          </a:prstGeom>
          <a:solidFill>
            <a:srgbClr val="144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Oval 20"/>
          <p:cNvSpPr/>
          <p:nvPr/>
        </p:nvSpPr>
        <p:spPr>
          <a:xfrm>
            <a:off x="8200459" y="1203332"/>
            <a:ext cx="31089" cy="31089"/>
          </a:xfrm>
          <a:prstGeom prst="ellipse">
            <a:avLst/>
          </a:prstGeom>
          <a:solidFill>
            <a:srgbClr val="144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Oval 21"/>
          <p:cNvSpPr/>
          <p:nvPr/>
        </p:nvSpPr>
        <p:spPr>
          <a:xfrm>
            <a:off x="10354421" y="404818"/>
            <a:ext cx="31089" cy="31089"/>
          </a:xfrm>
          <a:prstGeom prst="ellipse">
            <a:avLst/>
          </a:prstGeom>
          <a:solidFill>
            <a:srgbClr val="10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Oval 22"/>
          <p:cNvSpPr/>
          <p:nvPr/>
        </p:nvSpPr>
        <p:spPr>
          <a:xfrm>
            <a:off x="10624326" y="985267"/>
            <a:ext cx="31089" cy="31089"/>
          </a:xfrm>
          <a:prstGeom prst="ellipse">
            <a:avLst/>
          </a:prstGeom>
          <a:solidFill>
            <a:srgbClr val="10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Oval 23"/>
          <p:cNvSpPr/>
          <p:nvPr/>
        </p:nvSpPr>
        <p:spPr>
          <a:xfrm>
            <a:off x="10468700" y="2107983"/>
            <a:ext cx="31089" cy="31089"/>
          </a:xfrm>
          <a:prstGeom prst="ellipse">
            <a:avLst/>
          </a:prstGeom>
          <a:solidFill>
            <a:srgbClr val="113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Oval 24"/>
          <p:cNvSpPr/>
          <p:nvPr/>
        </p:nvSpPr>
        <p:spPr>
          <a:xfrm>
            <a:off x="11764812" y="3020574"/>
            <a:ext cx="31089" cy="31089"/>
          </a:xfrm>
          <a:prstGeom prst="ellipse">
            <a:avLst/>
          </a:prstGeom>
          <a:solidFill>
            <a:srgbClr val="112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Oval 25"/>
          <p:cNvSpPr/>
          <p:nvPr/>
        </p:nvSpPr>
        <p:spPr>
          <a:xfrm>
            <a:off x="9363163" y="3152551"/>
            <a:ext cx="31089" cy="31089"/>
          </a:xfrm>
          <a:prstGeom prst="ellipse">
            <a:avLst/>
          </a:prstGeom>
          <a:solidFill>
            <a:srgbClr val="133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Oval 26"/>
          <p:cNvSpPr/>
          <p:nvPr/>
        </p:nvSpPr>
        <p:spPr>
          <a:xfrm>
            <a:off x="8311390" y="356210"/>
            <a:ext cx="31089" cy="31089"/>
          </a:xfrm>
          <a:prstGeom prst="ellipse">
            <a:avLst/>
          </a:prstGeom>
          <a:solidFill>
            <a:srgbClr val="11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Oval 27"/>
          <p:cNvSpPr/>
          <p:nvPr/>
        </p:nvSpPr>
        <p:spPr>
          <a:xfrm>
            <a:off x="11057844" y="1096924"/>
            <a:ext cx="31089" cy="31089"/>
          </a:xfrm>
          <a:prstGeom prst="ellipse">
            <a:avLst/>
          </a:prstGeom>
          <a:solidFill>
            <a:srgbClr val="113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Oval 28"/>
          <p:cNvSpPr/>
          <p:nvPr/>
        </p:nvSpPr>
        <p:spPr>
          <a:xfrm>
            <a:off x="9911589" y="1626678"/>
            <a:ext cx="31089" cy="31089"/>
          </a:xfrm>
          <a:prstGeom prst="ellipse">
            <a:avLst/>
          </a:prstGeom>
          <a:solidFill>
            <a:srgbClr val="144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Oval 29"/>
          <p:cNvSpPr/>
          <p:nvPr/>
        </p:nvSpPr>
        <p:spPr>
          <a:xfrm>
            <a:off x="8625939" y="2934938"/>
            <a:ext cx="31089" cy="31089"/>
          </a:xfrm>
          <a:prstGeom prst="ellipse">
            <a:avLst/>
          </a:prstGeom>
          <a:solidFill>
            <a:srgbClr val="112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Oval 30"/>
          <p:cNvSpPr/>
          <p:nvPr/>
        </p:nvSpPr>
        <p:spPr>
          <a:xfrm>
            <a:off x="7917182" y="2071350"/>
            <a:ext cx="31089" cy="31089"/>
          </a:xfrm>
          <a:prstGeom prst="ellipse">
            <a:avLst/>
          </a:prstGeom>
          <a:solidFill>
            <a:srgbClr val="144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Oval 31"/>
          <p:cNvSpPr/>
          <p:nvPr/>
        </p:nvSpPr>
        <p:spPr>
          <a:xfrm>
            <a:off x="9457327" y="1861804"/>
            <a:ext cx="31089" cy="31089"/>
          </a:xfrm>
          <a:prstGeom prst="ellipse">
            <a:avLst/>
          </a:prstGeom>
          <a:solidFill>
            <a:srgbClr val="113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Oval 32"/>
          <p:cNvSpPr/>
          <p:nvPr/>
        </p:nvSpPr>
        <p:spPr>
          <a:xfrm>
            <a:off x="7336106" y="2961685"/>
            <a:ext cx="31089" cy="31089"/>
          </a:xfrm>
          <a:prstGeom prst="ellipse">
            <a:avLst/>
          </a:prstGeom>
          <a:solidFill>
            <a:srgbClr val="10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Oval 33"/>
          <p:cNvSpPr/>
          <p:nvPr/>
        </p:nvSpPr>
        <p:spPr>
          <a:xfrm>
            <a:off x="6871050" y="2821064"/>
            <a:ext cx="31089" cy="31089"/>
          </a:xfrm>
          <a:prstGeom prst="ellipse">
            <a:avLst/>
          </a:prstGeom>
          <a:solidFill>
            <a:srgbClr val="102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Oval 34"/>
          <p:cNvSpPr/>
          <p:nvPr/>
        </p:nvSpPr>
        <p:spPr>
          <a:xfrm>
            <a:off x="7810341" y="1043535"/>
            <a:ext cx="31089" cy="31089"/>
          </a:xfrm>
          <a:prstGeom prst="ellipse">
            <a:avLst/>
          </a:prstGeom>
          <a:solidFill>
            <a:srgbClr val="112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Oval 35"/>
          <p:cNvSpPr/>
          <p:nvPr/>
        </p:nvSpPr>
        <p:spPr>
          <a:xfrm>
            <a:off x="9405354" y="1569933"/>
            <a:ext cx="31089" cy="31089"/>
          </a:xfrm>
          <a:prstGeom prst="ellipse">
            <a:avLst/>
          </a:prstGeom>
          <a:solidFill>
            <a:srgbClr val="123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Oval 36"/>
          <p:cNvSpPr/>
          <p:nvPr/>
        </p:nvSpPr>
        <p:spPr>
          <a:xfrm>
            <a:off x="8947610" y="787573"/>
            <a:ext cx="31089" cy="31089"/>
          </a:xfrm>
          <a:prstGeom prst="ellipse">
            <a:avLst/>
          </a:prstGeom>
          <a:solidFill>
            <a:srgbClr val="133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Oval 37"/>
          <p:cNvSpPr/>
          <p:nvPr/>
        </p:nvSpPr>
        <p:spPr>
          <a:xfrm>
            <a:off x="8773312" y="3274488"/>
            <a:ext cx="31089" cy="31089"/>
          </a:xfrm>
          <a:prstGeom prst="ellipse">
            <a:avLst/>
          </a:prstGeom>
          <a:solidFill>
            <a:srgbClr val="112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Oval 38"/>
          <p:cNvSpPr/>
          <p:nvPr/>
        </p:nvSpPr>
        <p:spPr>
          <a:xfrm>
            <a:off x="8591061" y="3228488"/>
            <a:ext cx="31089" cy="31089"/>
          </a:xfrm>
          <a:prstGeom prst="ellipse">
            <a:avLst/>
          </a:prstGeom>
          <a:solidFill>
            <a:srgbClr val="0F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Oval 39"/>
          <p:cNvSpPr/>
          <p:nvPr/>
        </p:nvSpPr>
        <p:spPr>
          <a:xfrm>
            <a:off x="11547934" y="859745"/>
            <a:ext cx="31089" cy="31089"/>
          </a:xfrm>
          <a:prstGeom prst="ellipse">
            <a:avLst/>
          </a:prstGeom>
          <a:solidFill>
            <a:srgbClr val="133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Oval 40"/>
          <p:cNvSpPr/>
          <p:nvPr/>
        </p:nvSpPr>
        <p:spPr>
          <a:xfrm>
            <a:off x="9752314" y="857351"/>
            <a:ext cx="31089" cy="31089"/>
          </a:xfrm>
          <a:prstGeom prst="ellipse">
            <a:avLst/>
          </a:prstGeom>
          <a:solidFill>
            <a:srgbClr val="112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Oval 41"/>
          <p:cNvSpPr/>
          <p:nvPr/>
        </p:nvSpPr>
        <p:spPr>
          <a:xfrm>
            <a:off x="9577596" y="1903567"/>
            <a:ext cx="31089" cy="31089"/>
          </a:xfrm>
          <a:prstGeom prst="ellipse">
            <a:avLst/>
          </a:prstGeom>
          <a:solidFill>
            <a:srgbClr val="1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Oval 42"/>
          <p:cNvSpPr/>
          <p:nvPr/>
        </p:nvSpPr>
        <p:spPr>
          <a:xfrm>
            <a:off x="8334629" y="2013645"/>
            <a:ext cx="31089" cy="31089"/>
          </a:xfrm>
          <a:prstGeom prst="ellipse">
            <a:avLst/>
          </a:prstGeom>
          <a:solidFill>
            <a:srgbClr val="0F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Oval 43"/>
          <p:cNvSpPr/>
          <p:nvPr/>
        </p:nvSpPr>
        <p:spPr>
          <a:xfrm>
            <a:off x="8374251" y="1930921"/>
            <a:ext cx="31089" cy="31089"/>
          </a:xfrm>
          <a:prstGeom prst="ellipse">
            <a:avLst/>
          </a:prstGeom>
          <a:solidFill>
            <a:srgbClr val="133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Oval 44"/>
          <p:cNvSpPr/>
          <p:nvPr/>
        </p:nvSpPr>
        <p:spPr>
          <a:xfrm>
            <a:off x="10912216" y="1118655"/>
            <a:ext cx="31089" cy="31089"/>
          </a:xfrm>
          <a:prstGeom prst="ellipse">
            <a:avLst/>
          </a:prstGeom>
          <a:solidFill>
            <a:srgbClr val="11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Oval 45"/>
          <p:cNvSpPr/>
          <p:nvPr/>
        </p:nvSpPr>
        <p:spPr>
          <a:xfrm>
            <a:off x="8011274" y="3173028"/>
            <a:ext cx="31089" cy="31089"/>
          </a:xfrm>
          <a:prstGeom prst="ellipse">
            <a:avLst/>
          </a:prstGeom>
          <a:solidFill>
            <a:srgbClr val="0F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7" name="Oval 46"/>
          <p:cNvSpPr/>
          <p:nvPr/>
        </p:nvSpPr>
        <p:spPr>
          <a:xfrm>
            <a:off x="10834795" y="1944327"/>
            <a:ext cx="31089" cy="31089"/>
          </a:xfrm>
          <a:prstGeom prst="ellipse">
            <a:avLst/>
          </a:prstGeom>
          <a:solidFill>
            <a:srgbClr val="0F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Oval 47"/>
          <p:cNvSpPr/>
          <p:nvPr/>
        </p:nvSpPr>
        <p:spPr>
          <a:xfrm>
            <a:off x="9181147" y="1279547"/>
            <a:ext cx="31089" cy="31089"/>
          </a:xfrm>
          <a:prstGeom prst="ellipse">
            <a:avLst/>
          </a:prstGeom>
          <a:solidFill>
            <a:srgbClr val="12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9" name="Oval 48"/>
          <p:cNvSpPr/>
          <p:nvPr/>
        </p:nvSpPr>
        <p:spPr>
          <a:xfrm>
            <a:off x="8447283" y="463768"/>
            <a:ext cx="31089" cy="31089"/>
          </a:xfrm>
          <a:prstGeom prst="ellipse">
            <a:avLst/>
          </a:prstGeom>
          <a:solidFill>
            <a:srgbClr val="134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0" name="Oval 49"/>
          <p:cNvSpPr/>
          <p:nvPr/>
        </p:nvSpPr>
        <p:spPr>
          <a:xfrm>
            <a:off x="10526643" y="1226467"/>
            <a:ext cx="31089" cy="31089"/>
          </a:xfrm>
          <a:prstGeom prst="ellipse">
            <a:avLst/>
          </a:prstGeom>
          <a:solidFill>
            <a:srgbClr val="123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Oval 50"/>
          <p:cNvSpPr/>
          <p:nvPr/>
        </p:nvSpPr>
        <p:spPr>
          <a:xfrm>
            <a:off x="7899260" y="633275"/>
            <a:ext cx="31089" cy="31089"/>
          </a:xfrm>
          <a:prstGeom prst="ellipse">
            <a:avLst/>
          </a:prstGeom>
          <a:solidFill>
            <a:srgbClr val="133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Oval 51"/>
          <p:cNvSpPr/>
          <p:nvPr/>
        </p:nvSpPr>
        <p:spPr>
          <a:xfrm>
            <a:off x="9050248" y="944165"/>
            <a:ext cx="31089" cy="31089"/>
          </a:xfrm>
          <a:prstGeom prst="ellipse">
            <a:avLst/>
          </a:prstGeom>
          <a:solidFill>
            <a:srgbClr val="134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3" name="Oval 52"/>
          <p:cNvSpPr/>
          <p:nvPr/>
        </p:nvSpPr>
        <p:spPr>
          <a:xfrm>
            <a:off x="9770747" y="1736073"/>
            <a:ext cx="31089" cy="31089"/>
          </a:xfrm>
          <a:prstGeom prst="ellipse">
            <a:avLst/>
          </a:prstGeom>
          <a:solidFill>
            <a:srgbClr val="10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4" name="Oval 53"/>
          <p:cNvSpPr/>
          <p:nvPr/>
        </p:nvSpPr>
        <p:spPr>
          <a:xfrm>
            <a:off x="8476758" y="2845284"/>
            <a:ext cx="31089" cy="31089"/>
          </a:xfrm>
          <a:prstGeom prst="ellipse">
            <a:avLst/>
          </a:prstGeom>
          <a:solidFill>
            <a:srgbClr val="123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5" name="Oval 54"/>
          <p:cNvSpPr/>
          <p:nvPr/>
        </p:nvSpPr>
        <p:spPr>
          <a:xfrm>
            <a:off x="10775237" y="2096951"/>
            <a:ext cx="31089" cy="31089"/>
          </a:xfrm>
          <a:prstGeom prst="ellipse">
            <a:avLst/>
          </a:prstGeom>
          <a:solidFill>
            <a:srgbClr val="112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6" name="Oval 55"/>
          <p:cNvSpPr/>
          <p:nvPr/>
        </p:nvSpPr>
        <p:spPr>
          <a:xfrm>
            <a:off x="9399753" y="2143910"/>
            <a:ext cx="31089" cy="31089"/>
          </a:xfrm>
          <a:prstGeom prst="ellipse">
            <a:avLst/>
          </a:prstGeom>
          <a:solidFill>
            <a:srgbClr val="134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Oval 56"/>
          <p:cNvSpPr/>
          <p:nvPr/>
        </p:nvSpPr>
        <p:spPr>
          <a:xfrm>
            <a:off x="8614575" y="2500680"/>
            <a:ext cx="31089" cy="31089"/>
          </a:xfrm>
          <a:prstGeom prst="ellipse">
            <a:avLst/>
          </a:prstGeom>
          <a:solidFill>
            <a:srgbClr val="123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Oval 57"/>
          <p:cNvSpPr/>
          <p:nvPr/>
        </p:nvSpPr>
        <p:spPr>
          <a:xfrm>
            <a:off x="7943197" y="1024315"/>
            <a:ext cx="31089" cy="31089"/>
          </a:xfrm>
          <a:prstGeom prst="ellipse">
            <a:avLst/>
          </a:prstGeom>
          <a:solidFill>
            <a:srgbClr val="134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9" name="Oval 58"/>
          <p:cNvSpPr/>
          <p:nvPr/>
        </p:nvSpPr>
        <p:spPr>
          <a:xfrm>
            <a:off x="6901028" y="1625437"/>
            <a:ext cx="31089" cy="31089"/>
          </a:xfrm>
          <a:prstGeom prst="ellipse">
            <a:avLst/>
          </a:prstGeom>
          <a:solidFill>
            <a:srgbClr val="12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0" name="Oval 59"/>
          <p:cNvSpPr/>
          <p:nvPr/>
        </p:nvSpPr>
        <p:spPr>
          <a:xfrm>
            <a:off x="9397934" y="2248480"/>
            <a:ext cx="31089" cy="31089"/>
          </a:xfrm>
          <a:prstGeom prst="ellipse">
            <a:avLst/>
          </a:prstGeom>
          <a:solidFill>
            <a:srgbClr val="1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1" name="Oval 60"/>
          <p:cNvSpPr/>
          <p:nvPr/>
        </p:nvSpPr>
        <p:spPr>
          <a:xfrm>
            <a:off x="10659471" y="736924"/>
            <a:ext cx="31089" cy="31089"/>
          </a:xfrm>
          <a:prstGeom prst="ellipse">
            <a:avLst/>
          </a:prstGeom>
          <a:solidFill>
            <a:srgbClr val="134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2" name="Oval 61"/>
          <p:cNvSpPr/>
          <p:nvPr/>
        </p:nvSpPr>
        <p:spPr>
          <a:xfrm>
            <a:off x="8962865" y="1302617"/>
            <a:ext cx="31089" cy="31089"/>
          </a:xfrm>
          <a:prstGeom prst="ellipse">
            <a:avLst/>
          </a:prstGeom>
          <a:solidFill>
            <a:srgbClr val="10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Oval 62"/>
          <p:cNvSpPr/>
          <p:nvPr/>
        </p:nvSpPr>
        <p:spPr>
          <a:xfrm>
            <a:off x="7221430" y="798956"/>
            <a:ext cx="31089" cy="31089"/>
          </a:xfrm>
          <a:prstGeom prst="ellipse">
            <a:avLst/>
          </a:prstGeom>
          <a:solidFill>
            <a:srgbClr val="11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94360" y="45720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ON-DEVICE PRIVATE RAG  /  ANDROID · IQOO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786384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Aptos Display"/>
              </a:rPr>
              <a:t>VAULT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162763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Your documents stay on the phone. Your laptop gets a signed answer.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4360" y="2176272"/>
            <a:ext cx="5989320" cy="1188720"/>
          </a:xfrm>
          <a:prstGeom prst="roundRect">
            <a:avLst>
              <a:gd name="adj" fmla="val 3846"/>
            </a:avLst>
          </a:prstGeom>
          <a:solidFill>
            <a:srgbClr val="10232D"/>
          </a:solidFill>
          <a:ln w="8890">
            <a:solidFill>
              <a:srgbClr val="144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594360" y="2176272"/>
            <a:ext cx="41148" cy="1188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3816" y="2304288"/>
            <a:ext cx="56235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22C55E"/>
                </a:solidFill>
                <a:latin typeface="Aptos"/>
              </a:rPr>
              <a:t>PROBLEM STATEMENT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3816" y="2542032"/>
            <a:ext cx="56052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FFFFFF"/>
                </a:solidFill>
                <a:latin typeface="Aptos"/>
              </a:rPr>
              <a:t>Answer questions about confidential documents from a laptop, without the documents, their index or the model ever leaving the phone, and prove which device produced each answer.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03720" y="2176272"/>
            <a:ext cx="4690872" cy="1188720"/>
          </a:xfrm>
          <a:prstGeom prst="roundRect">
            <a:avLst>
              <a:gd name="adj" fmla="val 3846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114032" y="228600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64748B"/>
                </a:solidFill>
                <a:latin typeface="Aptos"/>
              </a:rPr>
              <a:t>ONE ROUND TRIP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543800" y="2697480"/>
            <a:ext cx="3429000" cy="0"/>
          </a:xfrm>
          <a:prstGeom prst="line">
            <a:avLst/>
          </a:prstGeom>
          <a:ln w="17780">
            <a:solidFill>
              <a:srgbClr val="186E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7397496" y="2551176"/>
            <a:ext cx="292608" cy="292608"/>
          </a:xfrm>
          <a:prstGeom prst="ellipse">
            <a:avLst/>
          </a:prstGeom>
          <a:solidFill>
            <a:srgbClr val="23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5" name="Oval 74"/>
          <p:cNvSpPr/>
          <p:nvPr/>
        </p:nvSpPr>
        <p:spPr>
          <a:xfrm>
            <a:off x="7461504" y="2615184"/>
            <a:ext cx="164592" cy="164592"/>
          </a:xfrm>
          <a:prstGeom prst="ellipse">
            <a:avLst/>
          </a:prstGeom>
          <a:solidFill>
            <a:srgbClr val="3B4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6" name="Oval 75"/>
          <p:cNvSpPr/>
          <p:nvPr/>
        </p:nvSpPr>
        <p:spPr>
          <a:xfrm>
            <a:off x="7498079" y="2651760"/>
            <a:ext cx="91440" cy="91440"/>
          </a:xfrm>
          <a:prstGeom prst="ellipse">
            <a:avLst/>
          </a:prstGeom>
          <a:solidFill>
            <a:srgbClr val="8F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720840" y="2935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LAPTOP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136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asks · verifies</a:t>
            </a:r>
          </a:p>
        </p:txBody>
      </p:sp>
      <p:sp>
        <p:nvSpPr>
          <p:cNvPr id="79" name="Oval 78"/>
          <p:cNvSpPr/>
          <p:nvPr/>
        </p:nvSpPr>
        <p:spPr>
          <a:xfrm>
            <a:off x="9111996" y="2551176"/>
            <a:ext cx="292608" cy="292608"/>
          </a:xfrm>
          <a:prstGeom prst="ellipse">
            <a:avLst/>
          </a:prstGeom>
          <a:solidFill>
            <a:srgbClr val="333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0" name="Oval 79"/>
          <p:cNvSpPr/>
          <p:nvPr/>
        </p:nvSpPr>
        <p:spPr>
          <a:xfrm>
            <a:off x="9176004" y="2615184"/>
            <a:ext cx="164592" cy="164592"/>
          </a:xfrm>
          <a:prstGeom prst="ellipse">
            <a:avLst/>
          </a:prstGeom>
          <a:solidFill>
            <a:srgbClr val="5D4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1" name="Oval 80"/>
          <p:cNvSpPr/>
          <p:nvPr/>
        </p:nvSpPr>
        <p:spPr>
          <a:xfrm>
            <a:off x="9212580" y="2651760"/>
            <a:ext cx="91440" cy="91440"/>
          </a:xfrm>
          <a:prstGeom prst="ellipse">
            <a:avLst/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435340" y="2935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CLIPBOARD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35340" y="3136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sealed frames</a:t>
            </a:r>
          </a:p>
        </p:txBody>
      </p:sp>
      <p:sp>
        <p:nvSpPr>
          <p:cNvPr id="84" name="Oval 83"/>
          <p:cNvSpPr/>
          <p:nvPr/>
        </p:nvSpPr>
        <p:spPr>
          <a:xfrm>
            <a:off x="10826496" y="2551176"/>
            <a:ext cx="292608" cy="292608"/>
          </a:xfrm>
          <a:prstGeom prst="ellipse">
            <a:avLst/>
          </a:prstGeom>
          <a:solidFill>
            <a:srgbClr val="1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5" name="Oval 84"/>
          <p:cNvSpPr/>
          <p:nvPr/>
        </p:nvSpPr>
        <p:spPr>
          <a:xfrm>
            <a:off x="10890504" y="2615184"/>
            <a:ext cx="164592" cy="164592"/>
          </a:xfrm>
          <a:prstGeom prst="ellipse">
            <a:avLst/>
          </a:prstGeom>
          <a:solidFill>
            <a:srgbClr val="1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6" name="Oval 85"/>
          <p:cNvSpPr/>
          <p:nvPr/>
        </p:nvSpPr>
        <p:spPr>
          <a:xfrm>
            <a:off x="10927080" y="265176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10149840" y="2935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PHONE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49840" y="3136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retrieves · signs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" y="3840480"/>
            <a:ext cx="256717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22C55E"/>
                </a:solidFill>
                <a:latin typeface="Aptos Display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4360" y="4352544"/>
            <a:ext cx="247573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 spc="90">
                <a:solidFill>
                  <a:srgbClr val="64748B"/>
                </a:solidFill>
                <a:latin typeface="Aptos"/>
              </a:rPr>
              <a:t>NETWORK PERMISSIONS
IN THE AIR-GAP BUILD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44418" y="3840480"/>
            <a:ext cx="256717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44418" y="4352544"/>
            <a:ext cx="247573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 spc="90">
                <a:solidFill>
                  <a:srgbClr val="64748B"/>
                </a:solidFill>
                <a:latin typeface="Aptos"/>
              </a:rPr>
              <a:t>CHUNKS DECRYPTED
PER QUESTION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94476" y="3840480"/>
            <a:ext cx="256717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ptos Display"/>
              </a:rPr>
              <a:t>≈10.5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4476" y="4352544"/>
            <a:ext cx="247573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 spc="90">
                <a:solidFill>
                  <a:srgbClr val="64748B"/>
                </a:solidFill>
                <a:latin typeface="Aptos"/>
              </a:rPr>
              <a:t>TOK/S ON-DEVICE LLM
SMOLLM2-1.7B · GPU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844534" y="3840480"/>
            <a:ext cx="256717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ptos Display"/>
              </a:rPr>
              <a:t>20 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44534" y="4352544"/>
            <a:ext cx="247573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 spc="90">
                <a:solidFill>
                  <a:srgbClr val="64748B"/>
                </a:solidFill>
                <a:latin typeface="Aptos"/>
              </a:rPr>
              <a:t>CAPSULE LIFETIME
ON THE CLIPBOARD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94360" y="4956048"/>
            <a:ext cx="11000232" cy="10058"/>
          </a:xfrm>
          <a:prstGeom prst="rect">
            <a:avLst/>
          </a:prstGeom>
          <a:solidFill>
            <a:srgbClr val="2A3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94360" y="512064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STACK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4360" y="5413248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Flutter app · Kotlin + C++ native channels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LiteRT + Qualcomm QNN HTP (MiniLM)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llama.cpp OpenCL · MediaPipe (one reasoner)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AndroidKeyStore / StrongBox · Python laptop tools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43400" y="512064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WHAT RUNS WHERE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43400" y="5413248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NPU  ·  sentence embeddings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GPU  ·  the reasoning model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CPU  ·  tokenizer and vector ranking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StrongBox  ·  keys, decryption, signing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092440" y="512064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PROJECT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092440" y="5413248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vault_rag_test/  ·  phone app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bridge/  ·  vaultlink.py, verifier, eval set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SECURITY.md  ·  threat model</a:t>
            </a:r>
          </a:p>
          <a:p>
            <a:pPr>
              <a:lnSpc>
                <a:spcPct val="130000"/>
              </a:lnSpc>
            </a:pPr>
            <a:r>
              <a:rPr sz="980" b="0">
                <a:solidFill>
                  <a:srgbClr val="94A3B8"/>
                </a:solidFill>
                <a:latin typeface="Aptos"/>
              </a:rPr>
              <a:t>NPU_QNN.md  ·  NPU bring-up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01 — PROBLEM UNDERSTANDING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Private documents, public models, and nothing in between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Every current way to ask questions of a confidential corpus puts the corpus somewhere it should not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Cloud RAG uploads the corpus.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50591"/>
            <a:ext cx="56692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The documents and their embeddings leave the device to answer a single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Laptop-local RAG trusts the busiest machine.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46704"/>
            <a:ext cx="56692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The index sits next to browsers, plugins and IDE agents with broad file access.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986783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The phone's silicon sits idle.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42816"/>
            <a:ext cx="56692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A flagship SoC with an NPU, a GPU and a hardware keystore does nothing while the laptop works.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82896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Answers cannot be attributed.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38928"/>
            <a:ext cx="56692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Nothing tells the reader which machine produced an answer, or whether its quotes were edited.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2194560"/>
            <a:ext cx="4965192" cy="1417320"/>
          </a:xfrm>
          <a:prstGeom prst="roundRect">
            <a:avLst>
              <a:gd name="adj" fmla="val 3225"/>
            </a:avLst>
          </a:prstGeom>
          <a:solidFill>
            <a:srgbClr val="1D1829"/>
          </a:solidFill>
          <a:ln w="8890">
            <a:solidFill>
              <a:srgbClr val="4C1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629400" y="2194560"/>
            <a:ext cx="41148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48856" y="2322576"/>
            <a:ext cx="4599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DC2626"/>
                </a:solidFill>
                <a:latin typeface="Aptos"/>
              </a:rPr>
              <a:t>THE GAP, STATED PRECISELY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8856" y="2560320"/>
            <a:ext cx="458114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FFFFFF"/>
                </a:solidFill>
                <a:latin typeface="Aptos"/>
              </a:rPr>
              <a:t>A laptop cannot use a private corpus it is not allowed to hold, and cannot verify where an answer came from.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8620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WHAT A SOLUTION HAS TO GUARANTEE</a:t>
            </a:r>
          </a:p>
        </p:txBody>
      </p:sp>
      <p:sp>
        <p:nvSpPr>
          <p:cNvPr id="21" name="Oval 20"/>
          <p:cNvSpPr/>
          <p:nvPr/>
        </p:nvSpPr>
        <p:spPr>
          <a:xfrm>
            <a:off x="6679692" y="4247388"/>
            <a:ext cx="100584" cy="10058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12864" y="42062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The corpus, index and model never leave the phone</a:t>
            </a:r>
          </a:p>
        </p:txBody>
      </p:sp>
      <p:sp>
        <p:nvSpPr>
          <p:cNvPr id="23" name="Oval 22"/>
          <p:cNvSpPr/>
          <p:nvPr/>
        </p:nvSpPr>
        <p:spPr>
          <a:xfrm>
            <a:off x="6679692" y="4668012"/>
            <a:ext cx="100584" cy="10058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912864" y="462686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The heavy work runs on the phone's own silicon</a:t>
            </a:r>
          </a:p>
        </p:txBody>
      </p:sp>
      <p:sp>
        <p:nvSpPr>
          <p:cNvPr id="25" name="Oval 24"/>
          <p:cNvSpPr/>
          <p:nvPr/>
        </p:nvSpPr>
        <p:spPr>
          <a:xfrm>
            <a:off x="6679692" y="5088636"/>
            <a:ext cx="100584" cy="10058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912864" y="50474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Every answer is signed by the device that made it</a:t>
            </a:r>
          </a:p>
        </p:txBody>
      </p:sp>
      <p:sp>
        <p:nvSpPr>
          <p:cNvPr id="27" name="Oval 26"/>
          <p:cNvSpPr/>
          <p:nvPr/>
        </p:nvSpPr>
        <p:spPr>
          <a:xfrm>
            <a:off x="6679692" y="5509259"/>
            <a:ext cx="100584" cy="10058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912864" y="54681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No new network path is opened to do any of this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02 — EXISTING APPROACHES &amp; WHY THEY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Every option assumes the data can sit somewhere else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Each works for public data. For a confidential corpus, each breaks at exactly the assumption it makes.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3468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4411" y="2148840"/>
            <a:ext cx="3556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ASSUMES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2148840"/>
            <a:ext cx="48769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WHY IT FAILS FOR PRIVATE DOCUMENTS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423160"/>
            <a:ext cx="11000232" cy="10058"/>
          </a:xfrm>
          <a:prstGeom prst="rect">
            <a:avLst/>
          </a:prstGeom>
          <a:solidFill>
            <a:srgbClr val="2A3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232861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Cloud RAG / hosted assistants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4411" y="2514600"/>
            <a:ext cx="35386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the provider may process the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2514600"/>
            <a:ext cx="48586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confidential text leaves the device on every 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958084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32861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Laptop-local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4411" y="3026664"/>
            <a:ext cx="35386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the laptop is a safe place for 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487" y="3026664"/>
            <a:ext cx="48586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index and model share a machine with browsers, plugins and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470148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3538728"/>
            <a:ext cx="232861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Encrypted cloud 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4411" y="3538728"/>
            <a:ext cx="35386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ciphertext at rest is enough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4487" y="3538728"/>
            <a:ext cx="48586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queries and retrieved chunks are still decrypted server-side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982211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4050791"/>
            <a:ext cx="232861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Phone-only assistant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4411" y="4050791"/>
            <a:ext cx="35386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the phone is where the work happens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487" y="4050791"/>
            <a:ext cx="48586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no path to the laptop, and no way to verify an answer there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17720"/>
            <a:ext cx="5394960" cy="1325880"/>
          </a:xfrm>
          <a:prstGeom prst="roundRect">
            <a:avLst>
              <a:gd name="adj" fmla="val 3448"/>
            </a:avLst>
          </a:prstGeom>
          <a:solidFill>
            <a:srgbClr val="10232D"/>
          </a:solidFill>
          <a:ln w="8890">
            <a:solidFill>
              <a:srgbClr val="144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94360" y="4617720"/>
            <a:ext cx="41148" cy="13258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3816" y="4745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22C55E"/>
                </a:solidFill>
                <a:latin typeface="Aptos"/>
              </a:rPr>
              <a:t>THE SOLUTION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" y="4983480"/>
            <a:ext cx="501091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FFFFFF"/>
                </a:solidFill>
                <a:latin typeface="Aptos"/>
              </a:rPr>
              <a:t>Keep storage and inference where the data is safest. Move only a verifiable answer to where the work is.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4617720"/>
            <a:ext cx="5394960" cy="1325880"/>
          </a:xfrm>
          <a:prstGeom prst="roundRect">
            <a:avLst>
              <a:gd name="adj" fmla="val 3448"/>
            </a:avLst>
          </a:prstGeom>
          <a:solidFill>
            <a:srgbClr val="122434"/>
          </a:solidFill>
          <a:ln w="8890">
            <a:solidFill>
              <a:srgbClr val="1C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99632" y="4617720"/>
            <a:ext cx="41148" cy="1325880"/>
          </a:xfrm>
          <a:prstGeom prst="rect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19088" y="4745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3DD6C0"/>
                </a:solidFill>
                <a:latin typeface="Aptos"/>
              </a:rPr>
              <a:t>WHY A PHONE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983480"/>
            <a:ext cx="501091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FFFFFF"/>
                </a:solidFill>
                <a:latin typeface="Aptos"/>
              </a:rPr>
              <a:t>It already has an NPU, a GPU, a hardware keystore and a user who carries it. It only lacks the software.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03 —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The phone becomes a private co-processor for the laptop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Three responsibilities, each enforced by hardware or by the build, not by a promise.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529584" cy="2331720"/>
          </a:xfrm>
          <a:prstGeom prst="roundRect">
            <a:avLst>
              <a:gd name="adj" fmla="val 1960"/>
            </a:avLst>
          </a:prstGeom>
          <a:solidFill>
            <a:srgbClr val="10192E"/>
          </a:solidFill>
          <a:ln w="10160">
            <a:solidFill>
              <a:srgbClr val="1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41148" cy="2331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24942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150">
                <a:solidFill>
                  <a:srgbClr val="FFFFFF"/>
                </a:solidFill>
                <a:latin typeface="Aptos"/>
              </a:rPr>
              <a:t>STORE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" y="2670048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0392" y="2695651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99923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0" i="0">
                <a:solidFill>
                  <a:srgbClr val="94A3B8"/>
                </a:solidFill>
                <a:latin typeface="Aptos"/>
              </a:rPr>
              <a:t>Documents are chunked, embedded and encrypted on the phone. The key is generated in StrongBox and never exported.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40416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40">
                <a:solidFill>
                  <a:srgbClr val="22C55E"/>
                </a:solidFill>
                <a:latin typeface="Aptos"/>
              </a:rPr>
              <a:t>AES-256-GCM · AndroidKeyStore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2103120"/>
            <a:ext cx="3529584" cy="2331720"/>
          </a:xfrm>
          <a:prstGeom prst="roundRect">
            <a:avLst>
              <a:gd name="adj" fmla="val 1960"/>
            </a:avLst>
          </a:prstGeom>
          <a:solidFill>
            <a:srgbClr val="10192E"/>
          </a:solidFill>
          <a:ln w="10160">
            <a:solidFill>
              <a:srgbClr val="1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325112" y="2103120"/>
            <a:ext cx="41148" cy="2331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81144" y="224942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150">
                <a:solidFill>
                  <a:srgbClr val="FFFFFF"/>
                </a:solidFill>
                <a:latin typeface="Aptos"/>
              </a:rPr>
              <a:t>ANSWER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81144" y="2670048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81144" y="2695651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99923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0" i="0">
                <a:solidFill>
                  <a:srgbClr val="94A3B8"/>
                </a:solidFill>
                <a:latin typeface="Aptos"/>
              </a:rPr>
              <a:t>A question is embedded, ranked in RAM, and only the top five chunks are decrypted for the one loaded reasoning model.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40416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40">
                <a:solidFill>
                  <a:srgbClr val="22C55E"/>
                </a:solidFill>
                <a:latin typeface="Aptos"/>
              </a:rPr>
              <a:t>MiniLM · SmolLM2 on GPU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103120"/>
            <a:ext cx="3529584" cy="2331720"/>
          </a:xfrm>
          <a:prstGeom prst="roundRect">
            <a:avLst>
              <a:gd name="adj" fmla="val 1960"/>
            </a:avLst>
          </a:prstGeom>
          <a:solidFill>
            <a:srgbClr val="10192E"/>
          </a:solidFill>
          <a:ln w="10160">
            <a:solidFill>
              <a:srgbClr val="155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55864" y="2103120"/>
            <a:ext cx="41148" cy="2331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11896" y="224942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spc="150">
                <a:solidFill>
                  <a:srgbClr val="FFFFFF"/>
                </a:solidFill>
                <a:latin typeface="Aptos"/>
              </a:rPr>
              <a:t>PROVE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11896" y="2670048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1896" y="2695651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2999232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0" i="0">
                <a:solidFill>
                  <a:srgbClr val="94A3B8"/>
                </a:solidFill>
                <a:latin typeface="Aptos"/>
              </a:rPr>
              <a:t>The answer leaves as a signed JSON capsule over an encrypted clipboard link. The laptop checks the signature against a pinned key.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1896" y="40416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40">
                <a:solidFill>
                  <a:srgbClr val="22C55E"/>
                </a:solidFill>
                <a:latin typeface="Aptos"/>
              </a:rPr>
              <a:t>ECDSA P-256 · VAULTLINK/2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709160"/>
            <a:ext cx="11000232" cy="10058"/>
          </a:xfrm>
          <a:prstGeom prst="rect">
            <a:avLst/>
          </a:prstGeom>
          <a:solidFill>
            <a:srgbClr val="2A3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484632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DISTINGUISHING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138928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One reasoner at a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394960"/>
            <a:ext cx="352958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40" b="0" i="0">
                <a:solidFill>
                  <a:srgbClr val="94A3B8"/>
                </a:solidFill>
                <a:latin typeface="Aptos"/>
              </a:rPr>
              <a:t>Loading one model unloads the other, so the model you loaded is the one that answers.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5112" y="5138928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Plaintext for five chunks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5394960"/>
            <a:ext cx="352958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40" b="0" i="0">
                <a:solidFill>
                  <a:srgbClr val="94A3B8"/>
                </a:solidFill>
                <a:latin typeface="Aptos"/>
              </a:rPr>
              <a:t>Ranking runs on vectors; the text stays ciphertext unless a question needs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55864" y="5138928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A clipboard, not a socket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55864" y="5394960"/>
            <a:ext cx="352958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40" b="0" i="0">
                <a:solidFill>
                  <a:srgbClr val="94A3B8"/>
                </a:solidFill>
                <a:latin typeface="Aptos"/>
              </a:rPr>
              <a:t>The air-gap APK has no network permission; Office Kit carries sealed frames.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04 —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Four layers, and the one capsule that crosses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Each layer can be replaced without the others noticing. The capsule is the only thing the laptop ever receives.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21408"/>
            <a:ext cx="6537960" cy="822960"/>
          </a:xfrm>
          <a:prstGeom prst="roundRect">
            <a:avLst>
              <a:gd name="adj" fmla="val 5555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121408"/>
            <a:ext cx="45720" cy="822960"/>
          </a:xfrm>
          <a:prstGeom prst="rect">
            <a:avLst/>
          </a:prstGeom>
          <a:solidFill>
            <a:srgbClr val="8F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3816" y="22860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F9BFF"/>
                </a:solidFill>
                <a:latin typeface="Aptos Display"/>
              </a:rPr>
              <a:t>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942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LAPTOP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96128" y="2258568"/>
            <a:ext cx="1371600" cy="169164"/>
          </a:xfrm>
          <a:prstGeom prst="roundRect">
            <a:avLst>
              <a:gd name="adj" fmla="val 16216"/>
            </a:avLst>
          </a:prstGeom>
          <a:solidFill>
            <a:srgbClr val="2E2C29"/>
          </a:solidFill>
          <a:ln w="7620">
            <a:solidFill>
              <a:srgbClr val="6D58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96128" y="2284171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F0B429"/>
                </a:solidFill>
                <a:latin typeface="Aptos"/>
              </a:rPr>
              <a:t>BUILT - NOT HARDENED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505456"/>
            <a:ext cx="5486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vaultlink.py pairs, asks and checks every capsule against the pinned phone key; scrubs the clipboard in 20 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054096"/>
            <a:ext cx="6537960" cy="822960"/>
          </a:xfrm>
          <a:prstGeom prst="roundRect">
            <a:avLst>
              <a:gd name="adj" fmla="val 5555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3054096"/>
            <a:ext cx="45720" cy="822960"/>
          </a:xfrm>
          <a:prstGeom prst="rect">
            <a:avLst/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816" y="321868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0B429"/>
                </a:solidFill>
                <a:latin typeface="Aptos Display"/>
              </a:rPr>
              <a:t>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18211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VAULTLINK TRANSPORT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6441" y="3191256"/>
            <a:ext cx="691286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76441" y="3216859"/>
            <a:ext cx="69128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VERIFIED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38144"/>
            <a:ext cx="5486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Sealed request and reply frames over Office Kit's clipboard mirror. Pairing code → keys, replay and clock checks.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986783"/>
            <a:ext cx="6537960" cy="822960"/>
          </a:xfrm>
          <a:prstGeom prst="roundRect">
            <a:avLst>
              <a:gd name="adj" fmla="val 5555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3986783"/>
            <a:ext cx="45720" cy="8229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3816" y="4151375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2C55E"/>
                </a:solidFill>
                <a:latin typeface="Aptos Display"/>
              </a:rPr>
              <a:t>L1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114799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VAULT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9513" y="4123944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709513" y="4149547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370831"/>
            <a:ext cx="5486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Chunk, embed, encrypted store, RAM ranking, decrypt top-5, one reasoner, capsule and signature.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919472"/>
            <a:ext cx="6537960" cy="822960"/>
          </a:xfrm>
          <a:prstGeom prst="roundRect">
            <a:avLst>
              <a:gd name="adj" fmla="val 5555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919472"/>
            <a:ext cx="45720" cy="822960"/>
          </a:xfrm>
          <a:prstGeom prst="rect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3816" y="508406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3DD6C0"/>
                </a:solidFill>
                <a:latin typeface="Aptos Display"/>
              </a:rPr>
              <a:t>L0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04748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SILICON &amp; KEYS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76441" y="5056632"/>
            <a:ext cx="691286" cy="169164"/>
          </a:xfrm>
          <a:prstGeom prst="roundRect">
            <a:avLst>
              <a:gd name="adj" fmla="val 16216"/>
            </a:avLst>
          </a:prstGeom>
          <a:solidFill>
            <a:srgbClr val="2B1929"/>
          </a:solidFill>
          <a:ln w="7620">
            <a:solidFill>
              <a:srgbClr val="651D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76441" y="5082235"/>
            <a:ext cx="69128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DC2626"/>
                </a:solidFill>
                <a:latin typeface="Aptos"/>
              </a:rPr>
              <a:t>OPEN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5303520"/>
            <a:ext cx="5486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NPU for MiniLM (QNN HTP, not yet confirmed), GPU for the LLM, CPU for ranking, StrongBox for keys.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2121408"/>
            <a:ext cx="4187952" cy="3621024"/>
          </a:xfrm>
          <a:prstGeom prst="roundRect">
            <a:avLst>
              <a:gd name="adj" fmla="val 1262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644383" y="225856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10">
                <a:solidFill>
                  <a:srgbClr val="22C55E"/>
                </a:solidFill>
                <a:latin typeface="Aptos"/>
              </a:rPr>
              <a:t>THE CAPSULE · ALL THE LAPTOP RECEIVES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26096" y="2560320"/>
            <a:ext cx="3749039" cy="1847088"/>
          </a:xfrm>
          <a:prstGeom prst="roundRect">
            <a:avLst>
              <a:gd name="adj" fmla="val 1980"/>
            </a:avLst>
          </a:prstGeom>
          <a:solidFill>
            <a:srgbClr val="0B1120"/>
          </a:solidFill>
          <a:ln w="762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72400" y="2679192"/>
            <a:ext cx="356616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{ "answer": "Base salary is USD 98,500",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"confidence": "high",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"key_facts": [{ "fact": …,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   "verbatim": …, "verified": true }],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"context": [ 5 retrieved chunks ],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"generation": { "model": "smollm2-1.7b",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   "backend": "llama.cpp/GPU" },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"provenance": { "enclave": "StrongBox",</a:t>
            </a:r>
          </a:p>
          <a:p>
            <a:pPr>
              <a:lnSpc>
                <a:spcPct val="112000"/>
              </a:lnSpc>
            </a:pPr>
            <a:r>
              <a:rPr sz="860" b="0">
                <a:solidFill>
                  <a:srgbClr val="94A3B8"/>
                </a:solidFill>
                <a:latin typeface="Consolas"/>
              </a:rPr>
              <a:t>     "signature": "ECDSA-P256 …" } 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44383" y="4599432"/>
            <a:ext cx="36576" cy="40233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90688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>
                <a:solidFill>
                  <a:srgbClr val="FFFFFF"/>
                </a:solidFill>
                <a:latin typeface="Aptos"/>
              </a:rPr>
              <a:t>Checked before signing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0688" y="47914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quoted facts must appear word for word in the chunks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44383" y="5148072"/>
            <a:ext cx="36576" cy="40233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90688" y="512064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>
                <a:solidFill>
                  <a:srgbClr val="FFFFFF"/>
                </a:solidFill>
                <a:latin typeface="Aptos"/>
              </a:rPr>
              <a:t>Checked on arrival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534009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signature must match the phone key pinned at enrollment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05 — ARCHITECTURE,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One question, seven stages, and the artefact each hands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19223C"/>
          </a:solidFill>
          <a:ln w="10160">
            <a:solidFill>
              <a:srgbClr val="444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655064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9BFF"/>
                </a:solidFill>
                <a:latin typeface="Aptos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636776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65049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LAPTOP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1837943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vaultlink.py seals the question with the pairing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728216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F9BFF"/>
                </a:solidFill>
                <a:latin typeface="Aptos"/>
              </a:rPr>
              <a:t>sealed request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11980" y="2071115"/>
            <a:ext cx="0" cy="109729"/>
          </a:xfrm>
          <a:prstGeom prst="line">
            <a:avLst/>
          </a:prstGeom>
          <a:ln w="11430">
            <a:solidFill>
              <a:srgbClr val="44546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4361688" y="2103120"/>
            <a:ext cx="100584" cy="77724"/>
          </a:xfrm>
          <a:custGeom>
            <a:avLst/>
            <a:gdLst/>
            <a:ahLst/>
            <a:cxnLst/>
            <a:rect l="l" t="t" r="r" b="b"/>
            <a:pathLst>
              <a:path w="100584" h="77724">
                <a:moveTo>
                  <a:pt x="100584" y="0"/>
                </a:moveTo>
                <a:lnTo>
                  <a:pt x="50292" y="77724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45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2185416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222429"/>
          </a:solidFill>
          <a:ln w="10160">
            <a:solidFill>
              <a:srgbClr val="6D58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226771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0B429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224942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CARRY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226314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CLIPBOARD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45059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AES-256-GCM frame, replay + clock checks, no socket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340864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F0B429"/>
                </a:solidFill>
                <a:latin typeface="Aptos"/>
              </a:rPr>
              <a:t>frame on the phone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11980" y="2683764"/>
            <a:ext cx="0" cy="109728"/>
          </a:xfrm>
          <a:prstGeom prst="line">
            <a:avLst/>
          </a:prstGeom>
          <a:ln w="11430">
            <a:solidFill>
              <a:srgbClr val="44546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4361688" y="2715768"/>
            <a:ext cx="100584" cy="77724"/>
          </a:xfrm>
          <a:custGeom>
            <a:avLst/>
            <a:gdLst/>
            <a:ahLst/>
            <a:cxnLst/>
            <a:rect l="l" t="t" r="r" b="b"/>
            <a:pathLst>
              <a:path w="100584" h="77724">
                <a:moveTo>
                  <a:pt x="100584" y="0"/>
                </a:moveTo>
                <a:lnTo>
                  <a:pt x="50292" y="77724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45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2798064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10252E"/>
          </a:solidFill>
          <a:ln w="1016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288036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2C55E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286207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EMBED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287578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NPU → CPU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306324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MiniLM turns the question into a vector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953512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2C55E"/>
                </a:solidFill>
                <a:latin typeface="Aptos"/>
              </a:rPr>
              <a:t>384-dim vector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411980" y="3296412"/>
            <a:ext cx="0" cy="109728"/>
          </a:xfrm>
          <a:prstGeom prst="line">
            <a:avLst/>
          </a:prstGeom>
          <a:ln w="11430">
            <a:solidFill>
              <a:srgbClr val="44546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4361688" y="3328416"/>
            <a:ext cx="100584" cy="77724"/>
          </a:xfrm>
          <a:custGeom>
            <a:avLst/>
            <a:gdLst/>
            <a:ahLst/>
            <a:cxnLst/>
            <a:rect l="l" t="t" r="r" b="b"/>
            <a:pathLst>
              <a:path w="100584" h="77724">
                <a:moveTo>
                  <a:pt x="100584" y="0"/>
                </a:moveTo>
                <a:lnTo>
                  <a:pt x="50292" y="77724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45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4360" y="3410712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112631"/>
          </a:solidFill>
          <a:ln w="10160">
            <a:solidFill>
              <a:srgbClr val="1A6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3493008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ACA7E"/>
                </a:solidFill>
                <a:latin typeface="Aptos Display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1288" y="3474720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348843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CPU + STRONGBOX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3675887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cosine top-5 in RAM, decrypt only those five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566160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ACA7E"/>
                </a:solidFill>
                <a:latin typeface="Aptos"/>
              </a:rPr>
              <a:t>5 plaintext chunks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11980" y="3909059"/>
            <a:ext cx="0" cy="109728"/>
          </a:xfrm>
          <a:prstGeom prst="line">
            <a:avLst/>
          </a:prstGeom>
          <a:ln w="11430">
            <a:solidFill>
              <a:srgbClr val="44546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4361688" y="3941063"/>
            <a:ext cx="100584" cy="77724"/>
          </a:xfrm>
          <a:custGeom>
            <a:avLst/>
            <a:gdLst/>
            <a:ahLst/>
            <a:cxnLst/>
            <a:rect l="l" t="t" r="r" b="b"/>
            <a:pathLst>
              <a:path w="100584" h="77724">
                <a:moveTo>
                  <a:pt x="100584" y="0"/>
                </a:moveTo>
                <a:lnTo>
                  <a:pt x="50292" y="77724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45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94360" y="4023360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122633"/>
          </a:solidFill>
          <a:ln w="10160">
            <a:solidFill>
              <a:srgbClr val="1E6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410565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33D09E"/>
                </a:solidFill>
                <a:latin typeface="Aptos Display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1288" y="4087368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REASON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67128" y="410108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GPU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" y="428853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one loaded model writes the answer (or the best chunk is quoted)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4178808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33D09E"/>
                </a:solidFill>
                <a:latin typeface="Aptos"/>
              </a:rPr>
              <a:t>JSON answer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411980" y="4521708"/>
            <a:ext cx="0" cy="109728"/>
          </a:xfrm>
          <a:prstGeom prst="line">
            <a:avLst/>
          </a:prstGeom>
          <a:ln w="11430">
            <a:solidFill>
              <a:srgbClr val="44546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4361688" y="4553712"/>
            <a:ext cx="100584" cy="77724"/>
          </a:xfrm>
          <a:custGeom>
            <a:avLst/>
            <a:gdLst/>
            <a:ahLst/>
            <a:cxnLst/>
            <a:rect l="l" t="t" r="r" b="b"/>
            <a:pathLst>
              <a:path w="100584" h="77724">
                <a:moveTo>
                  <a:pt x="100584" y="0"/>
                </a:moveTo>
                <a:lnTo>
                  <a:pt x="50292" y="77724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45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360" y="4636008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122736"/>
          </a:solidFill>
          <a:ln w="10160">
            <a:solidFill>
              <a:srgbClr val="2267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7240" y="4718304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3DD6C0"/>
                </a:solidFill>
                <a:latin typeface="Aptos Display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1288" y="4700016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47137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STRONGBOX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1288" y="49011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facts checked verbatim, ECDSA P-256 over the capsule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791456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3DD6C0"/>
                </a:solidFill>
                <a:latin typeface="Aptos"/>
              </a:rPr>
              <a:t>signed capsule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411980" y="5134356"/>
            <a:ext cx="0" cy="109728"/>
          </a:xfrm>
          <a:prstGeom prst="line">
            <a:avLst/>
          </a:prstGeom>
          <a:ln w="11430">
            <a:solidFill>
              <a:srgbClr val="44546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4361688" y="5166360"/>
            <a:ext cx="100584" cy="77724"/>
          </a:xfrm>
          <a:custGeom>
            <a:avLst/>
            <a:gdLst/>
            <a:ahLst/>
            <a:cxnLst/>
            <a:rect l="l" t="t" r="r" b="b"/>
            <a:pathLst>
              <a:path w="100584" h="77724">
                <a:moveTo>
                  <a:pt x="100584" y="0"/>
                </a:moveTo>
                <a:lnTo>
                  <a:pt x="50292" y="77724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45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94360" y="5248656"/>
            <a:ext cx="7635240" cy="493776"/>
          </a:xfrm>
          <a:prstGeom prst="roundRect">
            <a:avLst>
              <a:gd name="adj" fmla="val 9259"/>
            </a:avLst>
          </a:prstGeom>
          <a:solidFill>
            <a:srgbClr val="19223C"/>
          </a:solidFill>
          <a:ln w="10160">
            <a:solidFill>
              <a:srgbClr val="444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77240" y="53309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9BFF"/>
                </a:solidFill>
                <a:latin typeface="Aptos Display"/>
              </a:rP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1288" y="531266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spc="90">
                <a:solidFill>
                  <a:srgbClr val="FFFFFF"/>
                </a:solidFill>
                <a:latin typeface="Aptos"/>
              </a:rPr>
              <a:t>VERIFY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532638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90">
                <a:solidFill>
                  <a:srgbClr val="64748B"/>
                </a:solidFill>
                <a:latin typeface="Aptos"/>
              </a:rPr>
              <a:t>LAPTOP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61288" y="551383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sealed reply back; wrong key → rejected; scrub in 20 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5404104"/>
            <a:ext cx="18745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F9BFF"/>
                </a:solidFill>
                <a:latin typeface="Aptos"/>
              </a:rPr>
              <a:t>trusted answer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03920" y="1572768"/>
            <a:ext cx="3090672" cy="3090672"/>
          </a:xfrm>
          <a:prstGeom prst="roundRect">
            <a:avLst>
              <a:gd name="adj" fmla="val 1479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723376" y="17007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10">
                <a:solidFill>
                  <a:srgbClr val="3DD6C0"/>
                </a:solidFill>
                <a:latin typeface="Aptos"/>
              </a:rPr>
              <a:t>INGEST · ONCE PER FILE</a:t>
            </a:r>
          </a:p>
        </p:txBody>
      </p:sp>
      <p:sp>
        <p:nvSpPr>
          <p:cNvPr id="63" name="Oval 62"/>
          <p:cNvSpPr/>
          <p:nvPr/>
        </p:nvSpPr>
        <p:spPr>
          <a:xfrm>
            <a:off x="8759952" y="2103120"/>
            <a:ext cx="109728" cy="109728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64" name="Connector 63"/>
          <p:cNvCxnSpPr/>
          <p:nvPr/>
        </p:nvCxnSpPr>
        <p:spPr>
          <a:xfrm>
            <a:off x="8814816" y="2231136"/>
            <a:ext cx="0" cy="347472"/>
          </a:xfrm>
          <a:prstGeom prst="line">
            <a:avLst/>
          </a:prstGeom>
          <a:ln w="11430">
            <a:solidFill>
              <a:srgbClr val="2163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034272" y="204825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80">
                <a:solidFill>
                  <a:srgbClr val="FFFFFF"/>
                </a:solidFill>
                <a:latin typeface="Aptos"/>
              </a:rPr>
              <a:t>PICK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4272" y="2249424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 i="0">
                <a:solidFill>
                  <a:srgbClr val="94A3B8"/>
                </a:solidFill>
                <a:latin typeface="Aptos"/>
              </a:rPr>
              <a:t>.txt / .md on the phone</a:t>
            </a:r>
          </a:p>
        </p:txBody>
      </p:sp>
      <p:sp>
        <p:nvSpPr>
          <p:cNvPr id="67" name="Oval 66"/>
          <p:cNvSpPr/>
          <p:nvPr/>
        </p:nvSpPr>
        <p:spPr>
          <a:xfrm>
            <a:off x="8759952" y="2596896"/>
            <a:ext cx="109728" cy="109728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68" name="Connector 67"/>
          <p:cNvCxnSpPr/>
          <p:nvPr/>
        </p:nvCxnSpPr>
        <p:spPr>
          <a:xfrm>
            <a:off x="8814816" y="2724912"/>
            <a:ext cx="0" cy="347472"/>
          </a:xfrm>
          <a:prstGeom prst="line">
            <a:avLst/>
          </a:prstGeom>
          <a:ln w="11430">
            <a:solidFill>
              <a:srgbClr val="2163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034272" y="2542032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80">
                <a:solidFill>
                  <a:srgbClr val="FFFFFF"/>
                </a:solidFill>
                <a:latin typeface="Aptos"/>
              </a:rPr>
              <a:t>CHUNK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2" y="2743200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 i="0">
                <a:solidFill>
                  <a:srgbClr val="94A3B8"/>
                </a:solidFill>
                <a:latin typeface="Aptos"/>
              </a:rPr>
              <a:t>split + tokenize</a:t>
            </a:r>
          </a:p>
        </p:txBody>
      </p:sp>
      <p:sp>
        <p:nvSpPr>
          <p:cNvPr id="71" name="Oval 70"/>
          <p:cNvSpPr/>
          <p:nvPr/>
        </p:nvSpPr>
        <p:spPr>
          <a:xfrm>
            <a:off x="8759952" y="3090672"/>
            <a:ext cx="109728" cy="109728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72" name="Connector 71"/>
          <p:cNvCxnSpPr/>
          <p:nvPr/>
        </p:nvCxnSpPr>
        <p:spPr>
          <a:xfrm>
            <a:off x="8814816" y="3218688"/>
            <a:ext cx="0" cy="347472"/>
          </a:xfrm>
          <a:prstGeom prst="line">
            <a:avLst/>
          </a:prstGeom>
          <a:ln w="11430">
            <a:solidFill>
              <a:srgbClr val="2163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034272" y="303580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80">
                <a:solidFill>
                  <a:srgbClr val="FFFFFF"/>
                </a:solidFill>
                <a:latin typeface="Aptos"/>
              </a:rPr>
              <a:t>EMBED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3236976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 i="0">
                <a:solidFill>
                  <a:srgbClr val="94A3B8"/>
                </a:solidFill>
                <a:latin typeface="Aptos"/>
              </a:rPr>
              <a:t>same MiniLM path</a:t>
            </a:r>
          </a:p>
        </p:txBody>
      </p:sp>
      <p:sp>
        <p:nvSpPr>
          <p:cNvPr id="75" name="Oval 74"/>
          <p:cNvSpPr/>
          <p:nvPr/>
        </p:nvSpPr>
        <p:spPr>
          <a:xfrm>
            <a:off x="8759952" y="3584448"/>
            <a:ext cx="109728" cy="109728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76" name="Connector 75"/>
          <p:cNvCxnSpPr/>
          <p:nvPr/>
        </p:nvCxnSpPr>
        <p:spPr>
          <a:xfrm>
            <a:off x="8814816" y="3712464"/>
            <a:ext cx="0" cy="347472"/>
          </a:xfrm>
          <a:prstGeom prst="line">
            <a:avLst/>
          </a:prstGeom>
          <a:ln w="11430">
            <a:solidFill>
              <a:srgbClr val="2163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034272" y="352958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80">
                <a:solidFill>
                  <a:srgbClr val="FFFFFF"/>
                </a:solidFill>
                <a:latin typeface="Aptos"/>
              </a:rPr>
              <a:t>ENCRYPT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307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 i="0">
                <a:solidFill>
                  <a:srgbClr val="94A3B8"/>
                </a:solidFill>
                <a:latin typeface="Aptos"/>
              </a:rPr>
              <a:t>AES-GCM, key in Keystore</a:t>
            </a:r>
          </a:p>
        </p:txBody>
      </p:sp>
      <p:sp>
        <p:nvSpPr>
          <p:cNvPr id="79" name="Oval 78"/>
          <p:cNvSpPr/>
          <p:nvPr/>
        </p:nvSpPr>
        <p:spPr>
          <a:xfrm>
            <a:off x="8759952" y="4078224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9034272" y="402336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80">
                <a:solidFill>
                  <a:srgbClr val="FFFFFF"/>
                </a:solidFill>
                <a:latin typeface="Aptos"/>
              </a:rPr>
              <a:t>STORE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224528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 i="0">
                <a:solidFill>
                  <a:srgbClr val="94A3B8"/>
                </a:solidFill>
                <a:latin typeface="Aptos"/>
              </a:rPr>
              <a:t>SQLite + RAM index</a:t>
            </a:r>
          </a:p>
        </p:txBody>
      </p:sp>
      <p:cxnSp>
        <p:nvCxnSpPr>
          <p:cNvPr id="82" name="Connector 81"/>
          <p:cNvCxnSpPr/>
          <p:nvPr/>
        </p:nvCxnSpPr>
        <p:spPr>
          <a:xfrm flipH="1">
            <a:off x="8266175" y="3657600"/>
            <a:ext cx="237745" cy="0"/>
          </a:xfrm>
          <a:prstGeom prst="line">
            <a:avLst/>
          </a:prstGeom>
          <a:ln w="12700">
            <a:solidFill>
              <a:srgbClr val="3DD6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8266175" y="3607308"/>
            <a:ext cx="77725" cy="100583"/>
          </a:xfrm>
          <a:custGeom>
            <a:avLst/>
            <a:gdLst/>
            <a:ahLst/>
            <a:cxnLst/>
            <a:rect l="l" t="t" r="r" b="b"/>
            <a:pathLst>
              <a:path w="77725" h="100583">
                <a:moveTo>
                  <a:pt x="77725" y="100583"/>
                </a:moveTo>
                <a:lnTo>
                  <a:pt x="0" y="50292"/>
                </a:lnTo>
                <a:lnTo>
                  <a:pt x="77725" y="0"/>
                </a:lnTo>
              </a:path>
            </a:pathLst>
          </a:custGeom>
          <a:noFill/>
          <a:ln w="12700">
            <a:solidFill>
              <a:srgbClr val="3DD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73568" y="3456432"/>
            <a:ext cx="8229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 spc="40">
                <a:solidFill>
                  <a:srgbClr val="3DD6C0"/>
                </a:solidFill>
                <a:latin typeface="Aptos"/>
              </a:rPr>
              <a:t>index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503920" y="4828032"/>
            <a:ext cx="3090672" cy="1115568"/>
          </a:xfrm>
          <a:prstGeom prst="roundRect">
            <a:avLst>
              <a:gd name="adj" fmla="val 409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8723376" y="49377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10">
                <a:solidFill>
                  <a:srgbClr val="64748B"/>
                </a:solidFill>
                <a:latin typeface="Aptos"/>
              </a:rPr>
              <a:t>TRUST ZONES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741664" y="5248656"/>
            <a:ext cx="201168" cy="118872"/>
          </a:xfrm>
          <a:prstGeom prst="rect">
            <a:avLst/>
          </a:prstGeom>
          <a:solidFill>
            <a:srgbClr val="353E69"/>
          </a:solidFill>
          <a:ln w="8890">
            <a:solidFill>
              <a:srgbClr val="8F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052560" y="521208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Laptop · untrusted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41664" y="5477256"/>
            <a:ext cx="201168" cy="118872"/>
          </a:xfrm>
          <a:prstGeom prst="rect">
            <a:avLst/>
          </a:prstGeom>
          <a:solidFill>
            <a:srgbClr val="524629"/>
          </a:solidFill>
          <a:ln w="8890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052560" y="544068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Clipboard · ciphertext only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741664" y="5705856"/>
            <a:ext cx="201168" cy="118872"/>
          </a:xfrm>
          <a:prstGeom prst="rect">
            <a:avLst/>
          </a:prstGeom>
          <a:solidFill>
            <a:srgbClr val="144B39"/>
          </a:solidFill>
          <a:ln w="889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052560" y="566928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Aptos"/>
              </a:rPr>
              <a:t>Phone · trusted core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06 — SECURITY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Five layers, each one checkable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Stated as what is enforced by hardware, by the protocol or by the build, with the limit of 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MECHANISM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1488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STOPS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21488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423160"/>
            <a:ext cx="11000232" cy="10058"/>
          </a:xfrm>
          <a:prstGeom prst="rect">
            <a:avLst/>
          </a:prstGeom>
          <a:solidFill>
            <a:srgbClr val="2A3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2551176"/>
            <a:ext cx="41148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8952" y="260604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551176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94A3B8"/>
                </a:solidFill>
                <a:latin typeface="Aptos"/>
              </a:rPr>
              <a:t>AES-256-GCM per chunk; key generated in StrongBox, never exported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55117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FFFFFF"/>
                </a:solidFill>
                <a:latin typeface="Aptos"/>
              </a:rPr>
              <a:t>a copied database or a stolen phone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2624328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966960" y="2649931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4495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3099816"/>
            <a:ext cx="41148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8952" y="31546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Attribution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099816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94A3B8"/>
                </a:solidFill>
                <a:latin typeface="Aptos"/>
              </a:rPr>
              <a:t>ECDSA P-256 over a canonical payload; laptop pins the device key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09981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FFFFFF"/>
                </a:solidFill>
                <a:latin typeface="Aptos"/>
              </a:rPr>
              <a:t>forged or edited capsules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66960" y="3172968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966960" y="3198571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59359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3648456"/>
            <a:ext cx="41148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58952" y="370332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In transit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3648456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94A3B8"/>
                </a:solidFill>
                <a:latin typeface="Aptos"/>
              </a:rPr>
              <a:t>VAULTLINK/2: pairing code → HMAC keys, AES-GCM frames, replay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364845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FFFFFF"/>
                </a:solidFill>
                <a:latin typeface="Aptos"/>
              </a:rPr>
              <a:t>other apps reading or injecting queries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66960" y="3721607"/>
            <a:ext cx="691286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966960" y="3747211"/>
            <a:ext cx="69128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VERIFIED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4142231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4197096"/>
            <a:ext cx="41148" cy="384048"/>
          </a:xfrm>
          <a:prstGeom prst="rect">
            <a:avLst/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8952" y="42519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Residue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4197096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94A3B8"/>
                </a:solidFill>
                <a:latin typeface="Aptos"/>
              </a:rPr>
              <a:t>20 s compare-and-clear on the clipboard, phone and laptop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41970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FFFFFF"/>
                </a:solidFill>
                <a:latin typeface="Aptos"/>
              </a:rPr>
              <a:t>answers lingering on the clipboard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66960" y="4270248"/>
            <a:ext cx="1371600" cy="169164"/>
          </a:xfrm>
          <a:prstGeom prst="roundRect">
            <a:avLst>
              <a:gd name="adj" fmla="val 16216"/>
            </a:avLst>
          </a:prstGeom>
          <a:solidFill>
            <a:srgbClr val="2E2C29"/>
          </a:solidFill>
          <a:ln w="7620">
            <a:solidFill>
              <a:srgbClr val="6D58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966960" y="4295851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F0B429"/>
                </a:solidFill>
                <a:latin typeface="Aptos"/>
              </a:rPr>
              <a:t>BUILT - NOT HARDENED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46908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94360" y="4745736"/>
            <a:ext cx="41148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58952" y="480060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Network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4745736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94A3B8"/>
                </a:solidFill>
                <a:latin typeface="Aptos"/>
              </a:rPr>
              <a:t>air-gap flavor ships with no INTERNET permission (aapt2)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474573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FFFFFF"/>
                </a:solidFill>
                <a:latin typeface="Aptos"/>
              </a:rPr>
              <a:t>the app itself sending data anywhere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66960" y="4818888"/>
            <a:ext cx="691286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966960" y="4844491"/>
            <a:ext cx="69128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VERIFIED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413248"/>
            <a:ext cx="11000232" cy="749808"/>
          </a:xfrm>
          <a:prstGeom prst="roundRect">
            <a:avLst>
              <a:gd name="adj" fmla="val 6097"/>
            </a:avLst>
          </a:prstGeom>
          <a:solidFill>
            <a:srgbClr val="1D1829"/>
          </a:solidFill>
          <a:ln w="8890">
            <a:solidFill>
              <a:srgbClr val="4C1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413248"/>
            <a:ext cx="41148" cy="7498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13816" y="5541264"/>
            <a:ext cx="10634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DC2626"/>
                </a:solidFill>
                <a:latin typeface="Aptos"/>
              </a:rPr>
              <a:t>NOT STOPPED, STATED PLAINLY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" y="5779008"/>
            <a:ext cx="1061618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FFFFFF"/>
                </a:solidFill>
                <a:latin typeface="Aptos"/>
              </a:rPr>
              <a:t>A rooted phone, a laptop compromised after verification, or the legacy VAULTLINK/1 mode when a user switches it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07 — SOLUTION STACK &amp;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Built, tested, and running on the target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Every part below exists in the repository; the chip says how far each has been proven.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22C55E"/>
                </a:solidFill>
                <a:latin typeface="Aptos Display"/>
              </a:rPr>
              <a:t>236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78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90">
                <a:solidFill>
                  <a:srgbClr val="64748B"/>
                </a:solidFill>
                <a:latin typeface="Aptos"/>
              </a:rPr>
              <a:t>FLUTTER TESTS PASSING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2057400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22C55E"/>
                </a:solidFill>
                <a:latin typeface="Aptos Display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578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90">
                <a:solidFill>
                  <a:srgbClr val="64748B"/>
                </a:solidFill>
                <a:latin typeface="Aptos"/>
              </a:rPr>
              <a:t>PYTHON TESTS 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ptos Display"/>
              </a:rPr>
              <a:t>305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578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90">
                <a:solidFill>
                  <a:srgbClr val="64748B"/>
                </a:solidFill>
                <a:latin typeface="Aptos"/>
              </a:rPr>
              <a:t>NODES IN THE NPU-SHAPED MINILM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2057400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Aptos Display"/>
              </a:rPr>
              <a:t>1.000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2578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90">
                <a:solidFill>
                  <a:srgbClr val="64748B"/>
                </a:solidFill>
                <a:latin typeface="Aptos"/>
              </a:rPr>
              <a:t>COSINE VS THE ORIGINAL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63240"/>
            <a:ext cx="3529584" cy="1325880"/>
          </a:xfrm>
          <a:prstGeom prst="roundRect">
            <a:avLst>
              <a:gd name="adj" fmla="val 344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8" y="320954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PHONE 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01137" y="3227832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701137" y="3253435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557016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Flutter + Dart UI, Kotlin channels, C++ JNI. Air-gap and LAN build flavors.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3063240"/>
            <a:ext cx="3529584" cy="1325880"/>
          </a:xfrm>
          <a:prstGeom prst="roundRect">
            <a:avLst>
              <a:gd name="adj" fmla="val 344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26280" y="320954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ENCODER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8817" y="3227832"/>
            <a:ext cx="691286" cy="169164"/>
          </a:xfrm>
          <a:prstGeom prst="roundRect">
            <a:avLst>
              <a:gd name="adj" fmla="val 16216"/>
            </a:avLst>
          </a:prstGeom>
          <a:solidFill>
            <a:srgbClr val="2B1929"/>
          </a:solidFill>
          <a:ln w="7620">
            <a:solidFill>
              <a:srgbClr val="651D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998817" y="3253435"/>
            <a:ext cx="69128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DC2626"/>
                </a:solidFill>
                <a:latin typeface="Aptos"/>
              </a:rPr>
              <a:t>OPEN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557016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all-MiniLM-L6-v2 on LiteRT. QNN HTP → XNNPACK → CPU, accepted only after validation.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63240"/>
            <a:ext cx="3529584" cy="1325880"/>
          </a:xfrm>
          <a:prstGeom prst="roundRect">
            <a:avLst>
              <a:gd name="adj" fmla="val 344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57032" y="320954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REASONER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62641" y="3227832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62641" y="3253435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2" y="3557016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SmolLM2-1.7B Q4_K_M on llama.cpp OpenCL, or Gemma on MediaPipe. One at a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544568"/>
            <a:ext cx="3529584" cy="1325880"/>
          </a:xfrm>
          <a:prstGeom prst="roundRect">
            <a:avLst>
              <a:gd name="adj" fmla="val 344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469087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KEYS &amp; CRYPTO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01137" y="4709160"/>
            <a:ext cx="1258214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701137" y="4734763"/>
            <a:ext cx="125821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MEASURED ON DEVICE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" y="5038344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AndroidKeyStore with StrongBox: AES-256-GCM store, ECDSA P-256 signatures.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5112" y="4544568"/>
            <a:ext cx="3529584" cy="1325880"/>
          </a:xfrm>
          <a:prstGeom prst="roundRect">
            <a:avLst>
              <a:gd name="adj" fmla="val 344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26280" y="469087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LINK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98817" y="4709160"/>
            <a:ext cx="691286" cy="169164"/>
          </a:xfrm>
          <a:prstGeom prst="roundRect">
            <a:avLst>
              <a:gd name="adj" fmla="val 16216"/>
            </a:avLst>
          </a:prstGeom>
          <a:solidFill>
            <a:srgbClr val="112F31"/>
          </a:solidFill>
          <a:ln w="7620">
            <a:solidFill>
              <a:srgbClr val="166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998817" y="4734763"/>
            <a:ext cx="69128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22C55E"/>
                </a:solidFill>
                <a:latin typeface="Aptos"/>
              </a:rPr>
              <a:t>VERIFIED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5038344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VAULTLINK/2 over the Office Kit clipboard. Cross-language test vectors.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55864" y="4544568"/>
            <a:ext cx="3529584" cy="1325880"/>
          </a:xfrm>
          <a:prstGeom prst="roundRect">
            <a:avLst>
              <a:gd name="adj" fmla="val 3448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57032" y="469087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FFFFFF"/>
                </a:solidFill>
                <a:latin typeface="Aptos"/>
              </a:rPr>
              <a:t>LAPTOP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9256" y="4709160"/>
            <a:ext cx="1371600" cy="169164"/>
          </a:xfrm>
          <a:prstGeom prst="roundRect">
            <a:avLst>
              <a:gd name="adj" fmla="val 16216"/>
            </a:avLst>
          </a:prstGeom>
          <a:solidFill>
            <a:srgbClr val="2E2C29"/>
          </a:solidFill>
          <a:ln w="7620">
            <a:solidFill>
              <a:srgbClr val="6D58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49256" y="4734763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 spc="55">
                <a:solidFill>
                  <a:srgbClr val="F0B429"/>
                </a:solidFill>
                <a:latin typeface="Aptos"/>
              </a:rPr>
              <a:t>BUILT - NOT HARDENED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7032" y="5038344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Python vaultlink.py and capsule verifier, DPAPI key storage, optional MCP bridge.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08 — EXPECTED OUTCOMES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What the phone measured, and what it taught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Numbers from VaultLink sessions on the iQOO 15 and from host tooling, labelled by source.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19677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5300" y="2103120"/>
            <a:ext cx="242133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9784" y="2103120"/>
            <a:ext cx="10607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00">
                <a:solidFill>
                  <a:srgbClr val="64748B"/>
                </a:solidFill>
                <a:latin typeface="Aptos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77439"/>
            <a:ext cx="5669280" cy="10058"/>
          </a:xfrm>
          <a:prstGeom prst="rect">
            <a:avLst/>
          </a:prstGeom>
          <a:solidFill>
            <a:srgbClr val="2A3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468879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Key 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5300" y="2468879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StrongBox for AES and ECDSA 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2468879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22C55E"/>
                </a:solidFill>
                <a:latin typeface="Aptos"/>
              </a:rPr>
              <a:t>DEVICE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820923"/>
            <a:ext cx="5669280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2889503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Capsule signature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5300" y="2889503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valid ECDSA P-256, verified on laptop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889503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22C55E"/>
                </a:solidFill>
                <a:latin typeface="Aptos"/>
              </a:rPr>
              <a:t>DEVICE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241547"/>
            <a:ext cx="5669280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3310127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Reasoning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5300" y="3310127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≈10.5 tok/s end to end, 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3310127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22C55E"/>
                </a:solidFill>
                <a:latin typeface="Aptos"/>
              </a:rPr>
              <a:t>DEVICE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662172"/>
            <a:ext cx="5669280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3730752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Retrieval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5300" y="3730752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≈2.0 s, dominated by StrongBox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730752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22C55E"/>
                </a:solidFill>
                <a:latin typeface="Aptos"/>
              </a:rPr>
              <a:t>DEVICE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4082796"/>
            <a:ext cx="5669280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4151376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Encoder latency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35300" y="4151376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113–137 ms per query, XNNPACK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151376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22C55E"/>
                </a:solidFill>
                <a:latin typeface="Aptos"/>
              </a:rPr>
              <a:t>DEVICE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503420"/>
            <a:ext cx="5669280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94360" y="4572000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NPU (QNN HTP)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5300" y="4572000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re-exported model, awaiting phone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9784" y="4572000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DC2626"/>
                </a:solidFill>
                <a:latin typeface="Aptos"/>
              </a:rPr>
              <a:t>OPEN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4924044"/>
            <a:ext cx="5669280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94360" y="4992624"/>
            <a:ext cx="19495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FFFFFF"/>
                </a:solidFill>
                <a:latin typeface="Aptos"/>
              </a:rPr>
              <a:t>Network permissions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35300" y="4992624"/>
            <a:ext cx="240304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0" i="0">
                <a:solidFill>
                  <a:srgbClr val="94A3B8"/>
                </a:solidFill>
                <a:latin typeface="Aptos"/>
              </a:rPr>
              <a:t>none in the air-gap APK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9784" y="4992624"/>
            <a:ext cx="10424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60" b="1" i="0">
                <a:solidFill>
                  <a:srgbClr val="3DD6C0"/>
                </a:solidFill>
                <a:latin typeface="Aptos"/>
              </a:rPr>
              <a:t>HOST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10312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WHAT THE DEVICE TAUGHT 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23774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 i="0">
                <a:solidFill>
                  <a:srgbClr val="FFFFFF"/>
                </a:solidFill>
                <a:latin typeface="Aptos"/>
              </a:rPr>
              <a:t>Failed answers were a retrieval problem, not a model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3017520"/>
            <a:ext cx="3128070" cy="384048"/>
          </a:xfrm>
          <a:prstGeom prst="rect">
            <a:avLst/>
          </a:prstGeom>
          <a:solidFill>
            <a:srgbClr val="154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9757470" y="3017520"/>
            <a:ext cx="1837121" cy="384048"/>
          </a:xfrm>
          <a:prstGeom prst="rect">
            <a:avLst/>
          </a:prstGeom>
          <a:solidFill>
            <a:srgbClr val="5C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629400" y="3108960"/>
            <a:ext cx="31280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"/>
              </a:rPr>
              <a:t>embedded · 254 tokens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7470" y="3108960"/>
            <a:ext cx="183712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"/>
              </a:rPr>
              <a:t>never seen · 35–38 %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493008"/>
            <a:ext cx="4965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94A3B8"/>
                </a:solidFill>
                <a:latin typeface="Aptos"/>
              </a:rPr>
              <a:t>Chunks were longer than the encoder's window, so facts in the last third could not be found.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16052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64748B"/>
                </a:solidFill>
                <a:latin typeface="Aptos"/>
              </a:rPr>
              <a:t>FIXES, IN ORDER OF IMPACT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0" y="4480559"/>
            <a:ext cx="41148" cy="3657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793992" y="44622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Token-aware chunks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448055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≤ 200 tokens with overlap, then re-index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4956048"/>
            <a:ext cx="41148" cy="3657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793992" y="49377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Chunk key in TEE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49560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cut the StrongBox round trips from retrieval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29400" y="5431536"/>
            <a:ext cx="41148" cy="365760"/>
          </a:xfrm>
          <a:prstGeom prst="rect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93992" y="541324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Similarity gate removed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543153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i="0">
                <a:solidFill>
                  <a:srgbClr val="94A3B8"/>
                </a:solidFill>
                <a:latin typeface="Aptos"/>
              </a:rPr>
              <a:t>a loaded model now answers every query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09 —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0" i="0">
                <a:solidFill>
                  <a:srgbClr val="FFFFFF"/>
                </a:solidFill>
                <a:latin typeface="Aptos Display"/>
              </a:rPr>
              <a:t>Known limits, and the work that would resolve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8132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94A3B8"/>
                </a:solidFill>
                <a:latin typeface="Aptos"/>
              </a:rPr>
              <a:t>Stated plainly, because a privacy tool that oversells itself is worse than none.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49240" cy="3931920"/>
          </a:xfrm>
          <a:prstGeom prst="roundRect">
            <a:avLst>
              <a:gd name="adj" fmla="val 1162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41148" cy="3931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231136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20">
                <a:solidFill>
                  <a:srgbClr val="DC2626"/>
                </a:solidFill>
                <a:latin typeface="Aptos"/>
              </a:rPr>
              <a:t>CURRENT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78608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NPU not yet confirmed.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834639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MiniLM runs on XNNPACK until the phone reports "QNN HTP verified".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255263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Retrieval misses long chunks.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511296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35–38 % of a chunk falls outside the encoder window.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931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Retrieval is slow.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18795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≈2 s per question, mostly StrongBox decryption.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608575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Vectors are not encrypted.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4864607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Embeddings sit in plaintext so ranking can run in RAM.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528523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Legacy mode exists.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541264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VAULTLINK/1 is unauthenticated; off by default, one switch away.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2103120"/>
            <a:ext cx="5349240" cy="3931920"/>
          </a:xfrm>
          <a:prstGeom prst="roundRect">
            <a:avLst>
              <a:gd name="adj" fmla="val 1162"/>
            </a:avLst>
          </a:prstGeom>
          <a:solidFill>
            <a:srgbClr val="10192E"/>
          </a:solidFill>
          <a:ln w="8890">
            <a:solidFill>
              <a:srgbClr val="1B2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45352" y="2103120"/>
            <a:ext cx="41148" cy="39319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1384" y="2231136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20">
                <a:solidFill>
                  <a:srgbClr val="22C55E"/>
                </a:solidFill>
                <a:latin typeface="Aptos"/>
              </a:rPr>
              <a:t>FUTURE WORK · IN PRIORITY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25786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2C55E"/>
                </a:solidFill>
                <a:latin typeface="Aptos Display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2578608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Token-aware chunking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2834639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re-index with ≤ 200-token chunks and measure recall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1384" y="3255263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2C55E"/>
                </a:solidFill>
                <a:latin typeface="Aptos Display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3255263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Confirm the NPU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3511296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QNN HTP verdict and pipeline benchmark on the phone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31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2C55E"/>
                </a:solidFill>
                <a:latin typeface="Aptos Display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76872" y="3931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Faster retrieval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6872" y="418795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chunk key in TEE; signing key stays in StrongBox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4" y="460857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2C55E"/>
                </a:solidFill>
                <a:latin typeface="Aptos Display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6872" y="4608575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Encrypt embeddings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6872" y="4864607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decrypt into RAM on open, wipe on background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5285231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2C55E"/>
                </a:solidFill>
                <a:latin typeface="Aptos Display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76872" y="528523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Stronger pairing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6872" y="5541264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94A3B8"/>
                </a:solidFill>
                <a:latin typeface="Aptos"/>
              </a:rPr>
              <a:t>PAKE with a 6-digit compare; retire VAULTLINK/1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8778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4748B"/>
                </a:solidFill>
                <a:latin typeface="Aptos"/>
              </a:rPr>
              <a:t>10 — ONE-SHOT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10002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0" i="0">
                <a:solidFill>
                  <a:srgbClr val="FFFFFF"/>
                </a:solidFill>
                <a:latin typeface="Aptos Display"/>
              </a:rPr>
              <a:t>Your documents stay on the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91072"/>
            <a:ext cx="11000232" cy="1005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spc="80">
                <a:solidFill>
                  <a:srgbClr val="64748B"/>
                </a:solidFill>
                <a:latin typeface="Apto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110002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22C55E"/>
                </a:solidFill>
                <a:latin typeface="Aptos Display"/>
              </a:rPr>
              <a:t>Your laptop gets a signed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5394960" cy="1143000"/>
          </a:xfrm>
          <a:prstGeom prst="roundRect">
            <a:avLst>
              <a:gd name="adj" fmla="val 4000"/>
            </a:avLst>
          </a:prstGeom>
          <a:solidFill>
            <a:srgbClr val="1D1829"/>
          </a:solidFill>
          <a:ln w="8890">
            <a:solidFill>
              <a:srgbClr val="4C1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148840"/>
            <a:ext cx="41148" cy="1143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3816" y="227685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DC2626"/>
                </a:solidFill>
                <a:latin typeface="Aptos"/>
              </a:rPr>
              <a:t>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514600"/>
            <a:ext cx="50109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FFFFFF"/>
                </a:solidFill>
                <a:latin typeface="Aptos"/>
              </a:rPr>
              <a:t>Private corpora end up in the cloud or on the busiest laptop, and nobody can tell where an answer came from.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48840"/>
            <a:ext cx="5394960" cy="1143000"/>
          </a:xfrm>
          <a:prstGeom prst="roundRect">
            <a:avLst>
              <a:gd name="adj" fmla="val 4000"/>
            </a:avLst>
          </a:prstGeom>
          <a:solidFill>
            <a:srgbClr val="10232D"/>
          </a:solidFill>
          <a:ln w="8890">
            <a:solidFill>
              <a:srgbClr val="144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99632" y="2148840"/>
            <a:ext cx="41148" cy="1143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19088" y="227685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spc="120">
                <a:solidFill>
                  <a:srgbClr val="22C55E"/>
                </a:solidFill>
                <a:latin typeface="Aptos"/>
              </a:rPr>
              <a:t>THE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514600"/>
            <a:ext cx="50109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FFFFFF"/>
                </a:solidFill>
                <a:latin typeface="Aptos"/>
              </a:rPr>
              <a:t>Store, search and reason on the phone. Send only a signed capsule, over a sealed clipboard link.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3840480"/>
            <a:ext cx="9601200" cy="0"/>
          </a:xfrm>
          <a:prstGeom prst="line">
            <a:avLst/>
          </a:prstGeom>
          <a:ln w="17780">
            <a:solidFill>
              <a:srgbClr val="186E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3694176"/>
            <a:ext cx="292608" cy="292608"/>
          </a:xfrm>
          <a:prstGeom prst="ellipse">
            <a:avLst/>
          </a:prstGeom>
          <a:solidFill>
            <a:srgbClr val="23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Oval 17"/>
          <p:cNvSpPr/>
          <p:nvPr/>
        </p:nvSpPr>
        <p:spPr>
          <a:xfrm>
            <a:off x="1197863" y="3758184"/>
            <a:ext cx="164592" cy="164592"/>
          </a:xfrm>
          <a:prstGeom prst="ellipse">
            <a:avLst/>
          </a:prstGeom>
          <a:solidFill>
            <a:srgbClr val="3B4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Oval 18"/>
          <p:cNvSpPr/>
          <p:nvPr/>
        </p:nvSpPr>
        <p:spPr>
          <a:xfrm>
            <a:off x="1234439" y="3794760"/>
            <a:ext cx="91440" cy="91440"/>
          </a:xfrm>
          <a:prstGeom prst="ellipse">
            <a:avLst/>
          </a:prstGeom>
          <a:solidFill>
            <a:srgbClr val="8F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199" y="4078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" y="4279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laptop</a:t>
            </a:r>
          </a:p>
        </p:txBody>
      </p:sp>
      <p:sp>
        <p:nvSpPr>
          <p:cNvPr id="22" name="Oval 21"/>
          <p:cNvSpPr/>
          <p:nvPr/>
        </p:nvSpPr>
        <p:spPr>
          <a:xfrm>
            <a:off x="3054096" y="3694176"/>
            <a:ext cx="292608" cy="292608"/>
          </a:xfrm>
          <a:prstGeom prst="ellipse">
            <a:avLst/>
          </a:prstGeom>
          <a:solidFill>
            <a:srgbClr val="333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Oval 22"/>
          <p:cNvSpPr/>
          <p:nvPr/>
        </p:nvSpPr>
        <p:spPr>
          <a:xfrm>
            <a:off x="3118104" y="3758184"/>
            <a:ext cx="164592" cy="164592"/>
          </a:xfrm>
          <a:prstGeom prst="ellipse">
            <a:avLst/>
          </a:prstGeom>
          <a:solidFill>
            <a:srgbClr val="5D4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Oval 23"/>
          <p:cNvSpPr/>
          <p:nvPr/>
        </p:nvSpPr>
        <p:spPr>
          <a:xfrm>
            <a:off x="3154680" y="3794760"/>
            <a:ext cx="91440" cy="91440"/>
          </a:xfrm>
          <a:prstGeom prst="ellipse">
            <a:avLst/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377440" y="4078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SEALED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279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clipboard</a:t>
            </a:r>
          </a:p>
        </p:txBody>
      </p:sp>
      <p:sp>
        <p:nvSpPr>
          <p:cNvPr id="27" name="Oval 26"/>
          <p:cNvSpPr/>
          <p:nvPr/>
        </p:nvSpPr>
        <p:spPr>
          <a:xfrm>
            <a:off x="4974336" y="3694176"/>
            <a:ext cx="292608" cy="292608"/>
          </a:xfrm>
          <a:prstGeom prst="ellipse">
            <a:avLst/>
          </a:prstGeom>
          <a:solidFill>
            <a:srgbClr val="1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Oval 27"/>
          <p:cNvSpPr/>
          <p:nvPr/>
        </p:nvSpPr>
        <p:spPr>
          <a:xfrm>
            <a:off x="5038344" y="3758184"/>
            <a:ext cx="164592" cy="164592"/>
          </a:xfrm>
          <a:prstGeom prst="ellipse">
            <a:avLst/>
          </a:prstGeom>
          <a:solidFill>
            <a:srgbClr val="1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Oval 28"/>
          <p:cNvSpPr/>
          <p:nvPr/>
        </p:nvSpPr>
        <p:spPr>
          <a:xfrm>
            <a:off x="5074920" y="379476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79" y="4078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4279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NPU · CPU</a:t>
            </a:r>
          </a:p>
        </p:txBody>
      </p:sp>
      <p:sp>
        <p:nvSpPr>
          <p:cNvPr id="32" name="Oval 31"/>
          <p:cNvSpPr/>
          <p:nvPr/>
        </p:nvSpPr>
        <p:spPr>
          <a:xfrm>
            <a:off x="6894576" y="3694176"/>
            <a:ext cx="292608" cy="292608"/>
          </a:xfrm>
          <a:prstGeom prst="ellipse">
            <a:avLst/>
          </a:prstGeom>
          <a:solidFill>
            <a:srgbClr val="1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Oval 32"/>
          <p:cNvSpPr/>
          <p:nvPr/>
        </p:nvSpPr>
        <p:spPr>
          <a:xfrm>
            <a:off x="6958584" y="3758184"/>
            <a:ext cx="164592" cy="164592"/>
          </a:xfrm>
          <a:prstGeom prst="ellipse">
            <a:avLst/>
          </a:prstGeom>
          <a:solidFill>
            <a:srgbClr val="1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Oval 33"/>
          <p:cNvSpPr/>
          <p:nvPr/>
        </p:nvSpPr>
        <p:spPr>
          <a:xfrm>
            <a:off x="6995160" y="379476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17920" y="4078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REASON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279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GPU</a:t>
            </a:r>
          </a:p>
        </p:txBody>
      </p:sp>
      <p:sp>
        <p:nvSpPr>
          <p:cNvPr id="37" name="Oval 36"/>
          <p:cNvSpPr/>
          <p:nvPr/>
        </p:nvSpPr>
        <p:spPr>
          <a:xfrm>
            <a:off x="8814816" y="3694176"/>
            <a:ext cx="292608" cy="292608"/>
          </a:xfrm>
          <a:prstGeom prst="ellipse">
            <a:avLst/>
          </a:prstGeom>
          <a:solidFill>
            <a:srgbClr val="16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Oval 37"/>
          <p:cNvSpPr/>
          <p:nvPr/>
        </p:nvSpPr>
        <p:spPr>
          <a:xfrm>
            <a:off x="8878824" y="3758184"/>
            <a:ext cx="164592" cy="164592"/>
          </a:xfrm>
          <a:prstGeom prst="ellipse">
            <a:avLst/>
          </a:prstGeom>
          <a:solidFill>
            <a:srgbClr val="1F5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Oval 38"/>
          <p:cNvSpPr/>
          <p:nvPr/>
        </p:nvSpPr>
        <p:spPr>
          <a:xfrm>
            <a:off x="8915400" y="3794760"/>
            <a:ext cx="91440" cy="91440"/>
          </a:xfrm>
          <a:prstGeom prst="ellipse">
            <a:avLst/>
          </a:prstGeom>
          <a:solidFill>
            <a:srgbClr val="3DD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38160" y="4078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SIGN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279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StrongBox</a:t>
            </a:r>
          </a:p>
        </p:txBody>
      </p:sp>
      <p:sp>
        <p:nvSpPr>
          <p:cNvPr id="42" name="Oval 41"/>
          <p:cNvSpPr/>
          <p:nvPr/>
        </p:nvSpPr>
        <p:spPr>
          <a:xfrm>
            <a:off x="10735056" y="3694176"/>
            <a:ext cx="292608" cy="292608"/>
          </a:xfrm>
          <a:prstGeom prst="ellipse">
            <a:avLst/>
          </a:prstGeom>
          <a:solidFill>
            <a:srgbClr val="23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3" name="Oval 42"/>
          <p:cNvSpPr/>
          <p:nvPr/>
        </p:nvSpPr>
        <p:spPr>
          <a:xfrm>
            <a:off x="10799064" y="3758184"/>
            <a:ext cx="164592" cy="164592"/>
          </a:xfrm>
          <a:prstGeom prst="ellipse">
            <a:avLst/>
          </a:prstGeom>
          <a:solidFill>
            <a:srgbClr val="3B4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Oval 43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8F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058400" y="4078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spc="100">
                <a:solidFill>
                  <a:srgbClr val="FFFFFF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427939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0" i="0">
                <a:solidFill>
                  <a:srgbClr val="64748B"/>
                </a:solidFill>
                <a:latin typeface="Aptos"/>
              </a:rPr>
              <a:t>laptop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4617720"/>
            <a:ext cx="11000232" cy="10058"/>
          </a:xfrm>
          <a:prstGeom prst="rect">
            <a:avLst/>
          </a:prstGeom>
          <a:solidFill>
            <a:srgbClr val="2A3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4360" y="475488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22C55E"/>
                </a:solidFill>
                <a:latin typeface="Aptos"/>
              </a:rPr>
              <a:t>PROVEN ON THE PHONE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502920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StrongBox keys, signed capsules verified on the laptop, SmolLM2 on the GPU at ≈10.5 tok/s, sealed round trips over the clipboard, an APK with no network permission.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475488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140">
                <a:solidFill>
                  <a:srgbClr val="F0B429"/>
                </a:solidFill>
                <a:latin typeface="Aptos"/>
              </a:rPr>
              <a:t>NOT YET PROVEN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9632" y="502920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94A3B8"/>
                </a:solidFill>
                <a:latin typeface="Aptos"/>
              </a:rPr>
              <a:t>MiniLM on the Hexagon NPU, retrieval recall after token-aware chunking, and VAULTLINK/2 enrollment on the phone.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