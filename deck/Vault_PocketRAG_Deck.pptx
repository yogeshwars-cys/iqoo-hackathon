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Rectangle 2"/>
          <p:cNvSpPr/>
          <p:nvPr/>
        </p:nvSpPr>
        <p:spPr>
          <a:xfrm>
            <a:off x="0" y="0"/>
            <a:ext cx="12191695" cy="6858000"/>
          </a:xfrm>
          <a:prstGeom prst="rect">
            <a:avLst/>
          </a:prstGeom>
          <a:solidFill>
            <a:srgbClr val="0B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 name="Oval 3"/>
          <p:cNvSpPr/>
          <p:nvPr/>
        </p:nvSpPr>
        <p:spPr>
          <a:xfrm>
            <a:off x="10886622" y="4201693"/>
            <a:ext cx="31089" cy="31089"/>
          </a:xfrm>
          <a:prstGeom prst="ellipse">
            <a:avLst/>
          </a:prstGeom>
          <a:solidFill>
            <a:srgbClr val="1237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 name="Oval 4"/>
          <p:cNvSpPr/>
          <p:nvPr/>
        </p:nvSpPr>
        <p:spPr>
          <a:xfrm>
            <a:off x="8665261" y="3085906"/>
            <a:ext cx="31089" cy="31089"/>
          </a:xfrm>
          <a:prstGeom prst="ellipse">
            <a:avLst/>
          </a:prstGeom>
          <a:solidFill>
            <a:srgbClr val="112F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Oval 5"/>
          <p:cNvSpPr/>
          <p:nvPr/>
        </p:nvSpPr>
        <p:spPr>
          <a:xfrm>
            <a:off x="8270083" y="6191920"/>
            <a:ext cx="31089" cy="31089"/>
          </a:xfrm>
          <a:prstGeom prst="ellipse">
            <a:avLst/>
          </a:prstGeom>
          <a:solidFill>
            <a:srgbClr val="133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Oval 6"/>
          <p:cNvSpPr/>
          <p:nvPr/>
        </p:nvSpPr>
        <p:spPr>
          <a:xfrm>
            <a:off x="7338332" y="4624439"/>
            <a:ext cx="31089" cy="31089"/>
          </a:xfrm>
          <a:prstGeom prst="ellipse">
            <a:avLst/>
          </a:prstGeom>
          <a:solidFill>
            <a:srgbClr val="1026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Oval 7"/>
          <p:cNvSpPr/>
          <p:nvPr/>
        </p:nvSpPr>
        <p:spPr>
          <a:xfrm>
            <a:off x="9445119" y="5948383"/>
            <a:ext cx="31089" cy="31089"/>
          </a:xfrm>
          <a:prstGeom prst="ellipse">
            <a:avLst/>
          </a:prstGeom>
          <a:solidFill>
            <a:srgbClr val="1234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Oval 8"/>
          <p:cNvSpPr/>
          <p:nvPr/>
        </p:nvSpPr>
        <p:spPr>
          <a:xfrm>
            <a:off x="11616853" y="5734383"/>
            <a:ext cx="31089" cy="31089"/>
          </a:xfrm>
          <a:prstGeom prst="ellipse">
            <a:avLst/>
          </a:prstGeom>
          <a:solidFill>
            <a:srgbClr val="133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Oval 9"/>
          <p:cNvSpPr/>
          <p:nvPr/>
        </p:nvSpPr>
        <p:spPr>
          <a:xfrm>
            <a:off x="8578431" y="886153"/>
            <a:ext cx="31089" cy="31089"/>
          </a:xfrm>
          <a:prstGeom prst="ellipse">
            <a:avLst/>
          </a:prstGeom>
          <a:solidFill>
            <a:srgbClr val="134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Oval 10"/>
          <p:cNvSpPr/>
          <p:nvPr/>
        </p:nvSpPr>
        <p:spPr>
          <a:xfrm>
            <a:off x="11931121" y="5866669"/>
            <a:ext cx="31089" cy="31089"/>
          </a:xfrm>
          <a:prstGeom prst="ellipse">
            <a:avLst/>
          </a:prstGeom>
          <a:solidFill>
            <a:srgbClr val="1233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Oval 11"/>
          <p:cNvSpPr/>
          <p:nvPr/>
        </p:nvSpPr>
        <p:spPr>
          <a:xfrm>
            <a:off x="8571311" y="5601991"/>
            <a:ext cx="31089" cy="31089"/>
          </a:xfrm>
          <a:prstGeom prst="ellipse">
            <a:avLst/>
          </a:prstGeom>
          <a:solidFill>
            <a:srgbClr val="1341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3" name="Oval 12"/>
          <p:cNvSpPr/>
          <p:nvPr/>
        </p:nvSpPr>
        <p:spPr>
          <a:xfrm>
            <a:off x="9833577" y="4502502"/>
            <a:ext cx="31089" cy="31089"/>
          </a:xfrm>
          <a:prstGeom prst="ellipse">
            <a:avLst/>
          </a:prstGeom>
          <a:solidFill>
            <a:srgbClr val="133C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4" name="Oval 13"/>
          <p:cNvSpPr/>
          <p:nvPr/>
        </p:nvSpPr>
        <p:spPr>
          <a:xfrm>
            <a:off x="6492056" y="5199223"/>
            <a:ext cx="31089" cy="31089"/>
          </a:xfrm>
          <a:prstGeom prst="ellipse">
            <a:avLst/>
          </a:prstGeom>
          <a:solidFill>
            <a:srgbClr val="1446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Oval 14"/>
          <p:cNvSpPr/>
          <p:nvPr/>
        </p:nvSpPr>
        <p:spPr>
          <a:xfrm>
            <a:off x="8221306" y="582113"/>
            <a:ext cx="31089" cy="31089"/>
          </a:xfrm>
          <a:prstGeom prst="ellipse">
            <a:avLst/>
          </a:prstGeom>
          <a:solidFill>
            <a:srgbClr val="1341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Oval 15"/>
          <p:cNvSpPr/>
          <p:nvPr/>
        </p:nvSpPr>
        <p:spPr>
          <a:xfrm>
            <a:off x="9691899" y="3019457"/>
            <a:ext cx="31089" cy="31089"/>
          </a:xfrm>
          <a:prstGeom prst="ellipse">
            <a:avLst/>
          </a:prstGeom>
          <a:solidFill>
            <a:srgbClr val="112F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Oval 16"/>
          <p:cNvSpPr/>
          <p:nvPr/>
        </p:nvSpPr>
        <p:spPr>
          <a:xfrm>
            <a:off x="10823466" y="5262451"/>
            <a:ext cx="31089" cy="31089"/>
          </a:xfrm>
          <a:prstGeom prst="ellipse">
            <a:avLst/>
          </a:prstGeom>
          <a:solidFill>
            <a:srgbClr val="0F1F2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Oval 17"/>
          <p:cNvSpPr/>
          <p:nvPr/>
        </p:nvSpPr>
        <p:spPr>
          <a:xfrm>
            <a:off x="6900445" y="3709521"/>
            <a:ext cx="31089" cy="31089"/>
          </a:xfrm>
          <a:prstGeom prst="ellipse">
            <a:avLst/>
          </a:prstGeom>
          <a:solidFill>
            <a:srgbClr val="123A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Oval 18"/>
          <p:cNvSpPr/>
          <p:nvPr/>
        </p:nvSpPr>
        <p:spPr>
          <a:xfrm>
            <a:off x="9212205" y="1577292"/>
            <a:ext cx="31089" cy="31089"/>
          </a:xfrm>
          <a:prstGeom prst="ellipse">
            <a:avLst/>
          </a:prstGeom>
          <a:solidFill>
            <a:srgbClr val="1446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Oval 19"/>
          <p:cNvSpPr/>
          <p:nvPr/>
        </p:nvSpPr>
        <p:spPr>
          <a:xfrm>
            <a:off x="11148378" y="560017"/>
            <a:ext cx="31089" cy="31089"/>
          </a:xfrm>
          <a:prstGeom prst="ellipse">
            <a:avLst/>
          </a:prstGeom>
          <a:solidFill>
            <a:srgbClr val="1342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Oval 20"/>
          <p:cNvSpPr/>
          <p:nvPr/>
        </p:nvSpPr>
        <p:spPr>
          <a:xfrm>
            <a:off x="11457768" y="471795"/>
            <a:ext cx="31089" cy="31089"/>
          </a:xfrm>
          <a:prstGeom prst="ellipse">
            <a:avLst/>
          </a:prstGeom>
          <a:solidFill>
            <a:srgbClr val="1026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Oval 21"/>
          <p:cNvSpPr/>
          <p:nvPr/>
        </p:nvSpPr>
        <p:spPr>
          <a:xfrm>
            <a:off x="7407378" y="2248485"/>
            <a:ext cx="31089" cy="31089"/>
          </a:xfrm>
          <a:prstGeom prst="ellipse">
            <a:avLst/>
          </a:prstGeom>
          <a:solidFill>
            <a:srgbClr val="112F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Oval 22"/>
          <p:cNvSpPr/>
          <p:nvPr/>
        </p:nvSpPr>
        <p:spPr>
          <a:xfrm>
            <a:off x="9960203" y="1551120"/>
            <a:ext cx="31089" cy="31089"/>
          </a:xfrm>
          <a:prstGeom prst="ellipse">
            <a:avLst/>
          </a:prstGeom>
          <a:solidFill>
            <a:srgbClr val="1444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Oval 23"/>
          <p:cNvSpPr/>
          <p:nvPr/>
        </p:nvSpPr>
        <p:spPr>
          <a:xfrm>
            <a:off x="8882662" y="3154757"/>
            <a:ext cx="31089" cy="31089"/>
          </a:xfrm>
          <a:prstGeom prst="ellipse">
            <a:avLst/>
          </a:prstGeom>
          <a:solidFill>
            <a:srgbClr val="133C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Oval 24"/>
          <p:cNvSpPr/>
          <p:nvPr/>
        </p:nvSpPr>
        <p:spPr>
          <a:xfrm>
            <a:off x="8399095" y="2439094"/>
            <a:ext cx="31089" cy="31089"/>
          </a:xfrm>
          <a:prstGeom prst="ellipse">
            <a:avLst/>
          </a:prstGeom>
          <a:solidFill>
            <a:srgbClr val="112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Oval 25"/>
          <p:cNvSpPr/>
          <p:nvPr/>
        </p:nvSpPr>
        <p:spPr>
          <a:xfrm>
            <a:off x="9876401" y="1376209"/>
            <a:ext cx="31089" cy="31089"/>
          </a:xfrm>
          <a:prstGeom prst="ellipse">
            <a:avLst/>
          </a:prstGeom>
          <a:solidFill>
            <a:srgbClr val="1027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Oval 26"/>
          <p:cNvSpPr/>
          <p:nvPr/>
        </p:nvSpPr>
        <p:spPr>
          <a:xfrm>
            <a:off x="8189441" y="2142584"/>
            <a:ext cx="31089" cy="31089"/>
          </a:xfrm>
          <a:prstGeom prst="ellipse">
            <a:avLst/>
          </a:prstGeom>
          <a:solidFill>
            <a:srgbClr val="113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Oval 27"/>
          <p:cNvSpPr/>
          <p:nvPr/>
        </p:nvSpPr>
        <p:spPr>
          <a:xfrm>
            <a:off x="9230484" y="6398414"/>
            <a:ext cx="31089" cy="31089"/>
          </a:xfrm>
          <a:prstGeom prst="ellipse">
            <a:avLst/>
          </a:prstGeom>
          <a:solidFill>
            <a:srgbClr val="112F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Oval 28"/>
          <p:cNvSpPr/>
          <p:nvPr/>
        </p:nvSpPr>
        <p:spPr>
          <a:xfrm>
            <a:off x="6846319" y="3873476"/>
            <a:ext cx="31089" cy="31089"/>
          </a:xfrm>
          <a:prstGeom prst="ellipse">
            <a:avLst/>
          </a:prstGeom>
          <a:solidFill>
            <a:srgbClr val="1130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Oval 29"/>
          <p:cNvSpPr/>
          <p:nvPr/>
        </p:nvSpPr>
        <p:spPr>
          <a:xfrm>
            <a:off x="6657952" y="4689429"/>
            <a:ext cx="31089" cy="31089"/>
          </a:xfrm>
          <a:prstGeom prst="ellipse">
            <a:avLst/>
          </a:prstGeom>
          <a:solidFill>
            <a:srgbClr val="1343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Oval 30"/>
          <p:cNvSpPr/>
          <p:nvPr/>
        </p:nvSpPr>
        <p:spPr>
          <a:xfrm>
            <a:off x="6971222" y="607596"/>
            <a:ext cx="31089" cy="31089"/>
          </a:xfrm>
          <a:prstGeom prst="ellipse">
            <a:avLst/>
          </a:prstGeom>
          <a:solidFill>
            <a:srgbClr val="0F1E2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Oval 31"/>
          <p:cNvSpPr/>
          <p:nvPr/>
        </p:nvSpPr>
        <p:spPr>
          <a:xfrm>
            <a:off x="10917192" y="4253098"/>
            <a:ext cx="31089" cy="31089"/>
          </a:xfrm>
          <a:prstGeom prst="ellipse">
            <a:avLst/>
          </a:prstGeom>
          <a:solidFill>
            <a:srgbClr val="133C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Oval 32"/>
          <p:cNvSpPr/>
          <p:nvPr/>
        </p:nvSpPr>
        <p:spPr>
          <a:xfrm>
            <a:off x="6236415" y="2223777"/>
            <a:ext cx="31089" cy="31089"/>
          </a:xfrm>
          <a:prstGeom prst="ellipse">
            <a:avLst/>
          </a:prstGeom>
          <a:solidFill>
            <a:srgbClr val="112D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Oval 33"/>
          <p:cNvSpPr/>
          <p:nvPr/>
        </p:nvSpPr>
        <p:spPr>
          <a:xfrm>
            <a:off x="10035286" y="6249230"/>
            <a:ext cx="31089" cy="31089"/>
          </a:xfrm>
          <a:prstGeom prst="ellipse">
            <a:avLst/>
          </a:prstGeom>
          <a:solidFill>
            <a:srgbClr val="112A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Oval 34"/>
          <p:cNvSpPr/>
          <p:nvPr/>
        </p:nvSpPr>
        <p:spPr>
          <a:xfrm>
            <a:off x="6340432" y="1707747"/>
            <a:ext cx="31089" cy="31089"/>
          </a:xfrm>
          <a:prstGeom prst="ellipse">
            <a:avLst/>
          </a:prstGeom>
          <a:solidFill>
            <a:srgbClr val="1027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Oval 35"/>
          <p:cNvSpPr/>
          <p:nvPr/>
        </p:nvSpPr>
        <p:spPr>
          <a:xfrm>
            <a:off x="11419983" y="2004987"/>
            <a:ext cx="31089" cy="31089"/>
          </a:xfrm>
          <a:prstGeom prst="ellipse">
            <a:avLst/>
          </a:prstGeom>
          <a:solidFill>
            <a:srgbClr val="1131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Oval 36"/>
          <p:cNvSpPr/>
          <p:nvPr/>
        </p:nvSpPr>
        <p:spPr>
          <a:xfrm>
            <a:off x="9894828" y="696387"/>
            <a:ext cx="31089" cy="31089"/>
          </a:xfrm>
          <a:prstGeom prst="ellipse">
            <a:avLst/>
          </a:prstGeom>
          <a:solidFill>
            <a:srgbClr val="133C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Oval 37"/>
          <p:cNvSpPr/>
          <p:nvPr/>
        </p:nvSpPr>
        <p:spPr>
          <a:xfrm>
            <a:off x="6202931" y="2502700"/>
            <a:ext cx="31089" cy="31089"/>
          </a:xfrm>
          <a:prstGeom prst="ellipse">
            <a:avLst/>
          </a:prstGeom>
          <a:solidFill>
            <a:srgbClr val="1026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Oval 38"/>
          <p:cNvSpPr/>
          <p:nvPr/>
        </p:nvSpPr>
        <p:spPr>
          <a:xfrm>
            <a:off x="11523853" y="2927327"/>
            <a:ext cx="31089" cy="31089"/>
          </a:xfrm>
          <a:prstGeom prst="ellipse">
            <a:avLst/>
          </a:prstGeom>
          <a:solidFill>
            <a:srgbClr val="10222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Oval 39"/>
          <p:cNvSpPr/>
          <p:nvPr/>
        </p:nvSpPr>
        <p:spPr>
          <a:xfrm>
            <a:off x="6678413" y="4798868"/>
            <a:ext cx="31089" cy="31089"/>
          </a:xfrm>
          <a:prstGeom prst="ellipse">
            <a:avLst/>
          </a:prstGeom>
          <a:solidFill>
            <a:srgbClr val="133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Oval 40"/>
          <p:cNvSpPr/>
          <p:nvPr/>
        </p:nvSpPr>
        <p:spPr>
          <a:xfrm>
            <a:off x="7556561" y="6054287"/>
            <a:ext cx="31089" cy="31089"/>
          </a:xfrm>
          <a:prstGeom prst="ellipse">
            <a:avLst/>
          </a:prstGeom>
          <a:solidFill>
            <a:srgbClr val="0F1E2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2" name="Oval 41"/>
          <p:cNvSpPr/>
          <p:nvPr/>
        </p:nvSpPr>
        <p:spPr>
          <a:xfrm>
            <a:off x="9299614" y="3618268"/>
            <a:ext cx="31089" cy="31089"/>
          </a:xfrm>
          <a:prstGeom prst="ellipse">
            <a:avLst/>
          </a:prstGeom>
          <a:solidFill>
            <a:srgbClr val="112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3" name="Oval 42"/>
          <p:cNvSpPr/>
          <p:nvPr/>
        </p:nvSpPr>
        <p:spPr>
          <a:xfrm>
            <a:off x="11160269" y="2221920"/>
            <a:ext cx="31089" cy="31089"/>
          </a:xfrm>
          <a:prstGeom prst="ellipse">
            <a:avLst/>
          </a:prstGeom>
          <a:solidFill>
            <a:srgbClr val="1027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Oval 43"/>
          <p:cNvSpPr/>
          <p:nvPr/>
        </p:nvSpPr>
        <p:spPr>
          <a:xfrm>
            <a:off x="9599225" y="4150455"/>
            <a:ext cx="31089" cy="31089"/>
          </a:xfrm>
          <a:prstGeom prst="ellipse">
            <a:avLst/>
          </a:prstGeom>
          <a:solidFill>
            <a:srgbClr val="112E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Oval 44"/>
          <p:cNvSpPr/>
          <p:nvPr/>
        </p:nvSpPr>
        <p:spPr>
          <a:xfrm>
            <a:off x="7467561" y="3477698"/>
            <a:ext cx="31089" cy="31089"/>
          </a:xfrm>
          <a:prstGeom prst="ellipse">
            <a:avLst/>
          </a:prstGeom>
          <a:solidFill>
            <a:srgbClr val="1026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Oval 45"/>
          <p:cNvSpPr/>
          <p:nvPr/>
        </p:nvSpPr>
        <p:spPr>
          <a:xfrm>
            <a:off x="7655390" y="3838234"/>
            <a:ext cx="31089" cy="31089"/>
          </a:xfrm>
          <a:prstGeom prst="ellipse">
            <a:avLst/>
          </a:prstGeom>
          <a:solidFill>
            <a:srgbClr val="133F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7" name="Oval 46"/>
          <p:cNvSpPr/>
          <p:nvPr/>
        </p:nvSpPr>
        <p:spPr>
          <a:xfrm>
            <a:off x="6679638" y="920852"/>
            <a:ext cx="31089" cy="31089"/>
          </a:xfrm>
          <a:prstGeom prst="ellipse">
            <a:avLst/>
          </a:prstGeom>
          <a:solidFill>
            <a:srgbClr val="10202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8" name="Oval 47"/>
          <p:cNvSpPr/>
          <p:nvPr/>
        </p:nvSpPr>
        <p:spPr>
          <a:xfrm>
            <a:off x="8788517" y="6279119"/>
            <a:ext cx="31089" cy="31089"/>
          </a:xfrm>
          <a:prstGeom prst="ellipse">
            <a:avLst/>
          </a:prstGeom>
          <a:solidFill>
            <a:srgbClr val="10202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9" name="Oval 48"/>
          <p:cNvSpPr/>
          <p:nvPr/>
        </p:nvSpPr>
        <p:spPr>
          <a:xfrm>
            <a:off x="7552602" y="2106585"/>
            <a:ext cx="31089" cy="31089"/>
          </a:xfrm>
          <a:prstGeom prst="ellipse">
            <a:avLst/>
          </a:prstGeom>
          <a:solidFill>
            <a:srgbClr val="1024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0" name="Oval 49"/>
          <p:cNvSpPr/>
          <p:nvPr/>
        </p:nvSpPr>
        <p:spPr>
          <a:xfrm>
            <a:off x="7492921" y="2171345"/>
            <a:ext cx="31089" cy="31089"/>
          </a:xfrm>
          <a:prstGeom prst="ellipse">
            <a:avLst/>
          </a:prstGeom>
          <a:solidFill>
            <a:srgbClr val="1233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Oval 50"/>
          <p:cNvSpPr/>
          <p:nvPr/>
        </p:nvSpPr>
        <p:spPr>
          <a:xfrm>
            <a:off x="10559624" y="1974953"/>
            <a:ext cx="31089" cy="31089"/>
          </a:xfrm>
          <a:prstGeom prst="ellipse">
            <a:avLst/>
          </a:prstGeom>
          <a:solidFill>
            <a:srgbClr val="112A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Oval 51"/>
          <p:cNvSpPr/>
          <p:nvPr/>
        </p:nvSpPr>
        <p:spPr>
          <a:xfrm>
            <a:off x="11829312" y="2131357"/>
            <a:ext cx="31089" cy="31089"/>
          </a:xfrm>
          <a:prstGeom prst="ellipse">
            <a:avLst/>
          </a:prstGeom>
          <a:solidFill>
            <a:srgbClr val="1343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3" name="Oval 52"/>
          <p:cNvSpPr/>
          <p:nvPr/>
        </p:nvSpPr>
        <p:spPr>
          <a:xfrm>
            <a:off x="6133644" y="2889358"/>
            <a:ext cx="31089" cy="31089"/>
          </a:xfrm>
          <a:prstGeom prst="ellipse">
            <a:avLst/>
          </a:prstGeom>
          <a:solidFill>
            <a:srgbClr val="1025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4" name="Oval 53"/>
          <p:cNvSpPr/>
          <p:nvPr/>
        </p:nvSpPr>
        <p:spPr>
          <a:xfrm>
            <a:off x="7847836" y="2396537"/>
            <a:ext cx="31089" cy="31089"/>
          </a:xfrm>
          <a:prstGeom prst="ellipse">
            <a:avLst/>
          </a:prstGeom>
          <a:solidFill>
            <a:srgbClr val="1024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5" name="Oval 54"/>
          <p:cNvSpPr/>
          <p:nvPr/>
        </p:nvSpPr>
        <p:spPr>
          <a:xfrm>
            <a:off x="11416384" y="677841"/>
            <a:ext cx="31089" cy="31089"/>
          </a:xfrm>
          <a:prstGeom prst="ellipse">
            <a:avLst/>
          </a:prstGeom>
          <a:solidFill>
            <a:srgbClr val="1445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6" name="Oval 55"/>
          <p:cNvSpPr/>
          <p:nvPr/>
        </p:nvSpPr>
        <p:spPr>
          <a:xfrm>
            <a:off x="11327143" y="2581884"/>
            <a:ext cx="31089" cy="31089"/>
          </a:xfrm>
          <a:prstGeom prst="ellipse">
            <a:avLst/>
          </a:prstGeom>
          <a:solidFill>
            <a:srgbClr val="1237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Oval 56"/>
          <p:cNvSpPr/>
          <p:nvPr/>
        </p:nvSpPr>
        <p:spPr>
          <a:xfrm>
            <a:off x="7064459" y="737453"/>
            <a:ext cx="31089" cy="31089"/>
          </a:xfrm>
          <a:prstGeom prst="ellipse">
            <a:avLst/>
          </a:prstGeom>
          <a:solidFill>
            <a:srgbClr val="1027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Oval 57"/>
          <p:cNvSpPr/>
          <p:nvPr/>
        </p:nvSpPr>
        <p:spPr>
          <a:xfrm>
            <a:off x="10906906" y="4056436"/>
            <a:ext cx="31089" cy="31089"/>
          </a:xfrm>
          <a:prstGeom prst="ellipse">
            <a:avLst/>
          </a:prstGeom>
          <a:solidFill>
            <a:srgbClr val="1024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9" name="Oval 58"/>
          <p:cNvSpPr/>
          <p:nvPr/>
        </p:nvSpPr>
        <p:spPr>
          <a:xfrm>
            <a:off x="7899479" y="4811064"/>
            <a:ext cx="31089" cy="31089"/>
          </a:xfrm>
          <a:prstGeom prst="ellipse">
            <a:avLst/>
          </a:prstGeom>
          <a:solidFill>
            <a:srgbClr val="10202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0" name="Oval 59"/>
          <p:cNvSpPr/>
          <p:nvPr/>
        </p:nvSpPr>
        <p:spPr>
          <a:xfrm>
            <a:off x="6154505" y="1923784"/>
            <a:ext cx="31089" cy="31089"/>
          </a:xfrm>
          <a:prstGeom prst="ellipse">
            <a:avLst/>
          </a:prstGeom>
          <a:solidFill>
            <a:srgbClr val="112A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1" name="Oval 60"/>
          <p:cNvSpPr/>
          <p:nvPr/>
        </p:nvSpPr>
        <p:spPr>
          <a:xfrm>
            <a:off x="6837113" y="1266214"/>
            <a:ext cx="31089" cy="31089"/>
          </a:xfrm>
          <a:prstGeom prst="ellipse">
            <a:avLst/>
          </a:prstGeom>
          <a:solidFill>
            <a:srgbClr val="123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2" name="Oval 61"/>
          <p:cNvSpPr/>
          <p:nvPr/>
        </p:nvSpPr>
        <p:spPr>
          <a:xfrm>
            <a:off x="8513782" y="5308958"/>
            <a:ext cx="31089" cy="31089"/>
          </a:xfrm>
          <a:prstGeom prst="ellipse">
            <a:avLst/>
          </a:prstGeom>
          <a:solidFill>
            <a:srgbClr val="133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Oval 62"/>
          <p:cNvSpPr/>
          <p:nvPr/>
        </p:nvSpPr>
        <p:spPr>
          <a:xfrm>
            <a:off x="8306621" y="1697065"/>
            <a:ext cx="31089" cy="31089"/>
          </a:xfrm>
          <a:prstGeom prst="ellipse">
            <a:avLst/>
          </a:prstGeom>
          <a:solidFill>
            <a:srgbClr val="1342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Oval 63"/>
          <p:cNvSpPr/>
          <p:nvPr/>
        </p:nvSpPr>
        <p:spPr>
          <a:xfrm>
            <a:off x="11214409" y="5387566"/>
            <a:ext cx="31089" cy="31089"/>
          </a:xfrm>
          <a:prstGeom prst="ellipse">
            <a:avLst/>
          </a:prstGeom>
          <a:solidFill>
            <a:srgbClr val="1026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5" name="Oval 64"/>
          <p:cNvSpPr/>
          <p:nvPr/>
        </p:nvSpPr>
        <p:spPr>
          <a:xfrm>
            <a:off x="7680084" y="4833285"/>
            <a:ext cx="31089" cy="31089"/>
          </a:xfrm>
          <a:prstGeom prst="ellipse">
            <a:avLst/>
          </a:prstGeom>
          <a:solidFill>
            <a:srgbClr val="133C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6" name="Oval 65"/>
          <p:cNvSpPr/>
          <p:nvPr/>
        </p:nvSpPr>
        <p:spPr>
          <a:xfrm>
            <a:off x="7435824" y="4809673"/>
            <a:ext cx="31089" cy="31089"/>
          </a:xfrm>
          <a:prstGeom prst="ellipse">
            <a:avLst/>
          </a:prstGeom>
          <a:solidFill>
            <a:srgbClr val="112A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7" name="Oval 66"/>
          <p:cNvSpPr/>
          <p:nvPr/>
        </p:nvSpPr>
        <p:spPr>
          <a:xfrm>
            <a:off x="8734115" y="1007518"/>
            <a:ext cx="31089" cy="31089"/>
          </a:xfrm>
          <a:prstGeom prst="ellipse">
            <a:avLst/>
          </a:prstGeom>
          <a:solidFill>
            <a:srgbClr val="112A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8" name="Oval 67"/>
          <p:cNvSpPr/>
          <p:nvPr/>
        </p:nvSpPr>
        <p:spPr>
          <a:xfrm>
            <a:off x="9845874" y="2180018"/>
            <a:ext cx="31089" cy="31089"/>
          </a:xfrm>
          <a:prstGeom prst="ellipse">
            <a:avLst/>
          </a:prstGeom>
          <a:solidFill>
            <a:srgbClr val="123A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9" name="Oval 68"/>
          <p:cNvSpPr/>
          <p:nvPr/>
        </p:nvSpPr>
        <p:spPr>
          <a:xfrm>
            <a:off x="8542016" y="5546199"/>
            <a:ext cx="31089" cy="31089"/>
          </a:xfrm>
          <a:prstGeom prst="ellipse">
            <a:avLst/>
          </a:prstGeom>
          <a:solidFill>
            <a:srgbClr val="1343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0" name="Oval 69"/>
          <p:cNvSpPr/>
          <p:nvPr/>
        </p:nvSpPr>
        <p:spPr>
          <a:xfrm>
            <a:off x="10367361" y="5113827"/>
            <a:ext cx="31089" cy="31089"/>
          </a:xfrm>
          <a:prstGeom prst="ellipse">
            <a:avLst/>
          </a:prstGeom>
          <a:solidFill>
            <a:srgbClr val="1237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1" name="Oval 70"/>
          <p:cNvSpPr/>
          <p:nvPr/>
        </p:nvSpPr>
        <p:spPr>
          <a:xfrm>
            <a:off x="7155915" y="3419708"/>
            <a:ext cx="31089" cy="31089"/>
          </a:xfrm>
          <a:prstGeom prst="ellipse">
            <a:avLst/>
          </a:prstGeom>
          <a:solidFill>
            <a:srgbClr val="123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2" name="Oval 71"/>
          <p:cNvSpPr/>
          <p:nvPr/>
        </p:nvSpPr>
        <p:spPr>
          <a:xfrm>
            <a:off x="8048391" y="1403233"/>
            <a:ext cx="31089" cy="31089"/>
          </a:xfrm>
          <a:prstGeom prst="ellipse">
            <a:avLst/>
          </a:prstGeom>
          <a:solidFill>
            <a:srgbClr val="1130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3" name="Oval 72"/>
          <p:cNvSpPr/>
          <p:nvPr/>
        </p:nvSpPr>
        <p:spPr>
          <a:xfrm>
            <a:off x="6093681" y="835752"/>
            <a:ext cx="31089" cy="31089"/>
          </a:xfrm>
          <a:prstGeom prst="ellipse">
            <a:avLst/>
          </a:prstGeom>
          <a:solidFill>
            <a:srgbClr val="1447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4" name="Oval 73"/>
          <p:cNvSpPr/>
          <p:nvPr/>
        </p:nvSpPr>
        <p:spPr>
          <a:xfrm>
            <a:off x="9319327" y="4770702"/>
            <a:ext cx="31089" cy="31089"/>
          </a:xfrm>
          <a:prstGeom prst="ellipse">
            <a:avLst/>
          </a:prstGeom>
          <a:solidFill>
            <a:srgbClr val="112D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5" name="Oval 74"/>
          <p:cNvSpPr/>
          <p:nvPr/>
        </p:nvSpPr>
        <p:spPr>
          <a:xfrm>
            <a:off x="6811148" y="5589060"/>
            <a:ext cx="31089" cy="31089"/>
          </a:xfrm>
          <a:prstGeom prst="ellipse">
            <a:avLst/>
          </a:prstGeom>
          <a:solidFill>
            <a:srgbClr val="10232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6" name="Oval 75"/>
          <p:cNvSpPr/>
          <p:nvPr/>
        </p:nvSpPr>
        <p:spPr>
          <a:xfrm>
            <a:off x="7945406" y="6218250"/>
            <a:ext cx="31089" cy="31089"/>
          </a:xfrm>
          <a:prstGeom prst="ellipse">
            <a:avLst/>
          </a:prstGeom>
          <a:solidFill>
            <a:srgbClr val="1235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7" name="Oval 76"/>
          <p:cNvSpPr/>
          <p:nvPr/>
        </p:nvSpPr>
        <p:spPr>
          <a:xfrm>
            <a:off x="11134556" y="4128512"/>
            <a:ext cx="31089" cy="31089"/>
          </a:xfrm>
          <a:prstGeom prst="ellipse">
            <a:avLst/>
          </a:prstGeom>
          <a:solidFill>
            <a:srgbClr val="112A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8" name="Oval 77"/>
          <p:cNvSpPr/>
          <p:nvPr/>
        </p:nvSpPr>
        <p:spPr>
          <a:xfrm>
            <a:off x="9411793" y="6105108"/>
            <a:ext cx="31089" cy="31089"/>
          </a:xfrm>
          <a:prstGeom prst="ellipse">
            <a:avLst/>
          </a:prstGeom>
          <a:solidFill>
            <a:srgbClr val="1234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9" name="Oval 78"/>
          <p:cNvSpPr/>
          <p:nvPr/>
        </p:nvSpPr>
        <p:spPr>
          <a:xfrm>
            <a:off x="6857028" y="1807154"/>
            <a:ext cx="31089" cy="31089"/>
          </a:xfrm>
          <a:prstGeom prst="ellipse">
            <a:avLst/>
          </a:prstGeom>
          <a:solidFill>
            <a:srgbClr val="1236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0" name="Oval 79"/>
          <p:cNvSpPr/>
          <p:nvPr/>
        </p:nvSpPr>
        <p:spPr>
          <a:xfrm>
            <a:off x="6171450" y="728308"/>
            <a:ext cx="31089" cy="31089"/>
          </a:xfrm>
          <a:prstGeom prst="ellipse">
            <a:avLst/>
          </a:prstGeom>
          <a:solidFill>
            <a:srgbClr val="10232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1" name="Oval 80"/>
          <p:cNvSpPr/>
          <p:nvPr/>
        </p:nvSpPr>
        <p:spPr>
          <a:xfrm>
            <a:off x="11495378" y="1076737"/>
            <a:ext cx="31089" cy="31089"/>
          </a:xfrm>
          <a:prstGeom prst="ellipse">
            <a:avLst/>
          </a:prstGeom>
          <a:solidFill>
            <a:srgbClr val="1342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2" name="Oval 81"/>
          <p:cNvSpPr/>
          <p:nvPr/>
        </p:nvSpPr>
        <p:spPr>
          <a:xfrm>
            <a:off x="8960157" y="1352787"/>
            <a:ext cx="31089" cy="31089"/>
          </a:xfrm>
          <a:prstGeom prst="ellipse">
            <a:avLst/>
          </a:prstGeom>
          <a:solidFill>
            <a:srgbClr val="134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3" name="Oval 82"/>
          <p:cNvSpPr/>
          <p:nvPr/>
        </p:nvSpPr>
        <p:spPr>
          <a:xfrm>
            <a:off x="10933815" y="916095"/>
            <a:ext cx="31089" cy="31089"/>
          </a:xfrm>
          <a:prstGeom prst="ellipse">
            <a:avLst/>
          </a:prstGeom>
          <a:solidFill>
            <a:srgbClr val="1232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4" name="Oval 83"/>
          <p:cNvSpPr/>
          <p:nvPr/>
        </p:nvSpPr>
        <p:spPr>
          <a:xfrm>
            <a:off x="6967359" y="2614080"/>
            <a:ext cx="31089" cy="31089"/>
          </a:xfrm>
          <a:prstGeom prst="ellipse">
            <a:avLst/>
          </a:prstGeom>
          <a:solidFill>
            <a:srgbClr val="1024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5" name="Oval 84"/>
          <p:cNvSpPr/>
          <p:nvPr/>
        </p:nvSpPr>
        <p:spPr>
          <a:xfrm>
            <a:off x="11638693" y="1167544"/>
            <a:ext cx="31089" cy="31089"/>
          </a:xfrm>
          <a:prstGeom prst="ellipse">
            <a:avLst/>
          </a:prstGeom>
          <a:solidFill>
            <a:srgbClr val="1447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6" name="Oval 85"/>
          <p:cNvSpPr/>
          <p:nvPr/>
        </p:nvSpPr>
        <p:spPr>
          <a:xfrm>
            <a:off x="7363903" y="903395"/>
            <a:ext cx="31089" cy="31089"/>
          </a:xfrm>
          <a:prstGeom prst="ellipse">
            <a:avLst/>
          </a:prstGeom>
          <a:solidFill>
            <a:srgbClr val="1447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7" name="Oval 86"/>
          <p:cNvSpPr/>
          <p:nvPr/>
        </p:nvSpPr>
        <p:spPr>
          <a:xfrm>
            <a:off x="9993531" y="469166"/>
            <a:ext cx="31089" cy="31089"/>
          </a:xfrm>
          <a:prstGeom prst="ellipse">
            <a:avLst/>
          </a:prstGeom>
          <a:solidFill>
            <a:srgbClr val="133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8" name="Oval 87"/>
          <p:cNvSpPr/>
          <p:nvPr/>
        </p:nvSpPr>
        <p:spPr>
          <a:xfrm>
            <a:off x="7078216" y="4810207"/>
            <a:ext cx="31089" cy="31089"/>
          </a:xfrm>
          <a:prstGeom prst="ellipse">
            <a:avLst/>
          </a:prstGeom>
          <a:solidFill>
            <a:srgbClr val="1132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9" name="Oval 88"/>
          <p:cNvSpPr/>
          <p:nvPr/>
        </p:nvSpPr>
        <p:spPr>
          <a:xfrm>
            <a:off x="8725555" y="2639978"/>
            <a:ext cx="31089" cy="31089"/>
          </a:xfrm>
          <a:prstGeom prst="ellipse">
            <a:avLst/>
          </a:prstGeom>
          <a:solidFill>
            <a:srgbClr val="133C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0" name="Oval 89"/>
          <p:cNvSpPr/>
          <p:nvPr/>
        </p:nvSpPr>
        <p:spPr>
          <a:xfrm>
            <a:off x="8293889" y="5053028"/>
            <a:ext cx="31089" cy="31089"/>
          </a:xfrm>
          <a:prstGeom prst="ellipse">
            <a:avLst/>
          </a:prstGeom>
          <a:solidFill>
            <a:srgbClr val="1028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1" name="Oval 90"/>
          <p:cNvSpPr/>
          <p:nvPr/>
        </p:nvSpPr>
        <p:spPr>
          <a:xfrm>
            <a:off x="11644308" y="4099900"/>
            <a:ext cx="31089" cy="31089"/>
          </a:xfrm>
          <a:prstGeom prst="ellipse">
            <a:avLst/>
          </a:prstGeom>
          <a:solidFill>
            <a:srgbClr val="133F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2" name="Oval 91"/>
          <p:cNvSpPr/>
          <p:nvPr/>
        </p:nvSpPr>
        <p:spPr>
          <a:xfrm>
            <a:off x="7618065" y="6291012"/>
            <a:ext cx="31089" cy="31089"/>
          </a:xfrm>
          <a:prstGeom prst="ellipse">
            <a:avLst/>
          </a:prstGeom>
          <a:solidFill>
            <a:srgbClr val="112E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3" name="Oval 92"/>
          <p:cNvSpPr/>
          <p:nvPr/>
        </p:nvSpPr>
        <p:spPr>
          <a:xfrm>
            <a:off x="11575992" y="4152403"/>
            <a:ext cx="31089" cy="31089"/>
          </a:xfrm>
          <a:prstGeom prst="ellipse">
            <a:avLst/>
          </a:prstGeom>
          <a:solidFill>
            <a:srgbClr val="10212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4" name="Oval 93"/>
          <p:cNvSpPr/>
          <p:nvPr/>
        </p:nvSpPr>
        <p:spPr>
          <a:xfrm>
            <a:off x="6476687" y="1399426"/>
            <a:ext cx="31089" cy="31089"/>
          </a:xfrm>
          <a:prstGeom prst="ellipse">
            <a:avLst/>
          </a:prstGeom>
          <a:solidFill>
            <a:srgbClr val="1132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5" name="Oval 94"/>
          <p:cNvSpPr/>
          <p:nvPr/>
        </p:nvSpPr>
        <p:spPr>
          <a:xfrm>
            <a:off x="6982461" y="5710053"/>
            <a:ext cx="31089" cy="31089"/>
          </a:xfrm>
          <a:prstGeom prst="ellipse">
            <a:avLst/>
          </a:prstGeom>
          <a:solidFill>
            <a:srgbClr val="1342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6" name="Oval 95"/>
          <p:cNvSpPr/>
          <p:nvPr/>
        </p:nvSpPr>
        <p:spPr>
          <a:xfrm>
            <a:off x="9996014" y="4266566"/>
            <a:ext cx="31089" cy="31089"/>
          </a:xfrm>
          <a:prstGeom prst="ellipse">
            <a:avLst/>
          </a:prstGeom>
          <a:solidFill>
            <a:srgbClr val="133F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7" name="Oval 96"/>
          <p:cNvSpPr/>
          <p:nvPr/>
        </p:nvSpPr>
        <p:spPr>
          <a:xfrm>
            <a:off x="9840211" y="3658463"/>
            <a:ext cx="31089" cy="31089"/>
          </a:xfrm>
          <a:prstGeom prst="ellipse">
            <a:avLst/>
          </a:prstGeom>
          <a:solidFill>
            <a:srgbClr val="112F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8" name="Oval 97"/>
          <p:cNvSpPr/>
          <p:nvPr/>
        </p:nvSpPr>
        <p:spPr>
          <a:xfrm>
            <a:off x="8782320" y="5684921"/>
            <a:ext cx="31089" cy="31089"/>
          </a:xfrm>
          <a:prstGeom prst="ellipse">
            <a:avLst/>
          </a:prstGeom>
          <a:solidFill>
            <a:srgbClr val="1028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9" name="Oval 98"/>
          <p:cNvSpPr/>
          <p:nvPr/>
        </p:nvSpPr>
        <p:spPr>
          <a:xfrm>
            <a:off x="6600164" y="1932708"/>
            <a:ext cx="31089" cy="31089"/>
          </a:xfrm>
          <a:prstGeom prst="ellipse">
            <a:avLst/>
          </a:prstGeom>
          <a:solidFill>
            <a:srgbClr val="1232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0" name="Oval 99"/>
          <p:cNvSpPr/>
          <p:nvPr/>
        </p:nvSpPr>
        <p:spPr>
          <a:xfrm>
            <a:off x="9462587" y="821453"/>
            <a:ext cx="31089" cy="31089"/>
          </a:xfrm>
          <a:prstGeom prst="ellipse">
            <a:avLst/>
          </a:prstGeom>
          <a:solidFill>
            <a:srgbClr val="112E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1" name="Oval 100"/>
          <p:cNvSpPr/>
          <p:nvPr/>
        </p:nvSpPr>
        <p:spPr>
          <a:xfrm>
            <a:off x="11695322" y="1530899"/>
            <a:ext cx="31089" cy="31089"/>
          </a:xfrm>
          <a:prstGeom prst="ellipse">
            <a:avLst/>
          </a:prstGeom>
          <a:solidFill>
            <a:srgbClr val="1235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2" name="Oval 101"/>
          <p:cNvSpPr/>
          <p:nvPr/>
        </p:nvSpPr>
        <p:spPr>
          <a:xfrm>
            <a:off x="6590731" y="1540503"/>
            <a:ext cx="31089" cy="31089"/>
          </a:xfrm>
          <a:prstGeom prst="ellipse">
            <a:avLst/>
          </a:prstGeom>
          <a:solidFill>
            <a:srgbClr val="133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3" name="Oval 102"/>
          <p:cNvSpPr/>
          <p:nvPr/>
        </p:nvSpPr>
        <p:spPr>
          <a:xfrm>
            <a:off x="7022834" y="5492822"/>
            <a:ext cx="31089" cy="31089"/>
          </a:xfrm>
          <a:prstGeom prst="ellipse">
            <a:avLst/>
          </a:prstGeom>
          <a:solidFill>
            <a:srgbClr val="123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4" name="Oval 103"/>
          <p:cNvSpPr/>
          <p:nvPr/>
        </p:nvSpPr>
        <p:spPr>
          <a:xfrm>
            <a:off x="8750546" y="447578"/>
            <a:ext cx="31089" cy="31089"/>
          </a:xfrm>
          <a:prstGeom prst="ellipse">
            <a:avLst/>
          </a:prstGeom>
          <a:solidFill>
            <a:srgbClr val="1342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5" name="Oval 104"/>
          <p:cNvSpPr/>
          <p:nvPr/>
        </p:nvSpPr>
        <p:spPr>
          <a:xfrm>
            <a:off x="9835793" y="3529813"/>
            <a:ext cx="31089" cy="31089"/>
          </a:xfrm>
          <a:prstGeom prst="ellipse">
            <a:avLst/>
          </a:prstGeom>
          <a:solidFill>
            <a:srgbClr val="1131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6" name="Oval 105"/>
          <p:cNvSpPr/>
          <p:nvPr/>
        </p:nvSpPr>
        <p:spPr>
          <a:xfrm>
            <a:off x="9579317" y="5236400"/>
            <a:ext cx="31089" cy="31089"/>
          </a:xfrm>
          <a:prstGeom prst="ellipse">
            <a:avLst/>
          </a:prstGeom>
          <a:solidFill>
            <a:srgbClr val="1238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7" name="Oval 106"/>
          <p:cNvSpPr/>
          <p:nvPr/>
        </p:nvSpPr>
        <p:spPr>
          <a:xfrm>
            <a:off x="7376895" y="4518333"/>
            <a:ext cx="31089" cy="31089"/>
          </a:xfrm>
          <a:prstGeom prst="ellipse">
            <a:avLst/>
          </a:prstGeom>
          <a:solidFill>
            <a:srgbClr val="0F202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8" name="Oval 107"/>
          <p:cNvSpPr/>
          <p:nvPr/>
        </p:nvSpPr>
        <p:spPr>
          <a:xfrm>
            <a:off x="11876625" y="2491510"/>
            <a:ext cx="31089" cy="31089"/>
          </a:xfrm>
          <a:prstGeom prst="ellipse">
            <a:avLst/>
          </a:prstGeom>
          <a:solidFill>
            <a:srgbClr val="1239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9" name="Oval 108"/>
          <p:cNvSpPr/>
          <p:nvPr/>
        </p:nvSpPr>
        <p:spPr>
          <a:xfrm>
            <a:off x="11903200" y="3895763"/>
            <a:ext cx="31089" cy="31089"/>
          </a:xfrm>
          <a:prstGeom prst="ellipse">
            <a:avLst/>
          </a:prstGeom>
          <a:solidFill>
            <a:srgbClr val="123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0" name="Oval 109"/>
          <p:cNvSpPr/>
          <p:nvPr/>
        </p:nvSpPr>
        <p:spPr>
          <a:xfrm>
            <a:off x="10358078" y="615900"/>
            <a:ext cx="31089" cy="31089"/>
          </a:xfrm>
          <a:prstGeom prst="ellipse">
            <a:avLst/>
          </a:prstGeom>
          <a:solidFill>
            <a:srgbClr val="112D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1" name="Oval 110"/>
          <p:cNvSpPr/>
          <p:nvPr/>
        </p:nvSpPr>
        <p:spPr>
          <a:xfrm>
            <a:off x="8865209" y="5839089"/>
            <a:ext cx="31089" cy="31089"/>
          </a:xfrm>
          <a:prstGeom prst="ellipse">
            <a:avLst/>
          </a:prstGeom>
          <a:solidFill>
            <a:srgbClr val="112D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2" name="Oval 111"/>
          <p:cNvSpPr/>
          <p:nvPr/>
        </p:nvSpPr>
        <p:spPr>
          <a:xfrm>
            <a:off x="8691220" y="1726601"/>
            <a:ext cx="31089" cy="31089"/>
          </a:xfrm>
          <a:prstGeom prst="ellipse">
            <a:avLst/>
          </a:prstGeom>
          <a:solidFill>
            <a:srgbClr val="1447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3" name="Oval 112"/>
          <p:cNvSpPr/>
          <p:nvPr/>
        </p:nvSpPr>
        <p:spPr>
          <a:xfrm>
            <a:off x="7010668" y="5429095"/>
            <a:ext cx="31089" cy="31089"/>
          </a:xfrm>
          <a:prstGeom prst="ellipse">
            <a:avLst/>
          </a:prstGeom>
          <a:solidFill>
            <a:srgbClr val="112E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4" name="Rectangle 113"/>
          <p:cNvSpPr/>
          <p:nvPr/>
        </p:nvSpPr>
        <p:spPr>
          <a:xfrm>
            <a:off x="0" y="0"/>
            <a:ext cx="12191695" cy="6858000"/>
          </a:xfrm>
          <a:prstGeom prst="rect">
            <a:avLst/>
          </a:prstGeom>
          <a:gradFill rotWithShape="1">
            <a:gsLst>
              <a:gs pos="0">
                <a:srgbClr val="0B1120">
                  <a:alpha val="98000"/>
                </a:srgbClr>
              </a:gs>
              <a:gs pos="55000">
                <a:srgbClr val="0B1120">
                  <a:alpha val="86000"/>
                </a:srgbClr>
              </a:gs>
              <a:gs pos="100000">
                <a:srgbClr val="0B1120">
                  <a:alpha val="55000"/>
                </a:srgbClr>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5" name="Rectangle 114"/>
          <p:cNvSpPr/>
          <p:nvPr/>
        </p:nvSpPr>
        <p:spPr>
          <a:xfrm>
            <a:off x="0" y="0"/>
            <a:ext cx="2031796" cy="105156"/>
          </a:xfrm>
          <a:prstGeom prst="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6" name="Rectangle 115"/>
          <p:cNvSpPr/>
          <p:nvPr/>
        </p:nvSpPr>
        <p:spPr>
          <a:xfrm>
            <a:off x="2031796" y="0"/>
            <a:ext cx="2031796" cy="105156"/>
          </a:xfrm>
          <a:prstGeom prst="rect">
            <a:avLst/>
          </a:prstGeom>
          <a:solidFill>
            <a:srgbClr val="1EA6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7" name="Rectangle 116"/>
          <p:cNvSpPr/>
          <p:nvPr/>
        </p:nvSpPr>
        <p:spPr>
          <a:xfrm>
            <a:off x="4063593" y="0"/>
            <a:ext cx="2031796" cy="105156"/>
          </a:xfrm>
          <a:prstGeom prst="rect">
            <a:avLst/>
          </a:prstGeom>
          <a:solidFill>
            <a:srgbClr val="1A874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8" name="Rectangle 117"/>
          <p:cNvSpPr/>
          <p:nvPr/>
        </p:nvSpPr>
        <p:spPr>
          <a:xfrm>
            <a:off x="6095390" y="0"/>
            <a:ext cx="2031796" cy="105156"/>
          </a:xfrm>
          <a:prstGeom prst="rect">
            <a:avLst/>
          </a:prstGeom>
          <a:solidFill>
            <a:srgbClr val="1668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9" name="Rectangle 118"/>
          <p:cNvSpPr/>
          <p:nvPr/>
        </p:nvSpPr>
        <p:spPr>
          <a:xfrm>
            <a:off x="8127187" y="0"/>
            <a:ext cx="2031796" cy="105156"/>
          </a:xfrm>
          <a:prstGeom prst="rect">
            <a:avLst/>
          </a:prstGeom>
          <a:solidFill>
            <a:srgbClr val="1249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0" name="Rectangle 119"/>
          <p:cNvSpPr/>
          <p:nvPr/>
        </p:nvSpPr>
        <p:spPr>
          <a:xfrm>
            <a:off x="10158984" y="0"/>
            <a:ext cx="2031796" cy="105156"/>
          </a:xfrm>
          <a:prstGeom prst="rect">
            <a:avLst/>
          </a:prstGeom>
          <a:solidFill>
            <a:srgbClr val="0E2A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1" name="TextBox 120"/>
          <p:cNvSpPr txBox="1"/>
          <p:nvPr/>
        </p:nvSpPr>
        <p:spPr>
          <a:xfrm>
            <a:off x="594360" y="548640"/>
            <a:ext cx="8229600" cy="219456"/>
          </a:xfrm>
          <a:prstGeom prst="rect">
            <a:avLst/>
          </a:prstGeom>
          <a:noFill/>
        </p:spPr>
        <p:txBody>
          <a:bodyPr wrap="square" lIns="0" rIns="0" tIns="0" bIns="0" anchor="t">
            <a:spAutoFit/>
          </a:bodyPr>
          <a:lstStyle/>
          <a:p>
            <a:pPr algn="l"/>
            <a:r>
              <a:rPr sz="850" b="1" i="0" spc="160">
                <a:solidFill>
                  <a:srgbClr val="64748B"/>
                </a:solidFill>
                <a:latin typeface="Aptos"/>
              </a:rPr>
              <a:t>POCKETRAG  /  ON-DEVICE RETRIEVAL VAULT  /  ANDROID + DESKTOP</a:t>
            </a:r>
          </a:p>
        </p:txBody>
      </p:sp>
      <p:sp>
        <p:nvSpPr>
          <p:cNvPr id="122" name="TextBox 121"/>
          <p:cNvSpPr txBox="1"/>
          <p:nvPr/>
        </p:nvSpPr>
        <p:spPr>
          <a:xfrm>
            <a:off x="594360" y="896112"/>
            <a:ext cx="8229600" cy="868680"/>
          </a:xfrm>
          <a:prstGeom prst="rect">
            <a:avLst/>
          </a:prstGeom>
          <a:noFill/>
        </p:spPr>
        <p:txBody>
          <a:bodyPr wrap="square" lIns="0" rIns="0" tIns="0" bIns="0" anchor="t">
            <a:spAutoFit/>
          </a:bodyPr>
          <a:lstStyle/>
          <a:p>
            <a:pPr algn="l">
              <a:lnSpc>
                <a:spcPct val="96000"/>
              </a:lnSpc>
            </a:pPr>
            <a:r>
              <a:rPr sz="5800" b="0" i="0">
                <a:solidFill>
                  <a:srgbClr val="FFFFFF"/>
                </a:solidFill>
                <a:latin typeface="Aptos Display"/>
              </a:rPr>
              <a:t>VAULT</a:t>
            </a:r>
          </a:p>
        </p:txBody>
      </p:sp>
      <p:sp>
        <p:nvSpPr>
          <p:cNvPr id="123" name="TextBox 122"/>
          <p:cNvSpPr txBox="1"/>
          <p:nvPr/>
        </p:nvSpPr>
        <p:spPr>
          <a:xfrm>
            <a:off x="594360" y="1755648"/>
            <a:ext cx="6766560" cy="310896"/>
          </a:xfrm>
          <a:prstGeom prst="rect">
            <a:avLst/>
          </a:prstGeom>
          <a:noFill/>
        </p:spPr>
        <p:txBody>
          <a:bodyPr wrap="square" lIns="0" rIns="0" tIns="0" bIns="0" anchor="t">
            <a:spAutoFit/>
          </a:bodyPr>
          <a:lstStyle/>
          <a:p>
            <a:pPr algn="l">
              <a:lnSpc>
                <a:spcPct val="115000"/>
              </a:lnSpc>
            </a:pPr>
            <a:r>
              <a:rPr sz="1300" b="0" i="0">
                <a:solidFill>
                  <a:srgbClr val="22C55E"/>
                </a:solidFill>
                <a:latin typeface="Aptos"/>
              </a:rPr>
              <a:t>Your documents never leave your phone. Only the evidence for the answer does.</a:t>
            </a:r>
          </a:p>
        </p:txBody>
      </p:sp>
      <p:sp>
        <p:nvSpPr>
          <p:cNvPr id="124" name="Rounded Rectangle 123"/>
          <p:cNvSpPr/>
          <p:nvPr/>
        </p:nvSpPr>
        <p:spPr>
          <a:xfrm>
            <a:off x="594360" y="2231136"/>
            <a:ext cx="5760720" cy="1389888"/>
          </a:xfrm>
          <a:prstGeom prst="roundRect">
            <a:avLst>
              <a:gd name="adj" fmla="val 3947"/>
            </a:avLst>
          </a:prstGeom>
          <a:solidFill>
            <a:srgbClr val="10192E">
              <a:alpha val="88000"/>
            </a:srgbClr>
          </a:solidFill>
          <a:ln w="889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5" name="TextBox 124"/>
          <p:cNvSpPr txBox="1"/>
          <p:nvPr/>
        </p:nvSpPr>
        <p:spPr>
          <a:xfrm>
            <a:off x="832104" y="2395728"/>
            <a:ext cx="5303520" cy="182880"/>
          </a:xfrm>
          <a:prstGeom prst="rect">
            <a:avLst/>
          </a:prstGeom>
          <a:noFill/>
        </p:spPr>
        <p:txBody>
          <a:bodyPr wrap="square" lIns="0" rIns="0" tIns="0" bIns="0" anchor="t">
            <a:spAutoFit/>
          </a:bodyPr>
          <a:lstStyle/>
          <a:p>
            <a:pPr algn="l"/>
            <a:r>
              <a:rPr sz="750" b="1" i="0" spc="130">
                <a:solidFill>
                  <a:srgbClr val="64748B"/>
                </a:solidFill>
                <a:latin typeface="Aptos"/>
              </a:rPr>
              <a:t>THE PROBLEM</a:t>
            </a:r>
          </a:p>
        </p:txBody>
      </p:sp>
      <p:sp>
        <p:nvSpPr>
          <p:cNvPr id="126" name="TextBox 125"/>
          <p:cNvSpPr txBox="1"/>
          <p:nvPr/>
        </p:nvSpPr>
        <p:spPr>
          <a:xfrm>
            <a:off x="832104" y="2615184"/>
            <a:ext cx="5303520" cy="914400"/>
          </a:xfrm>
          <a:prstGeom prst="rect">
            <a:avLst/>
          </a:prstGeom>
          <a:noFill/>
        </p:spPr>
        <p:txBody>
          <a:bodyPr wrap="square" lIns="0" rIns="0" tIns="0" bIns="0" anchor="t">
            <a:spAutoFit/>
          </a:bodyPr>
          <a:lstStyle/>
          <a:p>
            <a:pPr algn="l">
              <a:lnSpc>
                <a:spcPct val="130000"/>
              </a:lnSpc>
            </a:pPr>
            <a:r>
              <a:rPr sz="980" b="0" i="0">
                <a:solidFill>
                  <a:srgbClr val="FFFFFF"/>
                </a:solidFill>
                <a:latin typeface="Aptos"/>
              </a:rPr>
              <a:t>To use AI on your own documents you are asked to upload them - contracts, medical records, source code, unpublished research. Encryption in transit does not help: the server must read the plaintext to embed it.</a:t>
            </a:r>
          </a:p>
        </p:txBody>
      </p:sp>
      <p:sp>
        <p:nvSpPr>
          <p:cNvPr id="127" name="Rounded Rectangle 126"/>
          <p:cNvSpPr/>
          <p:nvPr/>
        </p:nvSpPr>
        <p:spPr>
          <a:xfrm>
            <a:off x="594360" y="3749039"/>
            <a:ext cx="5760720" cy="1280160"/>
          </a:xfrm>
          <a:prstGeom prst="roundRect">
            <a:avLst>
              <a:gd name="adj" fmla="val 4285"/>
            </a:avLst>
          </a:prstGeom>
          <a:solidFill>
            <a:srgbClr val="10192E">
              <a:alpha val="90000"/>
            </a:srgbClr>
          </a:solidFill>
          <a:ln w="10160">
            <a:solidFill>
              <a:srgbClr val="154E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8" name="TextBox 127"/>
          <p:cNvSpPr txBox="1"/>
          <p:nvPr/>
        </p:nvSpPr>
        <p:spPr>
          <a:xfrm>
            <a:off x="832104" y="3913632"/>
            <a:ext cx="5303520" cy="182880"/>
          </a:xfrm>
          <a:prstGeom prst="rect">
            <a:avLst/>
          </a:prstGeom>
          <a:noFill/>
        </p:spPr>
        <p:txBody>
          <a:bodyPr wrap="square" lIns="0" rIns="0" tIns="0" bIns="0" anchor="t">
            <a:spAutoFit/>
          </a:bodyPr>
          <a:lstStyle/>
          <a:p>
            <a:pPr algn="l"/>
            <a:r>
              <a:rPr sz="750" b="1" i="0" spc="130">
                <a:solidFill>
                  <a:srgbClr val="22C55E"/>
                </a:solidFill>
                <a:latin typeface="Aptos"/>
              </a:rPr>
              <a:t>THE MOVE</a:t>
            </a:r>
          </a:p>
        </p:txBody>
      </p:sp>
      <p:sp>
        <p:nvSpPr>
          <p:cNvPr id="129" name="TextBox 128"/>
          <p:cNvSpPr txBox="1"/>
          <p:nvPr/>
        </p:nvSpPr>
        <p:spPr>
          <a:xfrm>
            <a:off x="832104" y="4133087"/>
            <a:ext cx="5303520" cy="822960"/>
          </a:xfrm>
          <a:prstGeom prst="rect">
            <a:avLst/>
          </a:prstGeom>
          <a:noFill/>
        </p:spPr>
        <p:txBody>
          <a:bodyPr wrap="square" lIns="0" rIns="0" tIns="0" bIns="0" anchor="t">
            <a:spAutoFit/>
          </a:bodyPr>
          <a:lstStyle/>
          <a:p>
            <a:pPr algn="l">
              <a:lnSpc>
                <a:spcPct val="130000"/>
              </a:lnSpc>
            </a:pPr>
            <a:r>
              <a:rPr sz="980" b="0" i="0">
                <a:solidFill>
                  <a:srgbClr val="FFFFFF"/>
                </a:solidFill>
                <a:latin typeface="Aptos"/>
              </a:rPr>
              <a:t>Invert the topology. The phone becomes the trusted core holding the corpus, the index and the encoder. The workstation becomes the edge, and only ever sees retrieved passages.</a:t>
            </a:r>
          </a:p>
        </p:txBody>
      </p:sp>
      <p:sp>
        <p:nvSpPr>
          <p:cNvPr id="130" name="TextBox 129"/>
          <p:cNvSpPr txBox="1"/>
          <p:nvPr/>
        </p:nvSpPr>
        <p:spPr>
          <a:xfrm>
            <a:off x="594360" y="5230368"/>
            <a:ext cx="1417320" cy="420624"/>
          </a:xfrm>
          <a:prstGeom prst="rect">
            <a:avLst/>
          </a:prstGeom>
          <a:noFill/>
        </p:spPr>
        <p:txBody>
          <a:bodyPr wrap="square" lIns="0" rIns="0" tIns="0" bIns="0" anchor="t">
            <a:spAutoFit/>
          </a:bodyPr>
          <a:lstStyle/>
          <a:p>
            <a:pPr algn="l"/>
            <a:r>
              <a:rPr sz="2500" b="0" i="0">
                <a:solidFill>
                  <a:srgbClr val="FFFFFF"/>
                </a:solidFill>
                <a:latin typeface="Aptos Display"/>
              </a:rPr>
              <a:t>1 GB</a:t>
            </a:r>
          </a:p>
        </p:txBody>
      </p:sp>
      <p:sp>
        <p:nvSpPr>
          <p:cNvPr id="131" name="TextBox 130"/>
          <p:cNvSpPr txBox="1"/>
          <p:nvPr/>
        </p:nvSpPr>
        <p:spPr>
          <a:xfrm>
            <a:off x="594360" y="5650992"/>
            <a:ext cx="1417320" cy="329184"/>
          </a:xfrm>
          <a:prstGeom prst="rect">
            <a:avLst/>
          </a:prstGeom>
          <a:noFill/>
        </p:spPr>
        <p:txBody>
          <a:bodyPr wrap="square" lIns="0" rIns="0" tIns="0" bIns="0" anchor="t">
            <a:spAutoFit/>
          </a:bodyPr>
          <a:lstStyle/>
          <a:p>
            <a:pPr algn="l"/>
            <a:r>
              <a:rPr sz="700" b="1" i="0" spc="90">
                <a:solidFill>
                  <a:srgbClr val="64748B"/>
                </a:solidFill>
                <a:latin typeface="Aptos"/>
              </a:rPr>
              <a:t>CORPUS THAT STAYS PUT</a:t>
            </a:r>
          </a:p>
        </p:txBody>
      </p:sp>
      <p:sp>
        <p:nvSpPr>
          <p:cNvPr id="132" name="TextBox 131"/>
          <p:cNvSpPr txBox="1"/>
          <p:nvPr/>
        </p:nvSpPr>
        <p:spPr>
          <a:xfrm>
            <a:off x="2075688" y="5230368"/>
            <a:ext cx="1417320" cy="420624"/>
          </a:xfrm>
          <a:prstGeom prst="rect">
            <a:avLst/>
          </a:prstGeom>
          <a:noFill/>
        </p:spPr>
        <p:txBody>
          <a:bodyPr wrap="square" lIns="0" rIns="0" tIns="0" bIns="0" anchor="t">
            <a:spAutoFit/>
          </a:bodyPr>
          <a:lstStyle/>
          <a:p>
            <a:pPr algn="l"/>
            <a:r>
              <a:rPr sz="2500" b="0" i="0">
                <a:solidFill>
                  <a:srgbClr val="22C55E"/>
                </a:solidFill>
                <a:latin typeface="Aptos Display"/>
              </a:rPr>
              <a:t>~800</a:t>
            </a:r>
          </a:p>
        </p:txBody>
      </p:sp>
      <p:sp>
        <p:nvSpPr>
          <p:cNvPr id="133" name="TextBox 132"/>
          <p:cNvSpPr txBox="1"/>
          <p:nvPr/>
        </p:nvSpPr>
        <p:spPr>
          <a:xfrm>
            <a:off x="2075688" y="5650992"/>
            <a:ext cx="1417320" cy="329184"/>
          </a:xfrm>
          <a:prstGeom prst="rect">
            <a:avLst/>
          </a:prstGeom>
          <a:noFill/>
        </p:spPr>
        <p:txBody>
          <a:bodyPr wrap="square" lIns="0" rIns="0" tIns="0" bIns="0" anchor="t">
            <a:spAutoFit/>
          </a:bodyPr>
          <a:lstStyle/>
          <a:p>
            <a:pPr algn="l"/>
            <a:r>
              <a:rPr sz="700" b="1" i="0" spc="90">
                <a:solidFill>
                  <a:srgbClr val="64748B"/>
                </a:solidFill>
                <a:latin typeface="Aptos"/>
              </a:rPr>
              <a:t>TOKENS THAT MOVE</a:t>
            </a:r>
          </a:p>
        </p:txBody>
      </p:sp>
      <p:sp>
        <p:nvSpPr>
          <p:cNvPr id="134" name="TextBox 133"/>
          <p:cNvSpPr txBox="1"/>
          <p:nvPr/>
        </p:nvSpPr>
        <p:spPr>
          <a:xfrm>
            <a:off x="3557016" y="5230368"/>
            <a:ext cx="1417320" cy="420624"/>
          </a:xfrm>
          <a:prstGeom prst="rect">
            <a:avLst/>
          </a:prstGeom>
          <a:noFill/>
        </p:spPr>
        <p:txBody>
          <a:bodyPr wrap="square" lIns="0" rIns="0" tIns="0" bIns="0" anchor="t">
            <a:spAutoFit/>
          </a:bodyPr>
          <a:lstStyle/>
          <a:p>
            <a:pPr algn="l"/>
            <a:r>
              <a:rPr sz="2500" b="0" i="0">
                <a:solidFill>
                  <a:srgbClr val="22C55E"/>
                </a:solidFill>
                <a:latin typeface="Aptos Display"/>
              </a:rPr>
              <a:t>0</a:t>
            </a:r>
          </a:p>
        </p:txBody>
      </p:sp>
      <p:sp>
        <p:nvSpPr>
          <p:cNvPr id="135" name="TextBox 134"/>
          <p:cNvSpPr txBox="1"/>
          <p:nvPr/>
        </p:nvSpPr>
        <p:spPr>
          <a:xfrm>
            <a:off x="3557016" y="5650992"/>
            <a:ext cx="1417320" cy="329184"/>
          </a:xfrm>
          <a:prstGeom prst="rect">
            <a:avLst/>
          </a:prstGeom>
          <a:noFill/>
        </p:spPr>
        <p:txBody>
          <a:bodyPr wrap="square" lIns="0" rIns="0" tIns="0" bIns="0" anchor="t">
            <a:spAutoFit/>
          </a:bodyPr>
          <a:lstStyle/>
          <a:p>
            <a:pPr algn="l"/>
            <a:r>
              <a:rPr sz="700" b="1" i="0" spc="90">
                <a:solidFill>
                  <a:srgbClr val="64748B"/>
                </a:solidFill>
                <a:latin typeface="Aptos"/>
              </a:rPr>
              <a:t>NETWORK PERMISSIONS</a:t>
            </a:r>
          </a:p>
        </p:txBody>
      </p:sp>
      <p:sp>
        <p:nvSpPr>
          <p:cNvPr id="136" name="TextBox 135"/>
          <p:cNvSpPr txBox="1"/>
          <p:nvPr/>
        </p:nvSpPr>
        <p:spPr>
          <a:xfrm>
            <a:off x="5038344" y="5230368"/>
            <a:ext cx="1417320" cy="420624"/>
          </a:xfrm>
          <a:prstGeom prst="rect">
            <a:avLst/>
          </a:prstGeom>
          <a:noFill/>
        </p:spPr>
        <p:txBody>
          <a:bodyPr wrap="square" lIns="0" rIns="0" tIns="0" bIns="0" anchor="t">
            <a:spAutoFit/>
          </a:bodyPr>
          <a:lstStyle/>
          <a:p>
            <a:pPr algn="l"/>
            <a:r>
              <a:rPr sz="2500" b="0" i="0">
                <a:solidFill>
                  <a:srgbClr val="FFFFFF"/>
                </a:solidFill>
                <a:latin typeface="Aptos Display"/>
              </a:rPr>
              <a:t>0</a:t>
            </a:r>
          </a:p>
        </p:txBody>
      </p:sp>
      <p:sp>
        <p:nvSpPr>
          <p:cNvPr id="137" name="TextBox 136"/>
          <p:cNvSpPr txBox="1"/>
          <p:nvPr/>
        </p:nvSpPr>
        <p:spPr>
          <a:xfrm>
            <a:off x="5038344" y="5650992"/>
            <a:ext cx="1417320" cy="329184"/>
          </a:xfrm>
          <a:prstGeom prst="rect">
            <a:avLst/>
          </a:prstGeom>
          <a:noFill/>
        </p:spPr>
        <p:txBody>
          <a:bodyPr wrap="square" lIns="0" rIns="0" tIns="0" bIns="0" anchor="t">
            <a:spAutoFit/>
          </a:bodyPr>
          <a:lstStyle/>
          <a:p>
            <a:pPr algn="l"/>
            <a:r>
              <a:rPr sz="700" b="1" i="0" spc="90">
                <a:solidFill>
                  <a:srgbClr val="64748B"/>
                </a:solidFill>
                <a:latin typeface="Aptos"/>
              </a:rPr>
              <a:t>PER-TOKEN COST</a:t>
            </a:r>
          </a:p>
        </p:txBody>
      </p:sp>
      <p:sp>
        <p:nvSpPr>
          <p:cNvPr id="138" name="TextBox 137"/>
          <p:cNvSpPr txBox="1"/>
          <p:nvPr/>
        </p:nvSpPr>
        <p:spPr>
          <a:xfrm>
            <a:off x="6766560" y="2395728"/>
            <a:ext cx="4828032" cy="201168"/>
          </a:xfrm>
          <a:prstGeom prst="rect">
            <a:avLst/>
          </a:prstGeom>
          <a:noFill/>
        </p:spPr>
        <p:txBody>
          <a:bodyPr wrap="square" lIns="0" rIns="0" tIns="0" bIns="0" anchor="t">
            <a:spAutoFit/>
          </a:bodyPr>
          <a:lstStyle/>
          <a:p>
            <a:pPr algn="l"/>
            <a:r>
              <a:rPr sz="800" b="1" i="0" spc="140">
                <a:solidFill>
                  <a:srgbClr val="22C55E"/>
                </a:solidFill>
                <a:latin typeface="Aptos"/>
              </a:rPr>
              <a:t>WHAT STAYS ON THE PHONE</a:t>
            </a:r>
          </a:p>
        </p:txBody>
      </p:sp>
      <p:sp>
        <p:nvSpPr>
          <p:cNvPr id="139" name="Rounded Rectangle 138"/>
          <p:cNvSpPr/>
          <p:nvPr/>
        </p:nvSpPr>
        <p:spPr>
          <a:xfrm>
            <a:off x="6766560" y="2670048"/>
            <a:ext cx="4828032" cy="1225296"/>
          </a:xfrm>
          <a:prstGeom prst="roundRect">
            <a:avLst>
              <a:gd name="adj" fmla="val 4477"/>
            </a:avLst>
          </a:prstGeom>
          <a:solidFill>
            <a:srgbClr val="0D2326"/>
          </a:solidFill>
          <a:ln w="11430">
            <a:solidFill>
              <a:srgbClr val="13553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40" name="TextBox 139"/>
          <p:cNvSpPr txBox="1"/>
          <p:nvPr/>
        </p:nvSpPr>
        <p:spPr>
          <a:xfrm>
            <a:off x="7040880" y="2871216"/>
            <a:ext cx="2743200" cy="475488"/>
          </a:xfrm>
          <a:prstGeom prst="rect">
            <a:avLst/>
          </a:prstGeom>
          <a:noFill/>
        </p:spPr>
        <p:txBody>
          <a:bodyPr wrap="square" lIns="0" rIns="0" tIns="0" bIns="0" anchor="t">
            <a:spAutoFit/>
          </a:bodyPr>
          <a:lstStyle/>
          <a:p>
            <a:pPr algn="l"/>
            <a:r>
              <a:rPr sz="3000" b="0" i="0">
                <a:solidFill>
                  <a:srgbClr val="FFFFFF"/>
                </a:solidFill>
                <a:latin typeface="Aptos Display"/>
              </a:rPr>
              <a:t>1,000 MB</a:t>
            </a:r>
          </a:p>
        </p:txBody>
      </p:sp>
      <p:sp>
        <p:nvSpPr>
          <p:cNvPr id="141" name="TextBox 140"/>
          <p:cNvSpPr txBox="1"/>
          <p:nvPr/>
        </p:nvSpPr>
        <p:spPr>
          <a:xfrm>
            <a:off x="7040880" y="3419856"/>
            <a:ext cx="4279392" cy="329184"/>
          </a:xfrm>
          <a:prstGeom prst="rect">
            <a:avLst/>
          </a:prstGeom>
          <a:noFill/>
        </p:spPr>
        <p:txBody>
          <a:bodyPr wrap="square" lIns="0" rIns="0" tIns="0" bIns="0" anchor="t">
            <a:spAutoFit/>
          </a:bodyPr>
          <a:lstStyle/>
          <a:p>
            <a:pPr algn="l">
              <a:lnSpc>
                <a:spcPct val="124000"/>
              </a:lnSpc>
            </a:pPr>
            <a:r>
              <a:rPr sz="860" b="0" i="0">
                <a:solidFill>
                  <a:srgbClr val="94A3B8"/>
                </a:solidFill>
                <a:latin typeface="Aptos"/>
              </a:rPr>
              <a:t>the corpus, the index, every embedding, and the encoder itself</a:t>
            </a:r>
          </a:p>
        </p:txBody>
      </p:sp>
      <p:sp>
        <p:nvSpPr>
          <p:cNvPr id="142" name="TextBox 141"/>
          <p:cNvSpPr txBox="1"/>
          <p:nvPr/>
        </p:nvSpPr>
        <p:spPr>
          <a:xfrm>
            <a:off x="6766560" y="4169663"/>
            <a:ext cx="4828032" cy="201168"/>
          </a:xfrm>
          <a:prstGeom prst="rect">
            <a:avLst/>
          </a:prstGeom>
          <a:noFill/>
        </p:spPr>
        <p:txBody>
          <a:bodyPr wrap="square" lIns="0" rIns="0" tIns="0" bIns="0" anchor="t">
            <a:spAutoFit/>
          </a:bodyPr>
          <a:lstStyle/>
          <a:p>
            <a:pPr algn="l"/>
            <a:r>
              <a:rPr sz="800" b="1" i="0" spc="140">
                <a:solidFill>
                  <a:srgbClr val="64748B"/>
                </a:solidFill>
                <a:latin typeface="Aptos"/>
              </a:rPr>
              <a:t>WHAT CROSSES THE BRIDGE</a:t>
            </a:r>
          </a:p>
        </p:txBody>
      </p:sp>
      <p:sp>
        <p:nvSpPr>
          <p:cNvPr id="143" name="Rounded Rectangle 142"/>
          <p:cNvSpPr/>
          <p:nvPr/>
        </p:nvSpPr>
        <p:spPr>
          <a:xfrm>
            <a:off x="6766560" y="4443984"/>
            <a:ext cx="310896" cy="384048"/>
          </a:xfrm>
          <a:prstGeom prst="roundRect">
            <a:avLst>
              <a:gd name="adj" fmla="val 11764"/>
            </a:avLst>
          </a:prstGeom>
          <a:solidFill>
            <a:srgbClr val="10382D"/>
          </a:solidFill>
          <a:ln w="11430">
            <a:solidFill>
              <a:srgbClr val="15633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44" name="TextBox 143"/>
          <p:cNvSpPr txBox="1"/>
          <p:nvPr/>
        </p:nvSpPr>
        <p:spPr>
          <a:xfrm>
            <a:off x="7242048" y="4462272"/>
            <a:ext cx="4297680" cy="219456"/>
          </a:xfrm>
          <a:prstGeom prst="rect">
            <a:avLst/>
          </a:prstGeom>
          <a:noFill/>
        </p:spPr>
        <p:txBody>
          <a:bodyPr wrap="square" lIns="0" rIns="0" tIns="0" bIns="0" anchor="t">
            <a:spAutoFit/>
          </a:bodyPr>
          <a:lstStyle/>
          <a:p>
            <a:pPr algn="l"/>
            <a:r>
              <a:rPr sz="1400" b="0" i="0">
                <a:solidFill>
                  <a:srgbClr val="22C55E"/>
                </a:solidFill>
                <a:latin typeface="Aptos Display"/>
              </a:rPr>
              <a:t>approx. 4 KB</a:t>
            </a:r>
          </a:p>
        </p:txBody>
      </p:sp>
      <p:sp>
        <p:nvSpPr>
          <p:cNvPr id="145" name="TextBox 144"/>
          <p:cNvSpPr txBox="1"/>
          <p:nvPr/>
        </p:nvSpPr>
        <p:spPr>
          <a:xfrm>
            <a:off x="7242048" y="4700016"/>
            <a:ext cx="4297680" cy="201168"/>
          </a:xfrm>
          <a:prstGeom prst="rect">
            <a:avLst/>
          </a:prstGeom>
          <a:noFill/>
        </p:spPr>
        <p:txBody>
          <a:bodyPr wrap="square" lIns="0" rIns="0" tIns="0" bIns="0" anchor="t">
            <a:spAutoFit/>
          </a:bodyPr>
          <a:lstStyle/>
          <a:p>
            <a:pPr algn="l"/>
            <a:r>
              <a:rPr sz="860" b="0" i="0">
                <a:solidFill>
                  <a:srgbClr val="94A3B8"/>
                </a:solidFill>
                <a:latin typeface="Aptos"/>
              </a:rPr>
              <a:t>your question, and the passages that answer it</a:t>
            </a:r>
          </a:p>
        </p:txBody>
      </p:sp>
      <p:sp>
        <p:nvSpPr>
          <p:cNvPr id="146" name="Rectangle 145"/>
          <p:cNvSpPr/>
          <p:nvPr/>
        </p:nvSpPr>
        <p:spPr>
          <a:xfrm>
            <a:off x="6766560" y="5084064"/>
            <a:ext cx="4828032"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47" name="TextBox 146"/>
          <p:cNvSpPr txBox="1"/>
          <p:nvPr/>
        </p:nvSpPr>
        <p:spPr>
          <a:xfrm>
            <a:off x="6766560" y="5230368"/>
            <a:ext cx="4828032" cy="420624"/>
          </a:xfrm>
          <a:prstGeom prst="rect">
            <a:avLst/>
          </a:prstGeom>
          <a:noFill/>
        </p:spPr>
        <p:txBody>
          <a:bodyPr wrap="square" lIns="0" rIns="0" tIns="0" bIns="0" anchor="t">
            <a:spAutoFit/>
          </a:bodyPr>
          <a:lstStyle/>
          <a:p>
            <a:pPr algn="l">
              <a:lnSpc>
                <a:spcPct val="126000"/>
              </a:lnSpc>
            </a:pPr>
            <a:r>
              <a:rPr sz="840" b="0" i="0">
                <a:solidFill>
                  <a:srgbClr val="64748B"/>
                </a:solidFill>
                <a:latin typeface="Aptos"/>
              </a:rPr>
              <a:t>One part in 250,000 of what the vault holds ever becomes visible to anything else. Blocks not to scale - the real sliver would be invisible.</a:t>
            </a:r>
          </a:p>
        </p:txBody>
      </p:sp>
      <p:sp>
        <p:nvSpPr>
          <p:cNvPr id="148" name="Rectangle 147"/>
          <p:cNvSpPr/>
          <p:nvPr/>
        </p:nvSpPr>
        <p:spPr>
          <a:xfrm>
            <a:off x="594360" y="6291072"/>
            <a:ext cx="11000232"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49" name="TextBox 148"/>
          <p:cNvSpPr txBox="1"/>
          <p:nvPr/>
        </p:nvSpPr>
        <p:spPr>
          <a:xfrm>
            <a:off x="594360" y="6419088"/>
            <a:ext cx="9601200" cy="201168"/>
          </a:xfrm>
          <a:prstGeom prst="rect">
            <a:avLst/>
          </a:prstGeom>
          <a:noFill/>
        </p:spPr>
        <p:txBody>
          <a:bodyPr wrap="square" lIns="0" rIns="0" tIns="0" bIns="0" anchor="t">
            <a:spAutoFit/>
          </a:bodyPr>
          <a:lstStyle/>
          <a:p>
            <a:pPr algn="l"/>
            <a:r>
              <a:rPr sz="800" b="0" i="0" spc="60">
                <a:solidFill>
                  <a:srgbClr val="44546F"/>
                </a:solidFill>
                <a:latin typeface="Aptos"/>
              </a:rPr>
              <a:t>TEAM jSONs  ·  iQOO HACKATHON 2026  ·  TARGET ARCHITECTURE, NOT THE BENCH PROTOTYPE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TextBox 2"/>
          <p:cNvSpPr txBox="1"/>
          <p:nvPr/>
        </p:nvSpPr>
        <p:spPr>
          <a:xfrm>
            <a:off x="594360" y="347472"/>
            <a:ext cx="8778240" cy="219456"/>
          </a:xfrm>
          <a:prstGeom prst="rect">
            <a:avLst/>
          </a:prstGeom>
          <a:noFill/>
        </p:spPr>
        <p:txBody>
          <a:bodyPr wrap="square" lIns="0" rIns="0" tIns="0" bIns="0" anchor="t">
            <a:spAutoFit/>
          </a:bodyPr>
          <a:lstStyle/>
          <a:p>
            <a:pPr algn="l"/>
            <a:r>
              <a:rPr sz="850" b="1" i="0" spc="150">
                <a:solidFill>
                  <a:srgbClr val="64748B"/>
                </a:solidFill>
                <a:latin typeface="Aptos"/>
              </a:rPr>
              <a:t>01 · THE PROBLEM</a:t>
            </a:r>
          </a:p>
        </p:txBody>
      </p:sp>
      <p:sp>
        <p:nvSpPr>
          <p:cNvPr id="4" name="TextBox 3"/>
          <p:cNvSpPr txBox="1"/>
          <p:nvPr/>
        </p:nvSpPr>
        <p:spPr>
          <a:xfrm>
            <a:off x="594360" y="731520"/>
            <a:ext cx="11000232" cy="731520"/>
          </a:xfrm>
          <a:prstGeom prst="rect">
            <a:avLst/>
          </a:prstGeom>
          <a:noFill/>
        </p:spPr>
        <p:txBody>
          <a:bodyPr wrap="square" lIns="0" rIns="0" tIns="0" bIns="0" anchor="t">
            <a:spAutoFit/>
          </a:bodyPr>
          <a:lstStyle/>
          <a:p>
            <a:pPr algn="l">
              <a:lnSpc>
                <a:spcPct val="102000"/>
              </a:lnSpc>
            </a:pPr>
            <a:r>
              <a:rPr sz="2700" b="0" i="0">
                <a:solidFill>
                  <a:srgbClr val="FFFFFF"/>
                </a:solidFill>
                <a:latin typeface="Aptos Display"/>
              </a:rPr>
              <a:t>Two problems with the same shape.</a:t>
            </a:r>
          </a:p>
        </p:txBody>
      </p:sp>
      <p:sp>
        <p:nvSpPr>
          <p:cNvPr id="5" name="TextBox 4"/>
          <p:cNvSpPr txBox="1"/>
          <p:nvPr/>
        </p:nvSpPr>
        <p:spPr>
          <a:xfrm>
            <a:off x="594360" y="1481328"/>
            <a:ext cx="10332720" cy="457200"/>
          </a:xfrm>
          <a:prstGeom prst="rect">
            <a:avLst/>
          </a:prstGeom>
          <a:noFill/>
        </p:spPr>
        <p:txBody>
          <a:bodyPr wrap="square" lIns="0" rIns="0" tIns="0" bIns="0" anchor="t">
            <a:spAutoFit/>
          </a:bodyPr>
          <a:lstStyle/>
          <a:p>
            <a:pPr algn="l">
              <a:lnSpc>
                <a:spcPct val="125000"/>
              </a:lnSpc>
            </a:pPr>
            <a:r>
              <a:rPr sz="1150" b="0" i="0">
                <a:solidFill>
                  <a:srgbClr val="94A3B8"/>
                </a:solidFill>
                <a:latin typeface="Aptos"/>
              </a:rPr>
              <a:t>The data is in the wrong place, and the work is on the wrong processor. Every current answer fixes one by making the other worse.</a:t>
            </a:r>
          </a:p>
        </p:txBody>
      </p:sp>
      <p:sp>
        <p:nvSpPr>
          <p:cNvPr id="6" name="Rectangle 5"/>
          <p:cNvSpPr/>
          <p:nvPr/>
        </p:nvSpPr>
        <p:spPr>
          <a:xfrm>
            <a:off x="594360" y="6291072"/>
            <a:ext cx="11000232"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TextBox 6"/>
          <p:cNvSpPr txBox="1"/>
          <p:nvPr/>
        </p:nvSpPr>
        <p:spPr>
          <a:xfrm>
            <a:off x="10881360" y="6419088"/>
            <a:ext cx="713232" cy="201168"/>
          </a:xfrm>
          <a:prstGeom prst="rect">
            <a:avLst/>
          </a:prstGeom>
          <a:noFill/>
        </p:spPr>
        <p:txBody>
          <a:bodyPr wrap="square" lIns="0" rIns="0" tIns="0" bIns="0" anchor="t">
            <a:spAutoFit/>
          </a:bodyPr>
          <a:lstStyle/>
          <a:p>
            <a:pPr algn="r"/>
            <a:r>
              <a:rPr sz="850" b="1" i="0" spc="80">
                <a:solidFill>
                  <a:srgbClr val="64748B"/>
                </a:solidFill>
                <a:latin typeface="Aptos"/>
              </a:rPr>
              <a:t>01</a:t>
            </a:r>
          </a:p>
        </p:txBody>
      </p:sp>
      <p:sp>
        <p:nvSpPr>
          <p:cNvPr id="8" name="Rounded Rectangle 7"/>
          <p:cNvSpPr/>
          <p:nvPr/>
        </p:nvSpPr>
        <p:spPr>
          <a:xfrm>
            <a:off x="594360" y="2139696"/>
            <a:ext cx="5349240" cy="3419856"/>
          </a:xfrm>
          <a:prstGeom prst="roundRect">
            <a:avLst>
              <a:gd name="adj" fmla="val 1604"/>
            </a:avLst>
          </a:prstGeom>
          <a:solidFill>
            <a:srgbClr val="10192E"/>
          </a:solidFill>
          <a:ln w="10160">
            <a:solidFill>
              <a:srgbClr val="441A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TextBox 8"/>
          <p:cNvSpPr txBox="1"/>
          <p:nvPr/>
        </p:nvSpPr>
        <p:spPr>
          <a:xfrm>
            <a:off x="850392" y="2322576"/>
            <a:ext cx="4846320" cy="201168"/>
          </a:xfrm>
          <a:prstGeom prst="rect">
            <a:avLst/>
          </a:prstGeom>
          <a:noFill/>
        </p:spPr>
        <p:txBody>
          <a:bodyPr wrap="square" lIns="0" rIns="0" tIns="0" bIns="0" anchor="t">
            <a:spAutoFit/>
          </a:bodyPr>
          <a:lstStyle/>
          <a:p>
            <a:pPr algn="l"/>
            <a:r>
              <a:rPr sz="800" b="1" i="0" spc="120">
                <a:solidFill>
                  <a:srgbClr val="DC2626"/>
                </a:solidFill>
                <a:latin typeface="Aptos"/>
              </a:rPr>
              <a:t>PROBLEM ONE - THE DATA LEAVES</a:t>
            </a:r>
          </a:p>
        </p:txBody>
      </p:sp>
      <p:sp>
        <p:nvSpPr>
          <p:cNvPr id="10" name="TextBox 9"/>
          <p:cNvSpPr txBox="1"/>
          <p:nvPr/>
        </p:nvSpPr>
        <p:spPr>
          <a:xfrm>
            <a:off x="850392" y="2578608"/>
            <a:ext cx="4846320" cy="420624"/>
          </a:xfrm>
          <a:prstGeom prst="rect">
            <a:avLst/>
          </a:prstGeom>
          <a:noFill/>
        </p:spPr>
        <p:txBody>
          <a:bodyPr wrap="square" lIns="0" rIns="0" tIns="0" bIns="0" anchor="t">
            <a:spAutoFit/>
          </a:bodyPr>
          <a:lstStyle/>
          <a:p>
            <a:pPr algn="l">
              <a:lnSpc>
                <a:spcPct val="124000"/>
              </a:lnSpc>
            </a:pPr>
            <a:r>
              <a:rPr sz="1100" b="0" i="0">
                <a:solidFill>
                  <a:srgbClr val="FFFFFF"/>
                </a:solidFill>
                <a:latin typeface="Aptos"/>
              </a:rPr>
              <a:t>The moment a document leaves your machine, you lose control of the copy.</a:t>
            </a:r>
          </a:p>
        </p:txBody>
      </p:sp>
      <p:sp>
        <p:nvSpPr>
          <p:cNvPr id="11" name="Rectangle 10"/>
          <p:cNvSpPr/>
          <p:nvPr/>
        </p:nvSpPr>
        <p:spPr>
          <a:xfrm>
            <a:off x="850392" y="3145536"/>
            <a:ext cx="34747" cy="274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TextBox 11"/>
          <p:cNvSpPr txBox="1"/>
          <p:nvPr/>
        </p:nvSpPr>
        <p:spPr>
          <a:xfrm>
            <a:off x="1014984" y="3168396"/>
            <a:ext cx="1481328" cy="201168"/>
          </a:xfrm>
          <a:prstGeom prst="rect">
            <a:avLst/>
          </a:prstGeom>
          <a:noFill/>
        </p:spPr>
        <p:txBody>
          <a:bodyPr wrap="square" lIns="0" rIns="0" tIns="0" bIns="0" anchor="t">
            <a:spAutoFit/>
          </a:bodyPr>
          <a:lstStyle/>
          <a:p>
            <a:pPr algn="l"/>
            <a:r>
              <a:rPr sz="860" b="1" i="0" spc="50">
                <a:solidFill>
                  <a:srgbClr val="FFFFFF"/>
                </a:solidFill>
                <a:latin typeface="Aptos"/>
              </a:rPr>
              <a:t>RETAINED</a:t>
            </a:r>
          </a:p>
        </p:txBody>
      </p:sp>
      <p:sp>
        <p:nvSpPr>
          <p:cNvPr id="13" name="TextBox 12"/>
          <p:cNvSpPr txBox="1"/>
          <p:nvPr/>
        </p:nvSpPr>
        <p:spPr>
          <a:xfrm>
            <a:off x="2514600" y="3177540"/>
            <a:ext cx="3200400" cy="201168"/>
          </a:xfrm>
          <a:prstGeom prst="rect">
            <a:avLst/>
          </a:prstGeom>
          <a:noFill/>
        </p:spPr>
        <p:txBody>
          <a:bodyPr wrap="square" lIns="0" rIns="0" tIns="0" bIns="0" anchor="t">
            <a:spAutoFit/>
          </a:bodyPr>
          <a:lstStyle/>
          <a:p>
            <a:pPr algn="l"/>
            <a:r>
              <a:rPr sz="819" b="0" i="0">
                <a:solidFill>
                  <a:srgbClr val="94A3B8"/>
                </a:solidFill>
                <a:latin typeface="Aptos"/>
              </a:rPr>
              <a:t>held on infrastructure you do not operate</a:t>
            </a:r>
          </a:p>
        </p:txBody>
      </p:sp>
      <p:sp>
        <p:nvSpPr>
          <p:cNvPr id="14" name="Rectangle 13"/>
          <p:cNvSpPr/>
          <p:nvPr/>
        </p:nvSpPr>
        <p:spPr>
          <a:xfrm>
            <a:off x="850392" y="3529584"/>
            <a:ext cx="34747" cy="274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TextBox 14"/>
          <p:cNvSpPr txBox="1"/>
          <p:nvPr/>
        </p:nvSpPr>
        <p:spPr>
          <a:xfrm>
            <a:off x="1014984" y="3552444"/>
            <a:ext cx="1481328" cy="201168"/>
          </a:xfrm>
          <a:prstGeom prst="rect">
            <a:avLst/>
          </a:prstGeom>
          <a:noFill/>
        </p:spPr>
        <p:txBody>
          <a:bodyPr wrap="square" lIns="0" rIns="0" tIns="0" bIns="0" anchor="t">
            <a:spAutoFit/>
          </a:bodyPr>
          <a:lstStyle/>
          <a:p>
            <a:pPr algn="l"/>
            <a:r>
              <a:rPr sz="860" b="1" i="0" spc="50">
                <a:solidFill>
                  <a:srgbClr val="FFFFFF"/>
                </a:solidFill>
                <a:latin typeface="Aptos"/>
              </a:rPr>
              <a:t>INDEXED</a:t>
            </a:r>
          </a:p>
        </p:txBody>
      </p:sp>
      <p:sp>
        <p:nvSpPr>
          <p:cNvPr id="16" name="TextBox 15"/>
          <p:cNvSpPr txBox="1"/>
          <p:nvPr/>
        </p:nvSpPr>
        <p:spPr>
          <a:xfrm>
            <a:off x="2514600" y="3561588"/>
            <a:ext cx="3200400" cy="201168"/>
          </a:xfrm>
          <a:prstGeom prst="rect">
            <a:avLst/>
          </a:prstGeom>
          <a:noFill/>
        </p:spPr>
        <p:txBody>
          <a:bodyPr wrap="square" lIns="0" rIns="0" tIns="0" bIns="0" anchor="t">
            <a:spAutoFit/>
          </a:bodyPr>
          <a:lstStyle/>
          <a:p>
            <a:pPr algn="l"/>
            <a:r>
              <a:rPr sz="819" b="0" i="0">
                <a:solidFill>
                  <a:srgbClr val="94A3B8"/>
                </a:solidFill>
                <a:latin typeface="Aptos"/>
              </a:rPr>
              <a:t>searchable by systems you cannot audit</a:t>
            </a:r>
          </a:p>
        </p:txBody>
      </p:sp>
      <p:sp>
        <p:nvSpPr>
          <p:cNvPr id="17" name="Rectangle 16"/>
          <p:cNvSpPr/>
          <p:nvPr/>
        </p:nvSpPr>
        <p:spPr>
          <a:xfrm>
            <a:off x="850392" y="3913632"/>
            <a:ext cx="34747" cy="274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TextBox 17"/>
          <p:cNvSpPr txBox="1"/>
          <p:nvPr/>
        </p:nvSpPr>
        <p:spPr>
          <a:xfrm>
            <a:off x="1014984" y="3936492"/>
            <a:ext cx="1481328" cy="201168"/>
          </a:xfrm>
          <a:prstGeom prst="rect">
            <a:avLst/>
          </a:prstGeom>
          <a:noFill/>
        </p:spPr>
        <p:txBody>
          <a:bodyPr wrap="square" lIns="0" rIns="0" tIns="0" bIns="0" anchor="t">
            <a:spAutoFit/>
          </a:bodyPr>
          <a:lstStyle/>
          <a:p>
            <a:pPr algn="l"/>
            <a:r>
              <a:rPr sz="860" b="1" i="0" spc="50">
                <a:solidFill>
                  <a:srgbClr val="FFFFFF"/>
                </a:solidFill>
                <a:latin typeface="Aptos"/>
              </a:rPr>
              <a:t>SUBPOENAED</a:t>
            </a:r>
          </a:p>
        </p:txBody>
      </p:sp>
      <p:sp>
        <p:nvSpPr>
          <p:cNvPr id="19" name="TextBox 18"/>
          <p:cNvSpPr txBox="1"/>
          <p:nvPr/>
        </p:nvSpPr>
        <p:spPr>
          <a:xfrm>
            <a:off x="2514600" y="3945636"/>
            <a:ext cx="3200400" cy="201168"/>
          </a:xfrm>
          <a:prstGeom prst="rect">
            <a:avLst/>
          </a:prstGeom>
          <a:noFill/>
        </p:spPr>
        <p:txBody>
          <a:bodyPr wrap="square" lIns="0" rIns="0" tIns="0" bIns="0" anchor="t">
            <a:spAutoFit/>
          </a:bodyPr>
          <a:lstStyle/>
          <a:p>
            <a:pPr algn="l"/>
            <a:r>
              <a:rPr sz="819" b="0" i="0">
                <a:solidFill>
                  <a:srgbClr val="94A3B8"/>
                </a:solidFill>
                <a:latin typeface="Aptos"/>
              </a:rPr>
              <a:t>discoverable through a third party</a:t>
            </a:r>
          </a:p>
        </p:txBody>
      </p:sp>
      <p:sp>
        <p:nvSpPr>
          <p:cNvPr id="20" name="Rectangle 19"/>
          <p:cNvSpPr/>
          <p:nvPr/>
        </p:nvSpPr>
        <p:spPr>
          <a:xfrm>
            <a:off x="850392" y="4297680"/>
            <a:ext cx="34747" cy="274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TextBox 20"/>
          <p:cNvSpPr txBox="1"/>
          <p:nvPr/>
        </p:nvSpPr>
        <p:spPr>
          <a:xfrm>
            <a:off x="1014984" y="4320540"/>
            <a:ext cx="1481328" cy="201168"/>
          </a:xfrm>
          <a:prstGeom prst="rect">
            <a:avLst/>
          </a:prstGeom>
          <a:noFill/>
        </p:spPr>
        <p:txBody>
          <a:bodyPr wrap="square" lIns="0" rIns="0" tIns="0" bIns="0" anchor="t">
            <a:spAutoFit/>
          </a:bodyPr>
          <a:lstStyle/>
          <a:p>
            <a:pPr algn="l"/>
            <a:r>
              <a:rPr sz="860" b="1" i="0" spc="50">
                <a:solidFill>
                  <a:srgbClr val="FFFFFF"/>
                </a:solidFill>
                <a:latin typeface="Aptos"/>
              </a:rPr>
              <a:t>TRAINED ON</a:t>
            </a:r>
          </a:p>
        </p:txBody>
      </p:sp>
      <p:sp>
        <p:nvSpPr>
          <p:cNvPr id="22" name="TextBox 21"/>
          <p:cNvSpPr txBox="1"/>
          <p:nvPr/>
        </p:nvSpPr>
        <p:spPr>
          <a:xfrm>
            <a:off x="2514600" y="4329684"/>
            <a:ext cx="3200400" cy="201168"/>
          </a:xfrm>
          <a:prstGeom prst="rect">
            <a:avLst/>
          </a:prstGeom>
          <a:noFill/>
        </p:spPr>
        <p:txBody>
          <a:bodyPr wrap="square" lIns="0" rIns="0" tIns="0" bIns="0" anchor="t">
            <a:spAutoFit/>
          </a:bodyPr>
          <a:lstStyle/>
          <a:p>
            <a:pPr algn="l"/>
            <a:r>
              <a:rPr sz="819" b="0" i="0">
                <a:solidFill>
                  <a:srgbClr val="94A3B8"/>
                </a:solidFill>
                <a:latin typeface="Aptos"/>
              </a:rPr>
              <a:t>absorbed into weights, unremovable</a:t>
            </a:r>
          </a:p>
        </p:txBody>
      </p:sp>
      <p:sp>
        <p:nvSpPr>
          <p:cNvPr id="23" name="TextBox 22"/>
          <p:cNvSpPr txBox="1"/>
          <p:nvPr/>
        </p:nvSpPr>
        <p:spPr>
          <a:xfrm>
            <a:off x="850392" y="4882896"/>
            <a:ext cx="4846320" cy="384048"/>
          </a:xfrm>
          <a:prstGeom prst="rect">
            <a:avLst/>
          </a:prstGeom>
          <a:noFill/>
        </p:spPr>
        <p:txBody>
          <a:bodyPr wrap="square" lIns="0" rIns="0" tIns="0" bIns="0" anchor="t">
            <a:spAutoFit/>
          </a:bodyPr>
          <a:lstStyle/>
          <a:p>
            <a:pPr algn="l">
              <a:lnSpc>
                <a:spcPct val="124000"/>
              </a:lnSpc>
            </a:pPr>
            <a:r>
              <a:rPr sz="840" b="0" i="1">
                <a:solidFill>
                  <a:srgbClr val="64748B"/>
                </a:solidFill>
                <a:latin typeface="Aptos"/>
              </a:rPr>
              <a:t>Transport encryption is not a fix. The embedding server has to see the plaintext to turn it into a vector.</a:t>
            </a:r>
          </a:p>
        </p:txBody>
      </p:sp>
      <p:sp>
        <p:nvSpPr>
          <p:cNvPr id="24" name="Rounded Rectangle 23"/>
          <p:cNvSpPr/>
          <p:nvPr/>
        </p:nvSpPr>
        <p:spPr>
          <a:xfrm>
            <a:off x="6382512" y="2139696"/>
            <a:ext cx="5212080" cy="3419856"/>
          </a:xfrm>
          <a:prstGeom prst="roundRect">
            <a:avLst>
              <a:gd name="adj" fmla="val 1604"/>
            </a:avLst>
          </a:prstGeom>
          <a:solidFill>
            <a:srgbClr val="10192E"/>
          </a:solidFill>
          <a:ln w="10160">
            <a:solidFill>
              <a:srgbClr val="2A385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TextBox 24"/>
          <p:cNvSpPr txBox="1"/>
          <p:nvPr/>
        </p:nvSpPr>
        <p:spPr>
          <a:xfrm>
            <a:off x="6638544" y="2322576"/>
            <a:ext cx="4663440" cy="201168"/>
          </a:xfrm>
          <a:prstGeom prst="rect">
            <a:avLst/>
          </a:prstGeom>
          <a:noFill/>
        </p:spPr>
        <p:txBody>
          <a:bodyPr wrap="square" lIns="0" rIns="0" tIns="0" bIns="0" anchor="t">
            <a:spAutoFit/>
          </a:bodyPr>
          <a:lstStyle/>
          <a:p>
            <a:pPr algn="l"/>
            <a:r>
              <a:rPr sz="800" b="1" i="0" spc="120">
                <a:solidFill>
                  <a:srgbClr val="F0B429"/>
                </a:solidFill>
                <a:latin typeface="Aptos"/>
              </a:rPr>
              <a:t>PROBLEM TWO - THE WRONG PROCESSOR</a:t>
            </a:r>
          </a:p>
        </p:txBody>
      </p:sp>
      <p:sp>
        <p:nvSpPr>
          <p:cNvPr id="26" name="TextBox 25"/>
          <p:cNvSpPr txBox="1"/>
          <p:nvPr/>
        </p:nvSpPr>
        <p:spPr>
          <a:xfrm>
            <a:off x="6638544" y="2578608"/>
            <a:ext cx="4663440" cy="420624"/>
          </a:xfrm>
          <a:prstGeom prst="rect">
            <a:avLst/>
          </a:prstGeom>
          <a:noFill/>
        </p:spPr>
        <p:txBody>
          <a:bodyPr wrap="square" lIns="0" rIns="0" tIns="0" bIns="0" anchor="t">
            <a:spAutoFit/>
          </a:bodyPr>
          <a:lstStyle/>
          <a:p>
            <a:pPr algn="l">
              <a:lnSpc>
                <a:spcPct val="124000"/>
              </a:lnSpc>
            </a:pPr>
            <a:r>
              <a:rPr sz="1100" b="0" i="0">
                <a:solidFill>
                  <a:srgbClr val="FFFFFF"/>
                </a:solidFill>
                <a:latin typeface="Aptos"/>
              </a:rPr>
              <a:t>So you run it locally - and a transformer starts competing with your compiler for the same cores.</a:t>
            </a:r>
          </a:p>
        </p:txBody>
      </p:sp>
      <p:sp>
        <p:nvSpPr>
          <p:cNvPr id="27" name="TextBox 26"/>
          <p:cNvSpPr txBox="1"/>
          <p:nvPr/>
        </p:nvSpPr>
        <p:spPr>
          <a:xfrm>
            <a:off x="6638544" y="3200400"/>
            <a:ext cx="4572000" cy="201168"/>
          </a:xfrm>
          <a:prstGeom prst="rect">
            <a:avLst/>
          </a:prstGeom>
          <a:noFill/>
        </p:spPr>
        <p:txBody>
          <a:bodyPr wrap="square" lIns="0" rIns="0" tIns="0" bIns="0" anchor="t">
            <a:spAutoFit/>
          </a:bodyPr>
          <a:lstStyle/>
          <a:p>
            <a:pPr algn="l"/>
            <a:r>
              <a:rPr sz="800" b="1" i="0" spc="140">
                <a:solidFill>
                  <a:srgbClr val="64748B"/>
                </a:solidFill>
                <a:latin typeface="Aptos"/>
              </a:rPr>
              <a:t>UTILISATION WHILE YOU WORK</a:t>
            </a:r>
          </a:p>
        </p:txBody>
      </p:sp>
      <p:sp>
        <p:nvSpPr>
          <p:cNvPr id="28" name="TextBox 27"/>
          <p:cNvSpPr txBox="1"/>
          <p:nvPr/>
        </p:nvSpPr>
        <p:spPr>
          <a:xfrm>
            <a:off x="6638544" y="3493008"/>
            <a:ext cx="2926080" cy="182880"/>
          </a:xfrm>
          <a:prstGeom prst="rect">
            <a:avLst/>
          </a:prstGeom>
          <a:noFill/>
        </p:spPr>
        <p:txBody>
          <a:bodyPr wrap="square" lIns="0" rIns="0" tIns="0" bIns="0" anchor="t">
            <a:spAutoFit/>
          </a:bodyPr>
          <a:lstStyle/>
          <a:p>
            <a:pPr algn="l"/>
            <a:r>
              <a:rPr sz="900" b="1" i="0">
                <a:solidFill>
                  <a:srgbClr val="FFFFFF"/>
                </a:solidFill>
                <a:latin typeface="Aptos"/>
              </a:rPr>
              <a:t>Laptop CPU / GPU</a:t>
            </a:r>
          </a:p>
        </p:txBody>
      </p:sp>
      <p:sp>
        <p:nvSpPr>
          <p:cNvPr id="29" name="TextBox 28"/>
          <p:cNvSpPr txBox="1"/>
          <p:nvPr/>
        </p:nvSpPr>
        <p:spPr>
          <a:xfrm>
            <a:off x="9692640" y="3493008"/>
            <a:ext cx="1609344" cy="182880"/>
          </a:xfrm>
          <a:prstGeom prst="rect">
            <a:avLst/>
          </a:prstGeom>
          <a:noFill/>
        </p:spPr>
        <p:txBody>
          <a:bodyPr wrap="square" lIns="0" rIns="0" tIns="0" bIns="0" anchor="t">
            <a:spAutoFit/>
          </a:bodyPr>
          <a:lstStyle/>
          <a:p>
            <a:pPr algn="r"/>
            <a:r>
              <a:rPr sz="900" b="1" i="0">
                <a:solidFill>
                  <a:srgbClr val="DC2626"/>
                </a:solidFill>
                <a:latin typeface="Aptos"/>
              </a:rPr>
              <a:t>94%</a:t>
            </a:r>
          </a:p>
        </p:txBody>
      </p:sp>
      <p:sp>
        <p:nvSpPr>
          <p:cNvPr id="30" name="Rounded Rectangle 29"/>
          <p:cNvSpPr/>
          <p:nvPr/>
        </p:nvSpPr>
        <p:spPr>
          <a:xfrm>
            <a:off x="6638544" y="3730752"/>
            <a:ext cx="4663440" cy="91440"/>
          </a:xfrm>
          <a:prstGeom prst="roundRect">
            <a:avLst>
              <a:gd name="adj" fmla="val 50000"/>
            </a:avLst>
          </a:prstGeom>
          <a:solidFill>
            <a:srgbClr val="242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Rounded Rectangle 30"/>
          <p:cNvSpPr/>
          <p:nvPr/>
        </p:nvSpPr>
        <p:spPr>
          <a:xfrm>
            <a:off x="6638544" y="3730752"/>
            <a:ext cx="4383633" cy="91440"/>
          </a:xfrm>
          <a:prstGeom prst="roundRect">
            <a:avLst>
              <a:gd name="adj" fmla="val 50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TextBox 31"/>
          <p:cNvSpPr txBox="1"/>
          <p:nvPr/>
        </p:nvSpPr>
        <p:spPr>
          <a:xfrm>
            <a:off x="6638544" y="3895344"/>
            <a:ext cx="4663440" cy="182880"/>
          </a:xfrm>
          <a:prstGeom prst="rect">
            <a:avLst/>
          </a:prstGeom>
          <a:noFill/>
        </p:spPr>
        <p:txBody>
          <a:bodyPr wrap="square" lIns="0" rIns="0" tIns="0" bIns="0" anchor="t">
            <a:spAutoFit/>
          </a:bodyPr>
          <a:lstStyle/>
          <a:p>
            <a:pPr algn="l"/>
            <a:r>
              <a:rPr sz="780" b="0" i="0">
                <a:solidFill>
                  <a:srgbClr val="64748B"/>
                </a:solidFill>
                <a:latin typeface="Aptos"/>
              </a:rPr>
              <a:t>saturated - fans, throttling</a:t>
            </a:r>
          </a:p>
        </p:txBody>
      </p:sp>
      <p:sp>
        <p:nvSpPr>
          <p:cNvPr id="33" name="TextBox 32"/>
          <p:cNvSpPr txBox="1"/>
          <p:nvPr/>
        </p:nvSpPr>
        <p:spPr>
          <a:xfrm>
            <a:off x="6638544" y="4279392"/>
            <a:ext cx="2926080" cy="182880"/>
          </a:xfrm>
          <a:prstGeom prst="rect">
            <a:avLst/>
          </a:prstGeom>
          <a:noFill/>
        </p:spPr>
        <p:txBody>
          <a:bodyPr wrap="square" lIns="0" rIns="0" tIns="0" bIns="0" anchor="t">
            <a:spAutoFit/>
          </a:bodyPr>
          <a:lstStyle/>
          <a:p>
            <a:pPr algn="l"/>
            <a:r>
              <a:rPr sz="900" b="1" i="0">
                <a:solidFill>
                  <a:srgbClr val="FFFFFF"/>
                </a:solidFill>
                <a:latin typeface="Aptos"/>
              </a:rPr>
              <a:t>Phone NPU</a:t>
            </a:r>
          </a:p>
        </p:txBody>
      </p:sp>
      <p:sp>
        <p:nvSpPr>
          <p:cNvPr id="34" name="TextBox 33"/>
          <p:cNvSpPr txBox="1"/>
          <p:nvPr/>
        </p:nvSpPr>
        <p:spPr>
          <a:xfrm>
            <a:off x="9692640" y="4279392"/>
            <a:ext cx="1609344" cy="182880"/>
          </a:xfrm>
          <a:prstGeom prst="rect">
            <a:avLst/>
          </a:prstGeom>
          <a:noFill/>
        </p:spPr>
        <p:txBody>
          <a:bodyPr wrap="square" lIns="0" rIns="0" tIns="0" bIns="0" anchor="t">
            <a:spAutoFit/>
          </a:bodyPr>
          <a:lstStyle/>
          <a:p>
            <a:pPr algn="r"/>
            <a:r>
              <a:rPr sz="900" b="1" i="0">
                <a:solidFill>
                  <a:srgbClr val="22C55E"/>
                </a:solidFill>
                <a:latin typeface="Aptos"/>
              </a:rPr>
              <a:t>4%</a:t>
            </a:r>
          </a:p>
        </p:txBody>
      </p:sp>
      <p:sp>
        <p:nvSpPr>
          <p:cNvPr id="35" name="Rounded Rectangle 34"/>
          <p:cNvSpPr/>
          <p:nvPr/>
        </p:nvSpPr>
        <p:spPr>
          <a:xfrm>
            <a:off x="6638544" y="4517136"/>
            <a:ext cx="4663440" cy="91440"/>
          </a:xfrm>
          <a:prstGeom prst="roundRect">
            <a:avLst>
              <a:gd name="adj" fmla="val 50000"/>
            </a:avLst>
          </a:prstGeom>
          <a:solidFill>
            <a:srgbClr val="242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Rounded Rectangle 35"/>
          <p:cNvSpPr/>
          <p:nvPr/>
        </p:nvSpPr>
        <p:spPr>
          <a:xfrm>
            <a:off x="6638544" y="4517136"/>
            <a:ext cx="186537" cy="9144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TextBox 36"/>
          <p:cNvSpPr txBox="1"/>
          <p:nvPr/>
        </p:nvSpPr>
        <p:spPr>
          <a:xfrm>
            <a:off x="6638544" y="4681728"/>
            <a:ext cx="4663440" cy="182880"/>
          </a:xfrm>
          <a:prstGeom prst="rect">
            <a:avLst/>
          </a:prstGeom>
          <a:noFill/>
        </p:spPr>
        <p:txBody>
          <a:bodyPr wrap="square" lIns="0" rIns="0" tIns="0" bIns="0" anchor="t">
            <a:spAutoFit/>
          </a:bodyPr>
          <a:lstStyle/>
          <a:p>
            <a:pPr algn="l"/>
            <a:r>
              <a:rPr sz="780" b="0" i="0">
                <a:solidFill>
                  <a:srgbClr val="64748B"/>
                </a:solidFill>
                <a:latin typeface="Aptos"/>
              </a:rPr>
              <a:t>tens of TOPS, sitting near idle</a:t>
            </a:r>
          </a:p>
        </p:txBody>
      </p:sp>
      <p:sp>
        <p:nvSpPr>
          <p:cNvPr id="38" name="TextBox 37"/>
          <p:cNvSpPr txBox="1"/>
          <p:nvPr/>
        </p:nvSpPr>
        <p:spPr>
          <a:xfrm>
            <a:off x="6638544" y="4974336"/>
            <a:ext cx="4663440" cy="566928"/>
          </a:xfrm>
          <a:prstGeom prst="rect">
            <a:avLst/>
          </a:prstGeom>
          <a:noFill/>
        </p:spPr>
        <p:txBody>
          <a:bodyPr wrap="square" lIns="0" rIns="0" tIns="0" bIns="0" anchor="t">
            <a:spAutoFit/>
          </a:bodyPr>
          <a:lstStyle/>
          <a:p>
            <a:pPr algn="l">
              <a:lnSpc>
                <a:spcPct val="126000"/>
              </a:lnSpc>
            </a:pPr>
            <a:r>
              <a:rPr sz="860" b="0" i="0">
                <a:solidFill>
                  <a:srgbClr val="94A3B8"/>
                </a:solidFill>
                <a:latin typeface="Aptos"/>
              </a:rPr>
              <a:t>Every flagship phone ships a neural accelerator rated in tens of trillions of operations per second. It sits near zero utilisation in your pocket all day.</a:t>
            </a:r>
          </a:p>
        </p:txBody>
      </p:sp>
      <p:sp>
        <p:nvSpPr>
          <p:cNvPr id="39" name="TextBox 38"/>
          <p:cNvSpPr txBox="1"/>
          <p:nvPr/>
        </p:nvSpPr>
        <p:spPr>
          <a:xfrm>
            <a:off x="594360" y="5797296"/>
            <a:ext cx="11000232" cy="219456"/>
          </a:xfrm>
          <a:prstGeom prst="rect">
            <a:avLst/>
          </a:prstGeom>
          <a:noFill/>
        </p:spPr>
        <p:txBody>
          <a:bodyPr wrap="square" lIns="0" rIns="0" tIns="0" bIns="0" anchor="t">
            <a:spAutoFit/>
          </a:bodyPr>
          <a:lstStyle/>
          <a:p>
            <a:pPr algn="l"/>
            <a:r>
              <a:rPr sz="850" b="1" i="0" spc="110">
                <a:solidFill>
                  <a:srgbClr val="22C55E"/>
                </a:solidFill>
                <a:latin typeface="Aptos"/>
              </a:rPr>
              <a:t>THE MOST CAPABLE IDLE PROCESSOR YOU OWN IS ALREADY HOLDING YOUR DATA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TextBox 2"/>
          <p:cNvSpPr txBox="1"/>
          <p:nvPr/>
        </p:nvSpPr>
        <p:spPr>
          <a:xfrm>
            <a:off x="594360" y="347472"/>
            <a:ext cx="8778240" cy="219456"/>
          </a:xfrm>
          <a:prstGeom prst="rect">
            <a:avLst/>
          </a:prstGeom>
          <a:noFill/>
        </p:spPr>
        <p:txBody>
          <a:bodyPr wrap="square" lIns="0" rIns="0" tIns="0" bIns="0" anchor="t">
            <a:spAutoFit/>
          </a:bodyPr>
          <a:lstStyle/>
          <a:p>
            <a:pPr algn="l"/>
            <a:r>
              <a:rPr sz="850" b="1" i="0" spc="150">
                <a:solidFill>
                  <a:srgbClr val="64748B"/>
                </a:solidFill>
                <a:latin typeface="Aptos"/>
              </a:rPr>
              <a:t>02 · WHY THE EXISTING ANSWERS FAIL</a:t>
            </a:r>
          </a:p>
        </p:txBody>
      </p:sp>
      <p:sp>
        <p:nvSpPr>
          <p:cNvPr id="4" name="TextBox 3"/>
          <p:cNvSpPr txBox="1"/>
          <p:nvPr/>
        </p:nvSpPr>
        <p:spPr>
          <a:xfrm>
            <a:off x="594360" y="731520"/>
            <a:ext cx="11000232" cy="731520"/>
          </a:xfrm>
          <a:prstGeom prst="rect">
            <a:avLst/>
          </a:prstGeom>
          <a:noFill/>
        </p:spPr>
        <p:txBody>
          <a:bodyPr wrap="square" lIns="0" rIns="0" tIns="0" bIns="0" anchor="t">
            <a:spAutoFit/>
          </a:bodyPr>
          <a:lstStyle/>
          <a:p>
            <a:pPr algn="l">
              <a:lnSpc>
                <a:spcPct val="102000"/>
              </a:lnSpc>
            </a:pPr>
            <a:r>
              <a:rPr sz="2700" b="0" i="0">
                <a:solidFill>
                  <a:srgbClr val="FFFFFF"/>
                </a:solidFill>
                <a:latin typeface="Aptos Display"/>
              </a:rPr>
              <a:t>Four ways people solve this today. None of them close.</a:t>
            </a:r>
          </a:p>
        </p:txBody>
      </p:sp>
      <p:sp>
        <p:nvSpPr>
          <p:cNvPr id="5" name="TextBox 4"/>
          <p:cNvSpPr txBox="1"/>
          <p:nvPr/>
        </p:nvSpPr>
        <p:spPr>
          <a:xfrm>
            <a:off x="594360" y="1481328"/>
            <a:ext cx="10332720" cy="457200"/>
          </a:xfrm>
          <a:prstGeom prst="rect">
            <a:avLst/>
          </a:prstGeom>
          <a:noFill/>
        </p:spPr>
        <p:txBody>
          <a:bodyPr wrap="square" lIns="0" rIns="0" tIns="0" bIns="0" anchor="t">
            <a:spAutoFit/>
          </a:bodyPr>
          <a:lstStyle/>
          <a:p>
            <a:pPr algn="l">
              <a:lnSpc>
                <a:spcPct val="125000"/>
              </a:lnSpc>
            </a:pPr>
            <a:r>
              <a:rPr sz="1150" b="0" i="0">
                <a:solidFill>
                  <a:srgbClr val="94A3B8"/>
                </a:solidFill>
                <a:latin typeface="Aptos"/>
              </a:rPr>
              <a:t>Each option trades away either privacy, capability, or the hardware you already own.</a:t>
            </a:r>
          </a:p>
        </p:txBody>
      </p:sp>
      <p:sp>
        <p:nvSpPr>
          <p:cNvPr id="6" name="Rectangle 5"/>
          <p:cNvSpPr/>
          <p:nvPr/>
        </p:nvSpPr>
        <p:spPr>
          <a:xfrm>
            <a:off x="594360" y="6291072"/>
            <a:ext cx="11000232"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TextBox 6"/>
          <p:cNvSpPr txBox="1"/>
          <p:nvPr/>
        </p:nvSpPr>
        <p:spPr>
          <a:xfrm>
            <a:off x="10881360" y="6419088"/>
            <a:ext cx="713232" cy="201168"/>
          </a:xfrm>
          <a:prstGeom prst="rect">
            <a:avLst/>
          </a:prstGeom>
          <a:noFill/>
        </p:spPr>
        <p:txBody>
          <a:bodyPr wrap="square" lIns="0" rIns="0" tIns="0" bIns="0" anchor="t">
            <a:spAutoFit/>
          </a:bodyPr>
          <a:lstStyle/>
          <a:p>
            <a:pPr algn="r"/>
            <a:r>
              <a:rPr sz="850" b="1" i="0" spc="80">
                <a:solidFill>
                  <a:srgbClr val="64748B"/>
                </a:solidFill>
                <a:latin typeface="Aptos"/>
              </a:rPr>
              <a:t>02</a:t>
            </a:r>
          </a:p>
        </p:txBody>
      </p:sp>
      <p:sp>
        <p:nvSpPr>
          <p:cNvPr id="8" name="Rounded Rectangle 7"/>
          <p:cNvSpPr/>
          <p:nvPr/>
        </p:nvSpPr>
        <p:spPr>
          <a:xfrm>
            <a:off x="594360" y="2157984"/>
            <a:ext cx="2615184" cy="2926080"/>
          </a:xfrm>
          <a:prstGeom prst="roundRect">
            <a:avLst>
              <a:gd name="adj" fmla="val 2097"/>
            </a:avLst>
          </a:prstGeom>
          <a:solidFill>
            <a:srgbClr val="10192E"/>
          </a:solidFill>
          <a:ln w="889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Rectangle 8"/>
          <p:cNvSpPr/>
          <p:nvPr/>
        </p:nvSpPr>
        <p:spPr>
          <a:xfrm>
            <a:off x="594360" y="2157984"/>
            <a:ext cx="2615184" cy="3291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TextBox 9"/>
          <p:cNvSpPr txBox="1"/>
          <p:nvPr/>
        </p:nvSpPr>
        <p:spPr>
          <a:xfrm>
            <a:off x="795528" y="2359152"/>
            <a:ext cx="2212848" cy="201168"/>
          </a:xfrm>
          <a:prstGeom prst="rect">
            <a:avLst/>
          </a:prstGeom>
          <a:noFill/>
        </p:spPr>
        <p:txBody>
          <a:bodyPr wrap="square" lIns="0" rIns="0" tIns="0" bIns="0" anchor="t">
            <a:spAutoFit/>
          </a:bodyPr>
          <a:lstStyle/>
          <a:p>
            <a:pPr algn="l"/>
            <a:r>
              <a:rPr sz="950" b="1" i="0" spc="60">
                <a:solidFill>
                  <a:srgbClr val="FFFFFF"/>
                </a:solidFill>
                <a:latin typeface="Aptos"/>
              </a:rPr>
              <a:t>CLOUD RAG</a:t>
            </a:r>
          </a:p>
        </p:txBody>
      </p:sp>
      <p:sp>
        <p:nvSpPr>
          <p:cNvPr id="11" name="TextBox 10"/>
          <p:cNvSpPr txBox="1"/>
          <p:nvPr/>
        </p:nvSpPr>
        <p:spPr>
          <a:xfrm>
            <a:off x="795528" y="2596896"/>
            <a:ext cx="2212848" cy="310896"/>
          </a:xfrm>
          <a:prstGeom prst="rect">
            <a:avLst/>
          </a:prstGeom>
          <a:noFill/>
        </p:spPr>
        <p:txBody>
          <a:bodyPr wrap="square" lIns="0" rIns="0" tIns="0" bIns="0" anchor="t">
            <a:spAutoFit/>
          </a:bodyPr>
          <a:lstStyle/>
          <a:p>
            <a:pPr algn="l">
              <a:lnSpc>
                <a:spcPct val="120000"/>
              </a:lnSpc>
            </a:pPr>
            <a:r>
              <a:rPr sz="740" b="1" i="0">
                <a:solidFill>
                  <a:srgbClr val="DC2626"/>
                </a:solidFill>
                <a:latin typeface="Aptos"/>
              </a:rPr>
              <a:t>ChatGPT · Claude Projects · NotebookLM</a:t>
            </a:r>
          </a:p>
        </p:txBody>
      </p:sp>
      <p:sp>
        <p:nvSpPr>
          <p:cNvPr id="12" name="Rectangle 11"/>
          <p:cNvSpPr/>
          <p:nvPr/>
        </p:nvSpPr>
        <p:spPr>
          <a:xfrm>
            <a:off x="795528" y="2980944"/>
            <a:ext cx="2212848"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3" name="TextBox 12"/>
          <p:cNvSpPr txBox="1"/>
          <p:nvPr/>
        </p:nvSpPr>
        <p:spPr>
          <a:xfrm>
            <a:off x="795528" y="3127248"/>
            <a:ext cx="2212848" cy="1097280"/>
          </a:xfrm>
          <a:prstGeom prst="rect">
            <a:avLst/>
          </a:prstGeom>
          <a:noFill/>
        </p:spPr>
        <p:txBody>
          <a:bodyPr wrap="square" lIns="0" rIns="0" tIns="0" bIns="0" anchor="t">
            <a:spAutoFit/>
          </a:bodyPr>
          <a:lstStyle/>
          <a:p>
            <a:pPr algn="l">
              <a:lnSpc>
                <a:spcPct val="130000"/>
              </a:lnSpc>
            </a:pPr>
            <a:r>
              <a:rPr sz="880" b="0" i="0">
                <a:solidFill>
                  <a:srgbClr val="94A3B8"/>
                </a:solidFill>
                <a:latin typeface="Aptos"/>
              </a:rPr>
              <a:t>Upload the corpus. Fast, capable, and the plaintext is on someone else's disk before the first vector exists.</a:t>
            </a:r>
          </a:p>
        </p:txBody>
      </p:sp>
      <p:sp>
        <p:nvSpPr>
          <p:cNvPr id="14" name="Rectangle 13"/>
          <p:cNvSpPr/>
          <p:nvPr/>
        </p:nvSpPr>
        <p:spPr>
          <a:xfrm>
            <a:off x="795528" y="4224528"/>
            <a:ext cx="2212848"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TextBox 14"/>
          <p:cNvSpPr txBox="1"/>
          <p:nvPr/>
        </p:nvSpPr>
        <p:spPr>
          <a:xfrm>
            <a:off x="795528" y="4370832"/>
            <a:ext cx="2212848" cy="566928"/>
          </a:xfrm>
          <a:prstGeom prst="rect">
            <a:avLst/>
          </a:prstGeom>
          <a:noFill/>
        </p:spPr>
        <p:txBody>
          <a:bodyPr wrap="square" lIns="0" rIns="0" tIns="0" bIns="0" anchor="t">
            <a:spAutoFit/>
          </a:bodyPr>
          <a:lstStyle/>
          <a:p>
            <a:pPr algn="l">
              <a:lnSpc>
                <a:spcPct val="126000"/>
              </a:lnSpc>
            </a:pPr>
            <a:r>
              <a:rPr sz="840" b="0" i="1">
                <a:solidFill>
                  <a:srgbClr val="FFFFFF"/>
                </a:solidFill>
                <a:latin typeface="Aptos"/>
              </a:rPr>
              <a:t>Privacy is a promise in a policy document.</a:t>
            </a:r>
          </a:p>
        </p:txBody>
      </p:sp>
      <p:sp>
        <p:nvSpPr>
          <p:cNvPr id="16" name="Rounded Rectangle 15"/>
          <p:cNvSpPr/>
          <p:nvPr/>
        </p:nvSpPr>
        <p:spPr>
          <a:xfrm>
            <a:off x="3383279" y="2157984"/>
            <a:ext cx="2615184" cy="2926080"/>
          </a:xfrm>
          <a:prstGeom prst="roundRect">
            <a:avLst>
              <a:gd name="adj" fmla="val 2097"/>
            </a:avLst>
          </a:prstGeom>
          <a:solidFill>
            <a:srgbClr val="10192E"/>
          </a:solidFill>
          <a:ln w="889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Rectangle 16"/>
          <p:cNvSpPr/>
          <p:nvPr/>
        </p:nvSpPr>
        <p:spPr>
          <a:xfrm>
            <a:off x="3383279" y="2157984"/>
            <a:ext cx="2615184" cy="32918"/>
          </a:xfrm>
          <a:prstGeom prst="rect">
            <a:avLst/>
          </a:prstGeom>
          <a:solidFill>
            <a:srgbClr val="F0B42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TextBox 17"/>
          <p:cNvSpPr txBox="1"/>
          <p:nvPr/>
        </p:nvSpPr>
        <p:spPr>
          <a:xfrm>
            <a:off x="3584448" y="2359152"/>
            <a:ext cx="2212848" cy="201168"/>
          </a:xfrm>
          <a:prstGeom prst="rect">
            <a:avLst/>
          </a:prstGeom>
          <a:noFill/>
        </p:spPr>
        <p:txBody>
          <a:bodyPr wrap="square" lIns="0" rIns="0" tIns="0" bIns="0" anchor="t">
            <a:spAutoFit/>
          </a:bodyPr>
          <a:lstStyle/>
          <a:p>
            <a:pPr algn="l"/>
            <a:r>
              <a:rPr sz="950" b="1" i="0" spc="60">
                <a:solidFill>
                  <a:srgbClr val="FFFFFF"/>
                </a:solidFill>
                <a:latin typeface="Aptos"/>
              </a:rPr>
              <a:t>LAPTOP-LOCAL LLM</a:t>
            </a:r>
          </a:p>
        </p:txBody>
      </p:sp>
      <p:sp>
        <p:nvSpPr>
          <p:cNvPr id="19" name="TextBox 18"/>
          <p:cNvSpPr txBox="1"/>
          <p:nvPr/>
        </p:nvSpPr>
        <p:spPr>
          <a:xfrm>
            <a:off x="3584448" y="2596896"/>
            <a:ext cx="2212848" cy="310896"/>
          </a:xfrm>
          <a:prstGeom prst="rect">
            <a:avLst/>
          </a:prstGeom>
          <a:noFill/>
        </p:spPr>
        <p:txBody>
          <a:bodyPr wrap="square" lIns="0" rIns="0" tIns="0" bIns="0" anchor="t">
            <a:spAutoFit/>
          </a:bodyPr>
          <a:lstStyle/>
          <a:p>
            <a:pPr algn="l">
              <a:lnSpc>
                <a:spcPct val="120000"/>
              </a:lnSpc>
            </a:pPr>
            <a:r>
              <a:rPr sz="740" b="1" i="0">
                <a:solidFill>
                  <a:srgbClr val="F0B429"/>
                </a:solidFill>
                <a:latin typeface="Aptos"/>
              </a:rPr>
              <a:t>Ollama · LM Studio · llama.cpp</a:t>
            </a:r>
          </a:p>
        </p:txBody>
      </p:sp>
      <p:sp>
        <p:nvSpPr>
          <p:cNvPr id="20" name="Rectangle 19"/>
          <p:cNvSpPr/>
          <p:nvPr/>
        </p:nvSpPr>
        <p:spPr>
          <a:xfrm>
            <a:off x="3584448" y="2980944"/>
            <a:ext cx="2212848"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TextBox 20"/>
          <p:cNvSpPr txBox="1"/>
          <p:nvPr/>
        </p:nvSpPr>
        <p:spPr>
          <a:xfrm>
            <a:off x="3584448" y="3127248"/>
            <a:ext cx="2212848" cy="1097280"/>
          </a:xfrm>
          <a:prstGeom prst="rect">
            <a:avLst/>
          </a:prstGeom>
          <a:noFill/>
        </p:spPr>
        <p:txBody>
          <a:bodyPr wrap="square" lIns="0" rIns="0" tIns="0" bIns="0" anchor="t">
            <a:spAutoFit/>
          </a:bodyPr>
          <a:lstStyle/>
          <a:p>
            <a:pPr algn="l">
              <a:lnSpc>
                <a:spcPct val="130000"/>
              </a:lnSpc>
            </a:pPr>
            <a:r>
              <a:rPr sz="880" b="0" i="0">
                <a:solidFill>
                  <a:srgbClr val="94A3B8"/>
                </a:solidFill>
                <a:latin typeface="Aptos"/>
              </a:rPr>
              <a:t>Nothing leaves, but the machine you are working on is the machine doing the inference. Thermals and battery both lose.</a:t>
            </a:r>
          </a:p>
        </p:txBody>
      </p:sp>
      <p:sp>
        <p:nvSpPr>
          <p:cNvPr id="22" name="Rectangle 21"/>
          <p:cNvSpPr/>
          <p:nvPr/>
        </p:nvSpPr>
        <p:spPr>
          <a:xfrm>
            <a:off x="3584448" y="4224528"/>
            <a:ext cx="2212848"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TextBox 22"/>
          <p:cNvSpPr txBox="1"/>
          <p:nvPr/>
        </p:nvSpPr>
        <p:spPr>
          <a:xfrm>
            <a:off x="3584448" y="4370832"/>
            <a:ext cx="2212848" cy="566928"/>
          </a:xfrm>
          <a:prstGeom prst="rect">
            <a:avLst/>
          </a:prstGeom>
          <a:noFill/>
        </p:spPr>
        <p:txBody>
          <a:bodyPr wrap="square" lIns="0" rIns="0" tIns="0" bIns="0" anchor="t">
            <a:spAutoFit/>
          </a:bodyPr>
          <a:lstStyle/>
          <a:p>
            <a:pPr algn="l">
              <a:lnSpc>
                <a:spcPct val="126000"/>
              </a:lnSpc>
            </a:pPr>
            <a:r>
              <a:rPr sz="840" b="0" i="1">
                <a:solidFill>
                  <a:srgbClr val="FFFFFF"/>
                </a:solidFill>
                <a:latin typeface="Aptos"/>
              </a:rPr>
              <a:t>Right threat model, wrong processor.</a:t>
            </a:r>
          </a:p>
        </p:txBody>
      </p:sp>
      <p:sp>
        <p:nvSpPr>
          <p:cNvPr id="24" name="Rounded Rectangle 23"/>
          <p:cNvSpPr/>
          <p:nvPr/>
        </p:nvSpPr>
        <p:spPr>
          <a:xfrm>
            <a:off x="6172200" y="2157984"/>
            <a:ext cx="2615184" cy="2926080"/>
          </a:xfrm>
          <a:prstGeom prst="roundRect">
            <a:avLst>
              <a:gd name="adj" fmla="val 2097"/>
            </a:avLst>
          </a:prstGeom>
          <a:solidFill>
            <a:srgbClr val="10192E"/>
          </a:solidFill>
          <a:ln w="889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Rectangle 24"/>
          <p:cNvSpPr/>
          <p:nvPr/>
        </p:nvSpPr>
        <p:spPr>
          <a:xfrm>
            <a:off x="6172200" y="2157984"/>
            <a:ext cx="2615184" cy="3291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TextBox 25"/>
          <p:cNvSpPr txBox="1"/>
          <p:nvPr/>
        </p:nvSpPr>
        <p:spPr>
          <a:xfrm>
            <a:off x="6373368" y="2359152"/>
            <a:ext cx="2212848" cy="201168"/>
          </a:xfrm>
          <a:prstGeom prst="rect">
            <a:avLst/>
          </a:prstGeom>
          <a:noFill/>
        </p:spPr>
        <p:txBody>
          <a:bodyPr wrap="square" lIns="0" rIns="0" tIns="0" bIns="0" anchor="t">
            <a:spAutoFit/>
          </a:bodyPr>
          <a:lstStyle/>
          <a:p>
            <a:pPr algn="l"/>
            <a:r>
              <a:rPr sz="950" b="1" i="0" spc="60">
                <a:solidFill>
                  <a:srgbClr val="FFFFFF"/>
                </a:solidFill>
                <a:latin typeface="Aptos"/>
              </a:rPr>
              <a:t>ENTERPRISE ON-PREM</a:t>
            </a:r>
          </a:p>
        </p:txBody>
      </p:sp>
      <p:sp>
        <p:nvSpPr>
          <p:cNvPr id="27" name="TextBox 26"/>
          <p:cNvSpPr txBox="1"/>
          <p:nvPr/>
        </p:nvSpPr>
        <p:spPr>
          <a:xfrm>
            <a:off x="6373368" y="2596896"/>
            <a:ext cx="2212848" cy="310896"/>
          </a:xfrm>
          <a:prstGeom prst="rect">
            <a:avLst/>
          </a:prstGeom>
          <a:noFill/>
        </p:spPr>
        <p:txBody>
          <a:bodyPr wrap="square" lIns="0" rIns="0" tIns="0" bIns="0" anchor="t">
            <a:spAutoFit/>
          </a:bodyPr>
          <a:lstStyle/>
          <a:p>
            <a:pPr algn="l">
              <a:lnSpc>
                <a:spcPct val="120000"/>
              </a:lnSpc>
            </a:pPr>
            <a:r>
              <a:rPr sz="740" b="1" i="0">
                <a:solidFill>
                  <a:srgbClr val="64748B"/>
                </a:solidFill>
                <a:latin typeface="Aptos"/>
              </a:rPr>
              <a:t>Private VPC · self-hosted vector DB</a:t>
            </a:r>
          </a:p>
        </p:txBody>
      </p:sp>
      <p:sp>
        <p:nvSpPr>
          <p:cNvPr id="28" name="Rectangle 27"/>
          <p:cNvSpPr/>
          <p:nvPr/>
        </p:nvSpPr>
        <p:spPr>
          <a:xfrm>
            <a:off x="6373368" y="2980944"/>
            <a:ext cx="2212848"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TextBox 28"/>
          <p:cNvSpPr txBox="1"/>
          <p:nvPr/>
        </p:nvSpPr>
        <p:spPr>
          <a:xfrm>
            <a:off x="6373368" y="3127248"/>
            <a:ext cx="2212848" cy="1097280"/>
          </a:xfrm>
          <a:prstGeom prst="rect">
            <a:avLst/>
          </a:prstGeom>
          <a:noFill/>
        </p:spPr>
        <p:txBody>
          <a:bodyPr wrap="square" lIns="0" rIns="0" tIns="0" bIns="0" anchor="t">
            <a:spAutoFit/>
          </a:bodyPr>
          <a:lstStyle/>
          <a:p>
            <a:pPr algn="l">
              <a:lnSpc>
                <a:spcPct val="130000"/>
              </a:lnSpc>
            </a:pPr>
            <a:r>
              <a:rPr sz="880" b="0" i="0">
                <a:solidFill>
                  <a:srgbClr val="94A3B8"/>
                </a:solidFill>
                <a:latin typeface="Aptos"/>
              </a:rPr>
              <a:t>Works, at the cost of a cluster, a security review and a budget. Nothing an individual can deploy.</a:t>
            </a:r>
          </a:p>
        </p:txBody>
      </p:sp>
      <p:sp>
        <p:nvSpPr>
          <p:cNvPr id="30" name="Rectangle 29"/>
          <p:cNvSpPr/>
          <p:nvPr/>
        </p:nvSpPr>
        <p:spPr>
          <a:xfrm>
            <a:off x="6373368" y="4224528"/>
            <a:ext cx="2212848"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TextBox 30"/>
          <p:cNvSpPr txBox="1"/>
          <p:nvPr/>
        </p:nvSpPr>
        <p:spPr>
          <a:xfrm>
            <a:off x="6373368" y="4370832"/>
            <a:ext cx="2212848" cy="566928"/>
          </a:xfrm>
          <a:prstGeom prst="rect">
            <a:avLst/>
          </a:prstGeom>
          <a:noFill/>
        </p:spPr>
        <p:txBody>
          <a:bodyPr wrap="square" lIns="0" rIns="0" tIns="0" bIns="0" anchor="t">
            <a:spAutoFit/>
          </a:bodyPr>
          <a:lstStyle/>
          <a:p>
            <a:pPr algn="l">
              <a:lnSpc>
                <a:spcPct val="126000"/>
              </a:lnSpc>
            </a:pPr>
            <a:r>
              <a:rPr sz="840" b="0" i="1">
                <a:solidFill>
                  <a:srgbClr val="FFFFFF"/>
                </a:solidFill>
                <a:latin typeface="Aptos"/>
              </a:rPr>
              <a:t>Right answer for a company, not a person.</a:t>
            </a:r>
          </a:p>
        </p:txBody>
      </p:sp>
      <p:sp>
        <p:nvSpPr>
          <p:cNvPr id="32" name="Rounded Rectangle 31"/>
          <p:cNvSpPr/>
          <p:nvPr/>
        </p:nvSpPr>
        <p:spPr>
          <a:xfrm>
            <a:off x="8961119" y="2157984"/>
            <a:ext cx="2615184" cy="2926080"/>
          </a:xfrm>
          <a:prstGeom prst="roundRect">
            <a:avLst>
              <a:gd name="adj" fmla="val 2097"/>
            </a:avLst>
          </a:prstGeom>
          <a:solidFill>
            <a:srgbClr val="10192E"/>
          </a:solidFill>
          <a:ln w="889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Rectangle 32"/>
          <p:cNvSpPr/>
          <p:nvPr/>
        </p:nvSpPr>
        <p:spPr>
          <a:xfrm>
            <a:off x="8961119" y="2157984"/>
            <a:ext cx="2615184" cy="3291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TextBox 33"/>
          <p:cNvSpPr txBox="1"/>
          <p:nvPr/>
        </p:nvSpPr>
        <p:spPr>
          <a:xfrm>
            <a:off x="9162288" y="2359152"/>
            <a:ext cx="2212848" cy="201168"/>
          </a:xfrm>
          <a:prstGeom prst="rect">
            <a:avLst/>
          </a:prstGeom>
          <a:noFill/>
        </p:spPr>
        <p:txBody>
          <a:bodyPr wrap="square" lIns="0" rIns="0" tIns="0" bIns="0" anchor="t">
            <a:spAutoFit/>
          </a:bodyPr>
          <a:lstStyle/>
          <a:p>
            <a:pPr algn="l"/>
            <a:r>
              <a:rPr sz="950" b="1" i="0" spc="60">
                <a:solidFill>
                  <a:srgbClr val="FFFFFF"/>
                </a:solidFill>
                <a:latin typeface="Aptos"/>
              </a:rPr>
              <a:t>BROWSER / WASM RAG</a:t>
            </a:r>
          </a:p>
        </p:txBody>
      </p:sp>
      <p:sp>
        <p:nvSpPr>
          <p:cNvPr id="35" name="TextBox 34"/>
          <p:cNvSpPr txBox="1"/>
          <p:nvPr/>
        </p:nvSpPr>
        <p:spPr>
          <a:xfrm>
            <a:off x="9162288" y="2596896"/>
            <a:ext cx="2212848" cy="310896"/>
          </a:xfrm>
          <a:prstGeom prst="rect">
            <a:avLst/>
          </a:prstGeom>
          <a:noFill/>
        </p:spPr>
        <p:txBody>
          <a:bodyPr wrap="square" lIns="0" rIns="0" tIns="0" bIns="0" anchor="t">
            <a:spAutoFit/>
          </a:bodyPr>
          <a:lstStyle/>
          <a:p>
            <a:pPr algn="l">
              <a:lnSpc>
                <a:spcPct val="120000"/>
              </a:lnSpc>
            </a:pPr>
            <a:r>
              <a:rPr sz="740" b="1" i="0">
                <a:solidFill>
                  <a:srgbClr val="64748B"/>
                </a:solidFill>
                <a:latin typeface="Aptos"/>
              </a:rPr>
              <a:t>WebLLM · transformers.js</a:t>
            </a:r>
          </a:p>
        </p:txBody>
      </p:sp>
      <p:sp>
        <p:nvSpPr>
          <p:cNvPr id="36" name="Rectangle 35"/>
          <p:cNvSpPr/>
          <p:nvPr/>
        </p:nvSpPr>
        <p:spPr>
          <a:xfrm>
            <a:off x="9162288" y="2980944"/>
            <a:ext cx="2212848"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TextBox 36"/>
          <p:cNvSpPr txBox="1"/>
          <p:nvPr/>
        </p:nvSpPr>
        <p:spPr>
          <a:xfrm>
            <a:off x="9162288" y="3127248"/>
            <a:ext cx="2212848" cy="1097280"/>
          </a:xfrm>
          <a:prstGeom prst="rect">
            <a:avLst/>
          </a:prstGeom>
          <a:noFill/>
        </p:spPr>
        <p:txBody>
          <a:bodyPr wrap="square" lIns="0" rIns="0" tIns="0" bIns="0" anchor="t">
            <a:spAutoFit/>
          </a:bodyPr>
          <a:lstStyle/>
          <a:p>
            <a:pPr algn="l">
              <a:lnSpc>
                <a:spcPct val="130000"/>
              </a:lnSpc>
            </a:pPr>
            <a:r>
              <a:rPr sz="880" b="0" i="0">
                <a:solidFill>
                  <a:srgbClr val="94A3B8"/>
                </a:solidFill>
                <a:latin typeface="Aptos"/>
              </a:rPr>
              <a:t>Data stays in the tab, but so does the ceiling - small models, cold caches, and no access to the NPU.</a:t>
            </a:r>
          </a:p>
        </p:txBody>
      </p:sp>
      <p:sp>
        <p:nvSpPr>
          <p:cNvPr id="38" name="Rectangle 37"/>
          <p:cNvSpPr/>
          <p:nvPr/>
        </p:nvSpPr>
        <p:spPr>
          <a:xfrm>
            <a:off x="9162288" y="4224528"/>
            <a:ext cx="2212848"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TextBox 38"/>
          <p:cNvSpPr txBox="1"/>
          <p:nvPr/>
        </p:nvSpPr>
        <p:spPr>
          <a:xfrm>
            <a:off x="9162288" y="4370832"/>
            <a:ext cx="2212848" cy="566928"/>
          </a:xfrm>
          <a:prstGeom prst="rect">
            <a:avLst/>
          </a:prstGeom>
          <a:noFill/>
        </p:spPr>
        <p:txBody>
          <a:bodyPr wrap="square" lIns="0" rIns="0" tIns="0" bIns="0" anchor="t">
            <a:spAutoFit/>
          </a:bodyPr>
          <a:lstStyle/>
          <a:p>
            <a:pPr algn="l">
              <a:lnSpc>
                <a:spcPct val="126000"/>
              </a:lnSpc>
            </a:pPr>
            <a:r>
              <a:rPr sz="840" b="0" i="1">
                <a:solidFill>
                  <a:srgbClr val="FFFFFF"/>
                </a:solidFill>
                <a:latin typeface="Aptos"/>
              </a:rPr>
              <a:t>Private, but not capable enough to use.</a:t>
            </a:r>
          </a:p>
        </p:txBody>
      </p:sp>
      <p:sp>
        <p:nvSpPr>
          <p:cNvPr id="40" name="Rounded Rectangle 39"/>
          <p:cNvSpPr/>
          <p:nvPr/>
        </p:nvSpPr>
        <p:spPr>
          <a:xfrm>
            <a:off x="594360" y="5358384"/>
            <a:ext cx="11000232" cy="548640"/>
          </a:xfrm>
          <a:prstGeom prst="roundRect">
            <a:avLst>
              <a:gd name="adj" fmla="val 10000"/>
            </a:avLst>
          </a:prstGeom>
          <a:solidFill>
            <a:srgbClr val="10262E"/>
          </a:solidFill>
          <a:ln w="8890">
            <a:solidFill>
              <a:srgbClr val="144B3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TextBox 40"/>
          <p:cNvSpPr txBox="1"/>
          <p:nvPr/>
        </p:nvSpPr>
        <p:spPr>
          <a:xfrm>
            <a:off x="832104" y="5504688"/>
            <a:ext cx="10524744" cy="274320"/>
          </a:xfrm>
          <a:prstGeom prst="rect">
            <a:avLst/>
          </a:prstGeom>
          <a:noFill/>
        </p:spPr>
        <p:txBody>
          <a:bodyPr wrap="square" lIns="0" rIns="0" tIns="0" bIns="0">
            <a:spAutoFit/>
          </a:bodyPr>
          <a:lstStyle/>
          <a:p>
            <a:pPr algn="l">
              <a:lnSpc>
                <a:spcPct val="125000"/>
              </a:lnSpc>
            </a:pPr>
            <a:r>
              <a:rPr sz="950" b="1" i="0">
                <a:solidFill>
                  <a:srgbClr val="22C55E"/>
                </a:solidFill>
                <a:latin typeface="Aptos"/>
              </a:rPr>
              <a:t>The gap: </a:t>
            </a:r>
            <a:r>
              <a:rPr sz="950" b="0" i="0">
                <a:solidFill>
                  <a:srgbClr val="FFFFFF"/>
                </a:solidFill>
                <a:latin typeface="Aptos"/>
              </a:rPr>
              <a:t>nobody treats the phone as the trusted core. It is always the thin client asking a bigger machine for help - even though it holds the documents, the camera that captured them, and an idle NPU.</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TextBox 2"/>
          <p:cNvSpPr txBox="1"/>
          <p:nvPr/>
        </p:nvSpPr>
        <p:spPr>
          <a:xfrm>
            <a:off x="594360" y="347472"/>
            <a:ext cx="8778240" cy="219456"/>
          </a:xfrm>
          <a:prstGeom prst="rect">
            <a:avLst/>
          </a:prstGeom>
          <a:noFill/>
        </p:spPr>
        <p:txBody>
          <a:bodyPr wrap="square" lIns="0" rIns="0" tIns="0" bIns="0" anchor="t">
            <a:spAutoFit/>
          </a:bodyPr>
          <a:lstStyle/>
          <a:p>
            <a:pPr algn="l"/>
            <a:r>
              <a:rPr sz="850" b="1" i="0" spc="150">
                <a:solidFill>
                  <a:srgbClr val="64748B"/>
                </a:solidFill>
                <a:latin typeface="Aptos"/>
              </a:rPr>
              <a:t>03 · THE SOLUTION</a:t>
            </a:r>
          </a:p>
        </p:txBody>
      </p:sp>
      <p:sp>
        <p:nvSpPr>
          <p:cNvPr id="4" name="TextBox 3"/>
          <p:cNvSpPr txBox="1"/>
          <p:nvPr/>
        </p:nvSpPr>
        <p:spPr>
          <a:xfrm>
            <a:off x="594360" y="731520"/>
            <a:ext cx="11000232" cy="731520"/>
          </a:xfrm>
          <a:prstGeom prst="rect">
            <a:avLst/>
          </a:prstGeom>
          <a:noFill/>
        </p:spPr>
        <p:txBody>
          <a:bodyPr wrap="square" lIns="0" rIns="0" tIns="0" bIns="0" anchor="t">
            <a:spAutoFit/>
          </a:bodyPr>
          <a:lstStyle/>
          <a:p>
            <a:pPr algn="l">
              <a:lnSpc>
                <a:spcPct val="102000"/>
              </a:lnSpc>
            </a:pPr>
            <a:r>
              <a:rPr sz="2700" b="0" i="0">
                <a:solidFill>
                  <a:srgbClr val="FFFFFF"/>
                </a:solidFill>
                <a:latin typeface="Aptos Display"/>
              </a:rPr>
              <a:t>Invert the topology.</a:t>
            </a:r>
          </a:p>
        </p:txBody>
      </p:sp>
      <p:sp>
        <p:nvSpPr>
          <p:cNvPr id="5" name="TextBox 4"/>
          <p:cNvSpPr txBox="1"/>
          <p:nvPr/>
        </p:nvSpPr>
        <p:spPr>
          <a:xfrm>
            <a:off x="594360" y="1481328"/>
            <a:ext cx="10332720" cy="457200"/>
          </a:xfrm>
          <a:prstGeom prst="rect">
            <a:avLst/>
          </a:prstGeom>
          <a:noFill/>
        </p:spPr>
        <p:txBody>
          <a:bodyPr wrap="square" lIns="0" rIns="0" tIns="0" bIns="0" anchor="t">
            <a:spAutoFit/>
          </a:bodyPr>
          <a:lstStyle/>
          <a:p>
            <a:pPr algn="l">
              <a:lnSpc>
                <a:spcPct val="125000"/>
              </a:lnSpc>
            </a:pPr>
            <a:r>
              <a:rPr sz="1150" b="0" i="0">
                <a:solidFill>
                  <a:srgbClr val="94A3B8"/>
                </a:solidFill>
                <a:latin typeface="Aptos"/>
              </a:rPr>
              <a:t>Stop treating the phone as a thin client for the cloud. Treat it as a private inference appliance that happens to fit in your pocket.</a:t>
            </a:r>
          </a:p>
        </p:txBody>
      </p:sp>
      <p:sp>
        <p:nvSpPr>
          <p:cNvPr id="6" name="Rectangle 5"/>
          <p:cNvSpPr/>
          <p:nvPr/>
        </p:nvSpPr>
        <p:spPr>
          <a:xfrm>
            <a:off x="594360" y="6291072"/>
            <a:ext cx="11000232"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TextBox 6"/>
          <p:cNvSpPr txBox="1"/>
          <p:nvPr/>
        </p:nvSpPr>
        <p:spPr>
          <a:xfrm>
            <a:off x="10881360" y="6419088"/>
            <a:ext cx="713232" cy="201168"/>
          </a:xfrm>
          <a:prstGeom prst="rect">
            <a:avLst/>
          </a:prstGeom>
          <a:noFill/>
        </p:spPr>
        <p:txBody>
          <a:bodyPr wrap="square" lIns="0" rIns="0" tIns="0" bIns="0" anchor="t">
            <a:spAutoFit/>
          </a:bodyPr>
          <a:lstStyle/>
          <a:p>
            <a:pPr algn="r"/>
            <a:r>
              <a:rPr sz="850" b="1" i="0" spc="80">
                <a:solidFill>
                  <a:srgbClr val="64748B"/>
                </a:solidFill>
                <a:latin typeface="Aptos"/>
              </a:rPr>
              <a:t>03</a:t>
            </a:r>
          </a:p>
        </p:txBody>
      </p:sp>
      <p:sp>
        <p:nvSpPr>
          <p:cNvPr id="8" name="TextBox 7"/>
          <p:cNvSpPr txBox="1"/>
          <p:nvPr/>
        </p:nvSpPr>
        <p:spPr>
          <a:xfrm>
            <a:off x="594360" y="2157984"/>
            <a:ext cx="5120640" cy="201168"/>
          </a:xfrm>
          <a:prstGeom prst="rect">
            <a:avLst/>
          </a:prstGeom>
          <a:noFill/>
        </p:spPr>
        <p:txBody>
          <a:bodyPr wrap="square" lIns="0" rIns="0" tIns="0" bIns="0" anchor="t">
            <a:spAutoFit/>
          </a:bodyPr>
          <a:lstStyle/>
          <a:p>
            <a:pPr algn="l"/>
            <a:r>
              <a:rPr sz="800" b="1" i="0" spc="140">
                <a:solidFill>
                  <a:srgbClr val="DC2626"/>
                </a:solidFill>
                <a:latin typeface="Aptos"/>
              </a:rPr>
              <a:t>CONVENTIONAL - THE CORPUS TRAVELS</a:t>
            </a:r>
          </a:p>
        </p:txBody>
      </p:sp>
      <p:sp>
        <p:nvSpPr>
          <p:cNvPr id="9" name="Rounded Rectangle 8"/>
          <p:cNvSpPr/>
          <p:nvPr/>
        </p:nvSpPr>
        <p:spPr>
          <a:xfrm>
            <a:off x="594360" y="2432304"/>
            <a:ext cx="5349240" cy="1700784"/>
          </a:xfrm>
          <a:prstGeom prst="roundRect">
            <a:avLst>
              <a:gd name="adj" fmla="val 3225"/>
            </a:avLst>
          </a:prstGeom>
          <a:solidFill>
            <a:srgbClr val="10192E"/>
          </a:solidFill>
          <a:ln w="10160">
            <a:solidFill>
              <a:srgbClr val="401A2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Rounded Rectangle 9"/>
          <p:cNvSpPr/>
          <p:nvPr/>
        </p:nvSpPr>
        <p:spPr>
          <a:xfrm>
            <a:off x="868680" y="2688336"/>
            <a:ext cx="1298448" cy="676656"/>
          </a:xfrm>
          <a:prstGeom prst="roundRect">
            <a:avLst>
              <a:gd name="adj" fmla="val 8108"/>
            </a:avLst>
          </a:prstGeom>
          <a:solidFill>
            <a:srgbClr val="16213B"/>
          </a:solidFill>
          <a:ln w="762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TextBox 10"/>
          <p:cNvSpPr txBox="1"/>
          <p:nvPr/>
        </p:nvSpPr>
        <p:spPr>
          <a:xfrm>
            <a:off x="868680" y="2907792"/>
            <a:ext cx="1298448" cy="201168"/>
          </a:xfrm>
          <a:prstGeom prst="rect">
            <a:avLst/>
          </a:prstGeom>
          <a:noFill/>
        </p:spPr>
        <p:txBody>
          <a:bodyPr wrap="square" lIns="0" rIns="0" tIns="0" bIns="0" anchor="t">
            <a:spAutoFit/>
          </a:bodyPr>
          <a:lstStyle/>
          <a:p>
            <a:pPr algn="ctr"/>
            <a:r>
              <a:rPr sz="760" b="1" i="0" spc="60">
                <a:solidFill>
                  <a:srgbClr val="FFFFFF"/>
                </a:solidFill>
                <a:latin typeface="Aptos"/>
              </a:rPr>
              <a:t>YOUR DEVICE</a:t>
            </a:r>
          </a:p>
        </p:txBody>
      </p:sp>
      <p:sp>
        <p:nvSpPr>
          <p:cNvPr id="12" name="Rounded Rectangle 11"/>
          <p:cNvSpPr/>
          <p:nvPr/>
        </p:nvSpPr>
        <p:spPr>
          <a:xfrm>
            <a:off x="4306824" y="2688336"/>
            <a:ext cx="1298448" cy="676656"/>
          </a:xfrm>
          <a:prstGeom prst="roundRect">
            <a:avLst>
              <a:gd name="adj" fmla="val 8108"/>
            </a:avLst>
          </a:prstGeom>
          <a:solidFill>
            <a:srgbClr val="271829"/>
          </a:solidFill>
          <a:ln w="8890">
            <a:solidFill>
              <a:srgbClr val="581C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3" name="TextBox 12"/>
          <p:cNvSpPr txBox="1"/>
          <p:nvPr/>
        </p:nvSpPr>
        <p:spPr>
          <a:xfrm>
            <a:off x="4306824" y="2907792"/>
            <a:ext cx="1298448" cy="201168"/>
          </a:xfrm>
          <a:prstGeom prst="rect">
            <a:avLst/>
          </a:prstGeom>
          <a:noFill/>
        </p:spPr>
        <p:txBody>
          <a:bodyPr wrap="square" lIns="0" rIns="0" tIns="0" bIns="0" anchor="t">
            <a:spAutoFit/>
          </a:bodyPr>
          <a:lstStyle/>
          <a:p>
            <a:pPr algn="ctr"/>
            <a:r>
              <a:rPr sz="760" b="1" i="0" spc="60">
                <a:solidFill>
                  <a:srgbClr val="DC2626"/>
                </a:solidFill>
                <a:latin typeface="Aptos"/>
              </a:rPr>
              <a:t>THE SERVER</a:t>
            </a:r>
          </a:p>
        </p:txBody>
      </p:sp>
      <p:cxnSp>
        <p:nvCxnSpPr>
          <p:cNvPr id="14" name="Connector 13"/>
          <p:cNvCxnSpPr/>
          <p:nvPr/>
        </p:nvCxnSpPr>
        <p:spPr>
          <a:xfrm>
            <a:off x="2258568" y="3026664"/>
            <a:ext cx="1956816" cy="0"/>
          </a:xfrm>
          <a:prstGeom prst="line">
            <a:avLst/>
          </a:prstGeom>
          <a:ln w="15240">
            <a:solidFill>
              <a:srgbClr val="DC2626"/>
            </a:solidFill>
          </a:ln>
          <a:effectLst/>
        </p:spPr>
        <p:style>
          <a:lnRef idx="2">
            <a:schemeClr val="accent1"/>
          </a:lnRef>
          <a:fillRef idx="0">
            <a:schemeClr val="accent1"/>
          </a:fillRef>
          <a:effectRef idx="1">
            <a:schemeClr val="accent1"/>
          </a:effectRef>
          <a:fontRef idx="minor">
            <a:schemeClr val="tx1"/>
          </a:fontRef>
        </p:style>
      </p:cxnSp>
      <p:sp>
        <p:nvSpPr>
          <p:cNvPr id="15" name="Freeform 14"/>
          <p:cNvSpPr/>
          <p:nvPr/>
        </p:nvSpPr>
        <p:spPr>
          <a:xfrm>
            <a:off x="4133088" y="2969971"/>
            <a:ext cx="82296" cy="113385"/>
          </a:xfrm>
          <a:custGeom>
            <a:avLst/>
            <a:gdLst/>
            <a:ahLst/>
            <a:cxnLst/>
            <a:rect l="l" t="t" r="r" b="b"/>
            <a:pathLst>
              <a:path w="82296" h="113385">
                <a:moveTo>
                  <a:pt x="0" y="0"/>
                </a:moveTo>
                <a:lnTo>
                  <a:pt x="82296" y="56693"/>
                </a:lnTo>
                <a:lnTo>
                  <a:pt x="0" y="113385"/>
                </a:lnTo>
              </a:path>
            </a:pathLst>
          </a:custGeom>
          <a:noFill/>
          <a:ln w="1524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002536" y="2660904"/>
            <a:ext cx="2468880" cy="182880"/>
          </a:xfrm>
          <a:prstGeom prst="rect">
            <a:avLst/>
          </a:prstGeom>
          <a:noFill/>
        </p:spPr>
        <p:txBody>
          <a:bodyPr wrap="square" lIns="0" rIns="0" tIns="0" bIns="0" anchor="t">
            <a:spAutoFit/>
          </a:bodyPr>
          <a:lstStyle/>
          <a:p>
            <a:pPr algn="ctr"/>
            <a:r>
              <a:rPr sz="800" b="1" i="0" spc="80">
                <a:solidFill>
                  <a:srgbClr val="DC2626"/>
                </a:solidFill>
                <a:latin typeface="Aptos"/>
              </a:rPr>
              <a:t>ENTIRE CORPUS</a:t>
            </a:r>
          </a:p>
        </p:txBody>
      </p:sp>
      <p:sp>
        <p:nvSpPr>
          <p:cNvPr id="17" name="TextBox 16"/>
          <p:cNvSpPr txBox="1"/>
          <p:nvPr/>
        </p:nvSpPr>
        <p:spPr>
          <a:xfrm>
            <a:off x="2002536" y="2834640"/>
            <a:ext cx="2468880" cy="164592"/>
          </a:xfrm>
          <a:prstGeom prst="rect">
            <a:avLst/>
          </a:prstGeom>
          <a:noFill/>
        </p:spPr>
        <p:txBody>
          <a:bodyPr wrap="square" lIns="0" rIns="0" tIns="0" bIns="0" anchor="t">
            <a:spAutoFit/>
          </a:bodyPr>
          <a:lstStyle/>
          <a:p>
            <a:pPr algn="ctr"/>
            <a:r>
              <a:rPr sz="720" b="0" i="0">
                <a:solidFill>
                  <a:srgbClr val="64748B"/>
                </a:solidFill>
                <a:latin typeface="Aptos"/>
              </a:rPr>
              <a:t>gigabytes, plaintext</a:t>
            </a:r>
          </a:p>
        </p:txBody>
      </p:sp>
      <p:sp>
        <p:nvSpPr>
          <p:cNvPr id="18" name="TextBox 17"/>
          <p:cNvSpPr txBox="1"/>
          <p:nvPr/>
        </p:nvSpPr>
        <p:spPr>
          <a:xfrm>
            <a:off x="868680" y="3529584"/>
            <a:ext cx="4800600" cy="438912"/>
          </a:xfrm>
          <a:prstGeom prst="rect">
            <a:avLst/>
          </a:prstGeom>
          <a:noFill/>
        </p:spPr>
        <p:txBody>
          <a:bodyPr wrap="square" lIns="0" rIns="0" tIns="0" bIns="0" anchor="t">
            <a:spAutoFit/>
          </a:bodyPr>
          <a:lstStyle/>
          <a:p>
            <a:pPr algn="l">
              <a:lnSpc>
                <a:spcPct val="126000"/>
              </a:lnSpc>
            </a:pPr>
            <a:r>
              <a:rPr sz="880" b="0" i="0">
                <a:solidFill>
                  <a:srgbClr val="94A3B8"/>
                </a:solidFill>
                <a:latin typeface="Aptos"/>
              </a:rPr>
              <a:t>Everything you own is copied to infrastructure you do not control, and has to be readable once it arrives.</a:t>
            </a:r>
          </a:p>
        </p:txBody>
      </p:sp>
      <p:sp>
        <p:nvSpPr>
          <p:cNvPr id="19" name="TextBox 18"/>
          <p:cNvSpPr txBox="1"/>
          <p:nvPr/>
        </p:nvSpPr>
        <p:spPr>
          <a:xfrm>
            <a:off x="6382512" y="2157984"/>
            <a:ext cx="5212080" cy="201168"/>
          </a:xfrm>
          <a:prstGeom prst="rect">
            <a:avLst/>
          </a:prstGeom>
          <a:noFill/>
        </p:spPr>
        <p:txBody>
          <a:bodyPr wrap="square" lIns="0" rIns="0" tIns="0" bIns="0" anchor="t">
            <a:spAutoFit/>
          </a:bodyPr>
          <a:lstStyle/>
          <a:p>
            <a:pPr algn="l"/>
            <a:r>
              <a:rPr sz="800" b="1" i="0" spc="140">
                <a:solidFill>
                  <a:srgbClr val="22C55E"/>
                </a:solidFill>
                <a:latin typeface="Aptos"/>
              </a:rPr>
              <a:t>VAULT - ONLY THE QUESTION TRAVELS</a:t>
            </a:r>
          </a:p>
        </p:txBody>
      </p:sp>
      <p:sp>
        <p:nvSpPr>
          <p:cNvPr id="20" name="Rounded Rectangle 19"/>
          <p:cNvSpPr/>
          <p:nvPr/>
        </p:nvSpPr>
        <p:spPr>
          <a:xfrm>
            <a:off x="6382512" y="2432304"/>
            <a:ext cx="5212080" cy="1700784"/>
          </a:xfrm>
          <a:prstGeom prst="roundRect">
            <a:avLst>
              <a:gd name="adj" fmla="val 3225"/>
            </a:avLst>
          </a:prstGeom>
          <a:solidFill>
            <a:srgbClr val="10192E"/>
          </a:solidFill>
          <a:ln w="10160">
            <a:solidFill>
              <a:srgbClr val="144B3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Rounded Rectangle 20"/>
          <p:cNvSpPr/>
          <p:nvPr/>
        </p:nvSpPr>
        <p:spPr>
          <a:xfrm>
            <a:off x="6638544" y="2688336"/>
            <a:ext cx="1298448" cy="676656"/>
          </a:xfrm>
          <a:prstGeom prst="roundRect">
            <a:avLst>
              <a:gd name="adj" fmla="val 8108"/>
            </a:avLst>
          </a:prstGeom>
          <a:solidFill>
            <a:srgbClr val="112B30"/>
          </a:solidFill>
          <a:ln w="8890">
            <a:solidFill>
              <a:srgbClr val="165C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TextBox 21"/>
          <p:cNvSpPr txBox="1"/>
          <p:nvPr/>
        </p:nvSpPr>
        <p:spPr>
          <a:xfrm>
            <a:off x="6638544" y="2834640"/>
            <a:ext cx="1298448" cy="182880"/>
          </a:xfrm>
          <a:prstGeom prst="rect">
            <a:avLst/>
          </a:prstGeom>
          <a:noFill/>
        </p:spPr>
        <p:txBody>
          <a:bodyPr wrap="square" lIns="0" rIns="0" tIns="0" bIns="0" anchor="t">
            <a:spAutoFit/>
          </a:bodyPr>
          <a:lstStyle/>
          <a:p>
            <a:pPr algn="ctr"/>
            <a:r>
              <a:rPr sz="760" b="1" i="0" spc="60">
                <a:solidFill>
                  <a:srgbClr val="22C55E"/>
                </a:solidFill>
                <a:latin typeface="Aptos"/>
              </a:rPr>
              <a:t>PHONE</a:t>
            </a:r>
          </a:p>
        </p:txBody>
      </p:sp>
      <p:sp>
        <p:nvSpPr>
          <p:cNvPr id="23" name="TextBox 22"/>
          <p:cNvSpPr txBox="1"/>
          <p:nvPr/>
        </p:nvSpPr>
        <p:spPr>
          <a:xfrm>
            <a:off x="6638544" y="3017520"/>
            <a:ext cx="1298448" cy="164592"/>
          </a:xfrm>
          <a:prstGeom prst="rect">
            <a:avLst/>
          </a:prstGeom>
          <a:noFill/>
        </p:spPr>
        <p:txBody>
          <a:bodyPr wrap="square" lIns="0" rIns="0" tIns="0" bIns="0" anchor="t">
            <a:spAutoFit/>
          </a:bodyPr>
          <a:lstStyle/>
          <a:p>
            <a:pPr algn="ctr"/>
            <a:r>
              <a:rPr sz="660" b="0" i="0">
                <a:solidFill>
                  <a:srgbClr val="64748B"/>
                </a:solidFill>
                <a:latin typeface="Aptos"/>
              </a:rPr>
              <a:t>trusted core</a:t>
            </a:r>
          </a:p>
        </p:txBody>
      </p:sp>
      <p:sp>
        <p:nvSpPr>
          <p:cNvPr id="24" name="Rounded Rectangle 23"/>
          <p:cNvSpPr/>
          <p:nvPr/>
        </p:nvSpPr>
        <p:spPr>
          <a:xfrm>
            <a:off x="10003536" y="2688336"/>
            <a:ext cx="1298448" cy="676656"/>
          </a:xfrm>
          <a:prstGeom prst="roundRect">
            <a:avLst>
              <a:gd name="adj" fmla="val 8108"/>
            </a:avLst>
          </a:prstGeom>
          <a:solidFill>
            <a:srgbClr val="16213B"/>
          </a:solidFill>
          <a:ln w="762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TextBox 24"/>
          <p:cNvSpPr txBox="1"/>
          <p:nvPr/>
        </p:nvSpPr>
        <p:spPr>
          <a:xfrm>
            <a:off x="10003536" y="2834640"/>
            <a:ext cx="1298448" cy="182880"/>
          </a:xfrm>
          <a:prstGeom prst="rect">
            <a:avLst/>
          </a:prstGeom>
          <a:noFill/>
        </p:spPr>
        <p:txBody>
          <a:bodyPr wrap="square" lIns="0" rIns="0" tIns="0" bIns="0" anchor="t">
            <a:spAutoFit/>
          </a:bodyPr>
          <a:lstStyle/>
          <a:p>
            <a:pPr algn="ctr"/>
            <a:r>
              <a:rPr sz="760" b="1" i="0" spc="60">
                <a:solidFill>
                  <a:srgbClr val="FFFFFF"/>
                </a:solidFill>
                <a:latin typeface="Aptos"/>
              </a:rPr>
              <a:t>LAPTOP</a:t>
            </a:r>
          </a:p>
        </p:txBody>
      </p:sp>
      <p:sp>
        <p:nvSpPr>
          <p:cNvPr id="26" name="TextBox 25"/>
          <p:cNvSpPr txBox="1"/>
          <p:nvPr/>
        </p:nvSpPr>
        <p:spPr>
          <a:xfrm>
            <a:off x="10003536" y="3017520"/>
            <a:ext cx="1298448" cy="164592"/>
          </a:xfrm>
          <a:prstGeom prst="rect">
            <a:avLst/>
          </a:prstGeom>
          <a:noFill/>
        </p:spPr>
        <p:txBody>
          <a:bodyPr wrap="square" lIns="0" rIns="0" tIns="0" bIns="0" anchor="t">
            <a:spAutoFit/>
          </a:bodyPr>
          <a:lstStyle/>
          <a:p>
            <a:pPr algn="ctr"/>
            <a:r>
              <a:rPr sz="660" b="0" i="0">
                <a:solidFill>
                  <a:srgbClr val="64748B"/>
                </a:solidFill>
                <a:latin typeface="Aptos"/>
              </a:rPr>
              <a:t>the edge</a:t>
            </a:r>
          </a:p>
        </p:txBody>
      </p:sp>
      <p:cxnSp>
        <p:nvCxnSpPr>
          <p:cNvPr id="27" name="Connector 26"/>
          <p:cNvCxnSpPr/>
          <p:nvPr/>
        </p:nvCxnSpPr>
        <p:spPr>
          <a:xfrm flipH="1">
            <a:off x="8028431" y="2871216"/>
            <a:ext cx="1901953" cy="0"/>
          </a:xfrm>
          <a:prstGeom prst="line">
            <a:avLst/>
          </a:prstGeom>
          <a:ln w="15240">
            <a:solidFill>
              <a:srgbClr val="94A3B8"/>
            </a:solidFill>
          </a:ln>
          <a:effectLst/>
        </p:spPr>
        <p:style>
          <a:lnRef idx="2">
            <a:schemeClr val="accent1"/>
          </a:lnRef>
          <a:fillRef idx="0">
            <a:schemeClr val="accent1"/>
          </a:fillRef>
          <a:effectRef idx="1">
            <a:schemeClr val="accent1"/>
          </a:effectRef>
          <a:fontRef idx="minor">
            <a:schemeClr val="tx1"/>
          </a:fontRef>
        </p:style>
      </p:cxnSp>
      <p:sp>
        <p:nvSpPr>
          <p:cNvPr id="28" name="Freeform 27"/>
          <p:cNvSpPr/>
          <p:nvPr/>
        </p:nvSpPr>
        <p:spPr>
          <a:xfrm>
            <a:off x="8028431" y="2814523"/>
            <a:ext cx="82296" cy="113385"/>
          </a:xfrm>
          <a:custGeom>
            <a:avLst/>
            <a:gdLst/>
            <a:ahLst/>
            <a:cxnLst/>
            <a:rect l="l" t="t" r="r" b="b"/>
            <a:pathLst>
              <a:path w="82296" h="113385">
                <a:moveTo>
                  <a:pt x="82296" y="0"/>
                </a:moveTo>
                <a:lnTo>
                  <a:pt x="0" y="56693"/>
                </a:lnTo>
                <a:lnTo>
                  <a:pt x="82296" y="113385"/>
                </a:lnTo>
              </a:path>
            </a:pathLst>
          </a:custGeom>
          <a:noFill/>
          <a:ln w="15240">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44968" y="2505456"/>
            <a:ext cx="2468880" cy="182880"/>
          </a:xfrm>
          <a:prstGeom prst="rect">
            <a:avLst/>
          </a:prstGeom>
          <a:noFill/>
        </p:spPr>
        <p:txBody>
          <a:bodyPr wrap="square" lIns="0" rIns="0" tIns="0" bIns="0" anchor="t">
            <a:spAutoFit/>
          </a:bodyPr>
          <a:lstStyle/>
          <a:p>
            <a:pPr algn="ctr"/>
            <a:r>
              <a:rPr sz="800" b="1" i="0" spc="80">
                <a:solidFill>
                  <a:srgbClr val="94A3B8"/>
                </a:solidFill>
                <a:latin typeface="Aptos"/>
              </a:rPr>
              <a:t>QUESTION</a:t>
            </a:r>
          </a:p>
        </p:txBody>
      </p:sp>
      <p:sp>
        <p:nvSpPr>
          <p:cNvPr id="30" name="TextBox 29"/>
          <p:cNvSpPr txBox="1"/>
          <p:nvPr/>
        </p:nvSpPr>
        <p:spPr>
          <a:xfrm>
            <a:off x="7744968" y="2679192"/>
            <a:ext cx="2468880" cy="164592"/>
          </a:xfrm>
          <a:prstGeom prst="rect">
            <a:avLst/>
          </a:prstGeom>
          <a:noFill/>
        </p:spPr>
        <p:txBody>
          <a:bodyPr wrap="square" lIns="0" rIns="0" tIns="0" bIns="0" anchor="t">
            <a:spAutoFit/>
          </a:bodyPr>
          <a:lstStyle/>
          <a:p>
            <a:pPr algn="ctr"/>
            <a:r>
              <a:rPr sz="720" b="0" i="0">
                <a:solidFill>
                  <a:srgbClr val="64748B"/>
                </a:solidFill>
                <a:latin typeface="Aptos"/>
              </a:rPr>
              <a:t>~40 tokens</a:t>
            </a:r>
          </a:p>
        </p:txBody>
      </p:sp>
      <p:cxnSp>
        <p:nvCxnSpPr>
          <p:cNvPr id="31" name="Connector 30"/>
          <p:cNvCxnSpPr/>
          <p:nvPr/>
        </p:nvCxnSpPr>
        <p:spPr>
          <a:xfrm>
            <a:off x="8028431" y="3218688"/>
            <a:ext cx="1901953" cy="0"/>
          </a:xfrm>
          <a:prstGeom prst="line">
            <a:avLst/>
          </a:prstGeom>
          <a:ln w="15240">
            <a:solidFill>
              <a:srgbClr val="22C55E"/>
            </a:solidFill>
          </a:ln>
          <a:effectLst/>
        </p:spPr>
        <p:style>
          <a:lnRef idx="2">
            <a:schemeClr val="accent1"/>
          </a:lnRef>
          <a:fillRef idx="0">
            <a:schemeClr val="accent1"/>
          </a:fillRef>
          <a:effectRef idx="1">
            <a:schemeClr val="accent1"/>
          </a:effectRef>
          <a:fontRef idx="minor">
            <a:schemeClr val="tx1"/>
          </a:fontRef>
        </p:style>
      </p:cxnSp>
      <p:sp>
        <p:nvSpPr>
          <p:cNvPr id="32" name="Freeform 31"/>
          <p:cNvSpPr/>
          <p:nvPr/>
        </p:nvSpPr>
        <p:spPr>
          <a:xfrm>
            <a:off x="9848088" y="3161995"/>
            <a:ext cx="82296" cy="113385"/>
          </a:xfrm>
          <a:custGeom>
            <a:avLst/>
            <a:gdLst/>
            <a:ahLst/>
            <a:cxnLst/>
            <a:rect l="l" t="t" r="r" b="b"/>
            <a:pathLst>
              <a:path w="82296" h="113385">
                <a:moveTo>
                  <a:pt x="0" y="0"/>
                </a:moveTo>
                <a:lnTo>
                  <a:pt x="82296" y="56693"/>
                </a:lnTo>
                <a:lnTo>
                  <a:pt x="0" y="113385"/>
                </a:lnTo>
              </a:path>
            </a:pathLst>
          </a:custGeom>
          <a:noFill/>
          <a:ln w="1524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44968" y="3328416"/>
            <a:ext cx="2468880" cy="182880"/>
          </a:xfrm>
          <a:prstGeom prst="rect">
            <a:avLst/>
          </a:prstGeom>
          <a:noFill/>
        </p:spPr>
        <p:txBody>
          <a:bodyPr wrap="square" lIns="0" rIns="0" tIns="0" bIns="0" anchor="t">
            <a:spAutoFit/>
          </a:bodyPr>
          <a:lstStyle/>
          <a:p>
            <a:pPr algn="ctr"/>
            <a:r>
              <a:rPr sz="800" b="1" i="0" spc="80">
                <a:solidFill>
                  <a:srgbClr val="22C55E"/>
                </a:solidFill>
                <a:latin typeface="Aptos"/>
              </a:rPr>
              <a:t>TOP PASSAGES</a:t>
            </a:r>
          </a:p>
        </p:txBody>
      </p:sp>
      <p:sp>
        <p:nvSpPr>
          <p:cNvPr id="34" name="TextBox 33"/>
          <p:cNvSpPr txBox="1"/>
          <p:nvPr/>
        </p:nvSpPr>
        <p:spPr>
          <a:xfrm>
            <a:off x="7744968" y="3502152"/>
            <a:ext cx="2468880" cy="164592"/>
          </a:xfrm>
          <a:prstGeom prst="rect">
            <a:avLst/>
          </a:prstGeom>
          <a:noFill/>
        </p:spPr>
        <p:txBody>
          <a:bodyPr wrap="square" lIns="0" rIns="0" tIns="0" bIns="0" anchor="t">
            <a:spAutoFit/>
          </a:bodyPr>
          <a:lstStyle/>
          <a:p>
            <a:pPr algn="ctr"/>
            <a:r>
              <a:rPr sz="720" b="0" i="0">
                <a:solidFill>
                  <a:srgbClr val="64748B"/>
                </a:solidFill>
                <a:latin typeface="Aptos"/>
              </a:rPr>
              <a:t>~800 tokens</a:t>
            </a:r>
          </a:p>
        </p:txBody>
      </p:sp>
      <p:sp>
        <p:nvSpPr>
          <p:cNvPr id="35" name="TextBox 34"/>
          <p:cNvSpPr txBox="1"/>
          <p:nvPr/>
        </p:nvSpPr>
        <p:spPr>
          <a:xfrm>
            <a:off x="6638544" y="3712463"/>
            <a:ext cx="4700016" cy="329184"/>
          </a:xfrm>
          <a:prstGeom prst="rect">
            <a:avLst/>
          </a:prstGeom>
          <a:noFill/>
        </p:spPr>
        <p:txBody>
          <a:bodyPr wrap="square" lIns="0" rIns="0" tIns="0" bIns="0" anchor="t">
            <a:spAutoFit/>
          </a:bodyPr>
          <a:lstStyle/>
          <a:p>
            <a:pPr algn="l">
              <a:lnSpc>
                <a:spcPct val="126000"/>
              </a:lnSpc>
            </a:pPr>
            <a:r>
              <a:rPr sz="880" b="0" i="0">
                <a:solidFill>
                  <a:srgbClr val="94A3B8"/>
                </a:solidFill>
                <a:latin typeface="Aptos"/>
              </a:rPr>
              <a:t>A gigabyte of private material stays put. A few hundred tokens of relevant context is all that moves.</a:t>
            </a:r>
          </a:p>
        </p:txBody>
      </p:sp>
      <p:sp>
        <p:nvSpPr>
          <p:cNvPr id="36" name="Rectangle 35"/>
          <p:cNvSpPr/>
          <p:nvPr/>
        </p:nvSpPr>
        <p:spPr>
          <a:xfrm>
            <a:off x="594360" y="4407408"/>
            <a:ext cx="11000232"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TextBox 36"/>
          <p:cNvSpPr txBox="1"/>
          <p:nvPr/>
        </p:nvSpPr>
        <p:spPr>
          <a:xfrm>
            <a:off x="594360" y="4572000"/>
            <a:ext cx="5486400" cy="201168"/>
          </a:xfrm>
          <a:prstGeom prst="rect">
            <a:avLst/>
          </a:prstGeom>
          <a:noFill/>
        </p:spPr>
        <p:txBody>
          <a:bodyPr wrap="square" lIns="0" rIns="0" tIns="0" bIns="0" anchor="t">
            <a:spAutoFit/>
          </a:bodyPr>
          <a:lstStyle/>
          <a:p>
            <a:pPr algn="l"/>
            <a:r>
              <a:rPr sz="800" b="1" i="0" spc="140">
                <a:solidFill>
                  <a:srgbClr val="64748B"/>
                </a:solidFill>
                <a:latin typeface="Aptos"/>
              </a:rPr>
              <a:t>WHAT THAT SEPARATION BUYS</a:t>
            </a:r>
          </a:p>
        </p:txBody>
      </p:sp>
      <p:sp>
        <p:nvSpPr>
          <p:cNvPr id="38" name="Rectangle 37"/>
          <p:cNvSpPr/>
          <p:nvPr/>
        </p:nvSpPr>
        <p:spPr>
          <a:xfrm>
            <a:off x="594360" y="4864608"/>
            <a:ext cx="32918" cy="969264"/>
          </a:xfrm>
          <a:prstGeom prst="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TextBox 38"/>
          <p:cNvSpPr txBox="1"/>
          <p:nvPr/>
        </p:nvSpPr>
        <p:spPr>
          <a:xfrm>
            <a:off x="758952" y="4864608"/>
            <a:ext cx="3346704" cy="219456"/>
          </a:xfrm>
          <a:prstGeom prst="rect">
            <a:avLst/>
          </a:prstGeom>
          <a:noFill/>
        </p:spPr>
        <p:txBody>
          <a:bodyPr wrap="square" lIns="0" rIns="0" tIns="0" bIns="0" anchor="t">
            <a:spAutoFit/>
          </a:bodyPr>
          <a:lstStyle/>
          <a:p>
            <a:pPr algn="l"/>
            <a:r>
              <a:rPr sz="960" b="1" i="0">
                <a:solidFill>
                  <a:srgbClr val="FFFFFF"/>
                </a:solidFill>
                <a:latin typeface="Aptos"/>
              </a:rPr>
              <a:t>Retrieval is private</a:t>
            </a:r>
          </a:p>
        </p:txBody>
      </p:sp>
      <p:sp>
        <p:nvSpPr>
          <p:cNvPr id="40" name="TextBox 39"/>
          <p:cNvSpPr txBox="1"/>
          <p:nvPr/>
        </p:nvSpPr>
        <p:spPr>
          <a:xfrm>
            <a:off x="758952" y="5120640"/>
            <a:ext cx="3346704" cy="731520"/>
          </a:xfrm>
          <a:prstGeom prst="rect">
            <a:avLst/>
          </a:prstGeom>
          <a:noFill/>
        </p:spPr>
        <p:txBody>
          <a:bodyPr wrap="square" lIns="0" rIns="0" tIns="0" bIns="0" anchor="t">
            <a:spAutoFit/>
          </a:bodyPr>
          <a:lstStyle/>
          <a:p>
            <a:pPr algn="l">
              <a:lnSpc>
                <a:spcPct val="128000"/>
              </a:lnSpc>
            </a:pPr>
            <a:r>
              <a:rPr sz="860" b="0" i="0">
                <a:solidFill>
                  <a:srgbClr val="94A3B8"/>
                </a:solidFill>
                <a:latin typeface="Aptos"/>
              </a:rPr>
              <a:t>The corpus, the index and the encoder never exist anywhere but the phone. Search happens entirely inside the vault.</a:t>
            </a:r>
          </a:p>
        </p:txBody>
      </p:sp>
      <p:sp>
        <p:nvSpPr>
          <p:cNvPr id="41" name="Rectangle 40"/>
          <p:cNvSpPr/>
          <p:nvPr/>
        </p:nvSpPr>
        <p:spPr>
          <a:xfrm>
            <a:off x="4315968" y="4864608"/>
            <a:ext cx="32918" cy="969264"/>
          </a:xfrm>
          <a:prstGeom prst="rect">
            <a:avLst/>
          </a:prstGeom>
          <a:solidFill>
            <a:srgbClr val="2A38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2" name="TextBox 41"/>
          <p:cNvSpPr txBox="1"/>
          <p:nvPr/>
        </p:nvSpPr>
        <p:spPr>
          <a:xfrm>
            <a:off x="4480560" y="4864608"/>
            <a:ext cx="3346704" cy="219456"/>
          </a:xfrm>
          <a:prstGeom prst="rect">
            <a:avLst/>
          </a:prstGeom>
          <a:noFill/>
        </p:spPr>
        <p:txBody>
          <a:bodyPr wrap="square" lIns="0" rIns="0" tIns="0" bIns="0" anchor="t">
            <a:spAutoFit/>
          </a:bodyPr>
          <a:lstStyle/>
          <a:p>
            <a:pPr algn="l"/>
            <a:r>
              <a:rPr sz="960" b="1" i="0">
                <a:solidFill>
                  <a:srgbClr val="FFFFFF"/>
                </a:solidFill>
                <a:latin typeface="Aptos"/>
              </a:rPr>
              <a:t>Generation is yours to choose</a:t>
            </a:r>
          </a:p>
        </p:txBody>
      </p:sp>
      <p:sp>
        <p:nvSpPr>
          <p:cNvPr id="43" name="TextBox 42"/>
          <p:cNvSpPr txBox="1"/>
          <p:nvPr/>
        </p:nvSpPr>
        <p:spPr>
          <a:xfrm>
            <a:off x="4480560" y="5120640"/>
            <a:ext cx="3346704" cy="731520"/>
          </a:xfrm>
          <a:prstGeom prst="rect">
            <a:avLst/>
          </a:prstGeom>
          <a:noFill/>
        </p:spPr>
        <p:txBody>
          <a:bodyPr wrap="square" lIns="0" rIns="0" tIns="0" bIns="0" anchor="t">
            <a:spAutoFit/>
          </a:bodyPr>
          <a:lstStyle/>
          <a:p>
            <a:pPr algn="l">
              <a:lnSpc>
                <a:spcPct val="128000"/>
              </a:lnSpc>
            </a:pPr>
            <a:r>
              <a:rPr sz="860" b="0" i="0">
                <a:solidFill>
                  <a:srgbClr val="94A3B8"/>
                </a:solidFill>
                <a:latin typeface="Aptos"/>
              </a:rPr>
              <a:t>The passages can go to a local model, a self-hosted one, or a frontier API. That is a policy setting, not an architecture change.</a:t>
            </a:r>
          </a:p>
        </p:txBody>
      </p:sp>
      <p:sp>
        <p:nvSpPr>
          <p:cNvPr id="44" name="Rectangle 43"/>
          <p:cNvSpPr/>
          <p:nvPr/>
        </p:nvSpPr>
        <p:spPr>
          <a:xfrm>
            <a:off x="8037576" y="4864608"/>
            <a:ext cx="32918" cy="969264"/>
          </a:xfrm>
          <a:prstGeom prst="rect">
            <a:avLst/>
          </a:prstGeom>
          <a:solidFill>
            <a:srgbClr val="2A38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TextBox 44"/>
          <p:cNvSpPr txBox="1"/>
          <p:nvPr/>
        </p:nvSpPr>
        <p:spPr>
          <a:xfrm>
            <a:off x="8202168" y="4864608"/>
            <a:ext cx="3346704" cy="219456"/>
          </a:xfrm>
          <a:prstGeom prst="rect">
            <a:avLst/>
          </a:prstGeom>
          <a:noFill/>
        </p:spPr>
        <p:txBody>
          <a:bodyPr wrap="square" lIns="0" rIns="0" tIns="0" bIns="0" anchor="t">
            <a:spAutoFit/>
          </a:bodyPr>
          <a:lstStyle/>
          <a:p>
            <a:pPr algn="l"/>
            <a:r>
              <a:rPr sz="960" b="1" i="0">
                <a:solidFill>
                  <a:srgbClr val="FFFFFF"/>
                </a:solidFill>
                <a:latin typeface="Aptos"/>
              </a:rPr>
              <a:t>It crosses a wire, not the internet</a:t>
            </a:r>
          </a:p>
        </p:txBody>
      </p:sp>
      <p:sp>
        <p:nvSpPr>
          <p:cNvPr id="46" name="TextBox 45"/>
          <p:cNvSpPr txBox="1"/>
          <p:nvPr/>
        </p:nvSpPr>
        <p:spPr>
          <a:xfrm>
            <a:off x="8202168" y="5120640"/>
            <a:ext cx="3346704" cy="731520"/>
          </a:xfrm>
          <a:prstGeom prst="rect">
            <a:avLst/>
          </a:prstGeom>
          <a:noFill/>
        </p:spPr>
        <p:txBody>
          <a:bodyPr wrap="square" lIns="0" rIns="0" tIns="0" bIns="0" anchor="t">
            <a:spAutoFit/>
          </a:bodyPr>
          <a:lstStyle/>
          <a:p>
            <a:pPr algn="l">
              <a:lnSpc>
                <a:spcPct val="128000"/>
              </a:lnSpc>
            </a:pPr>
            <a:r>
              <a:rPr sz="860" b="0" i="0">
                <a:solidFill>
                  <a:srgbClr val="94A3B8"/>
                </a:solidFill>
                <a:latin typeface="Aptos"/>
              </a:rPr>
              <a:t>The bridge is a direct device-to-device link, so there is nothing in the middle that has to be trusted.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TextBox 2"/>
          <p:cNvSpPr txBox="1"/>
          <p:nvPr/>
        </p:nvSpPr>
        <p:spPr>
          <a:xfrm>
            <a:off x="594360" y="347472"/>
            <a:ext cx="8778240" cy="219456"/>
          </a:xfrm>
          <a:prstGeom prst="rect">
            <a:avLst/>
          </a:prstGeom>
          <a:noFill/>
        </p:spPr>
        <p:txBody>
          <a:bodyPr wrap="square" lIns="0" rIns="0" tIns="0" bIns="0" anchor="t">
            <a:spAutoFit/>
          </a:bodyPr>
          <a:lstStyle/>
          <a:p>
            <a:pPr algn="l"/>
            <a:r>
              <a:rPr sz="850" b="1" i="0" spc="150">
                <a:solidFill>
                  <a:srgbClr val="64748B"/>
                </a:solidFill>
                <a:latin typeface="Aptos"/>
              </a:rPr>
              <a:t>04 · ARCHITECTURE</a:t>
            </a:r>
          </a:p>
        </p:txBody>
      </p:sp>
      <p:sp>
        <p:nvSpPr>
          <p:cNvPr id="4" name="TextBox 3"/>
          <p:cNvSpPr txBox="1"/>
          <p:nvPr/>
        </p:nvSpPr>
        <p:spPr>
          <a:xfrm>
            <a:off x="594360" y="731520"/>
            <a:ext cx="11000232" cy="731520"/>
          </a:xfrm>
          <a:prstGeom prst="rect">
            <a:avLst/>
          </a:prstGeom>
          <a:noFill/>
        </p:spPr>
        <p:txBody>
          <a:bodyPr wrap="square" lIns="0" rIns="0" tIns="0" bIns="0" anchor="t">
            <a:spAutoFit/>
          </a:bodyPr>
          <a:lstStyle/>
          <a:p>
            <a:pPr algn="l">
              <a:lnSpc>
                <a:spcPct val="102000"/>
              </a:lnSpc>
            </a:pPr>
            <a:r>
              <a:rPr sz="2700" b="0" i="0">
                <a:solidFill>
                  <a:srgbClr val="FFFFFF"/>
                </a:solidFill>
                <a:latin typeface="Aptos Display"/>
              </a:rPr>
              <a:t>The vault, the bridge, and the edge.</a:t>
            </a:r>
          </a:p>
        </p:txBody>
      </p:sp>
      <p:sp>
        <p:nvSpPr>
          <p:cNvPr id="5" name="TextBox 4"/>
          <p:cNvSpPr txBox="1"/>
          <p:nvPr/>
        </p:nvSpPr>
        <p:spPr>
          <a:xfrm>
            <a:off x="594360" y="1481328"/>
            <a:ext cx="10332720" cy="457200"/>
          </a:xfrm>
          <a:prstGeom prst="rect">
            <a:avLst/>
          </a:prstGeom>
          <a:noFill/>
        </p:spPr>
        <p:txBody>
          <a:bodyPr wrap="square" lIns="0" rIns="0" tIns="0" bIns="0" anchor="t">
            <a:spAutoFit/>
          </a:bodyPr>
          <a:lstStyle/>
          <a:p>
            <a:pPr algn="l">
              <a:lnSpc>
                <a:spcPct val="125000"/>
              </a:lnSpc>
            </a:pPr>
            <a:r>
              <a:rPr sz="1150" b="0" i="0">
                <a:solidFill>
                  <a:srgbClr val="94A3B8"/>
                </a:solidFill>
                <a:latin typeface="Aptos"/>
              </a:rPr>
              <a:t>Three components, one trust boundary. Everything to the left of the dashed line is under the user's physical control.</a:t>
            </a:r>
          </a:p>
        </p:txBody>
      </p:sp>
      <p:sp>
        <p:nvSpPr>
          <p:cNvPr id="6" name="Rectangle 5"/>
          <p:cNvSpPr/>
          <p:nvPr/>
        </p:nvSpPr>
        <p:spPr>
          <a:xfrm>
            <a:off x="594360" y="6291072"/>
            <a:ext cx="11000232"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TextBox 6"/>
          <p:cNvSpPr txBox="1"/>
          <p:nvPr/>
        </p:nvSpPr>
        <p:spPr>
          <a:xfrm>
            <a:off x="10881360" y="6419088"/>
            <a:ext cx="713232" cy="201168"/>
          </a:xfrm>
          <a:prstGeom prst="rect">
            <a:avLst/>
          </a:prstGeom>
          <a:noFill/>
        </p:spPr>
        <p:txBody>
          <a:bodyPr wrap="square" lIns="0" rIns="0" tIns="0" bIns="0" anchor="t">
            <a:spAutoFit/>
          </a:bodyPr>
          <a:lstStyle/>
          <a:p>
            <a:pPr algn="r"/>
            <a:r>
              <a:rPr sz="850" b="1" i="0" spc="80">
                <a:solidFill>
                  <a:srgbClr val="64748B"/>
                </a:solidFill>
                <a:latin typeface="Aptos"/>
              </a:rPr>
              <a:t>04</a:t>
            </a:r>
          </a:p>
        </p:txBody>
      </p:sp>
      <p:sp>
        <p:nvSpPr>
          <p:cNvPr id="8" name="Rounded Rectangle 7"/>
          <p:cNvSpPr/>
          <p:nvPr/>
        </p:nvSpPr>
        <p:spPr>
          <a:xfrm>
            <a:off x="594360" y="2103120"/>
            <a:ext cx="2788920" cy="3749039"/>
          </a:xfrm>
          <a:prstGeom prst="roundRect">
            <a:avLst>
              <a:gd name="adj" fmla="val 4590"/>
            </a:avLst>
          </a:prstGeom>
          <a:solidFill>
            <a:srgbClr val="10192E"/>
          </a:solidFill>
          <a:ln w="12700">
            <a:solidFill>
              <a:srgbClr val="17634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Rectangle 8"/>
          <p:cNvSpPr/>
          <p:nvPr/>
        </p:nvSpPr>
        <p:spPr>
          <a:xfrm>
            <a:off x="1769363" y="2180844"/>
            <a:ext cx="438912" cy="41148"/>
          </a:xfrm>
          <a:prstGeom prst="rect">
            <a:avLst/>
          </a:prstGeom>
          <a:solidFill>
            <a:srgbClr val="144B3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TextBox 9"/>
          <p:cNvSpPr txBox="1"/>
          <p:nvPr/>
        </p:nvSpPr>
        <p:spPr>
          <a:xfrm>
            <a:off x="594360" y="2322576"/>
            <a:ext cx="2788920" cy="182880"/>
          </a:xfrm>
          <a:prstGeom prst="rect">
            <a:avLst/>
          </a:prstGeom>
          <a:noFill/>
        </p:spPr>
        <p:txBody>
          <a:bodyPr wrap="square" lIns="0" rIns="0" tIns="0" bIns="0" anchor="t">
            <a:spAutoFit/>
          </a:bodyPr>
          <a:lstStyle/>
          <a:p>
            <a:pPr algn="ctr"/>
            <a:r>
              <a:rPr sz="850" b="1" i="0" spc="110">
                <a:solidFill>
                  <a:srgbClr val="FFFFFF"/>
                </a:solidFill>
                <a:latin typeface="Aptos"/>
              </a:rPr>
              <a:t>YOUR PHONE</a:t>
            </a:r>
          </a:p>
        </p:txBody>
      </p:sp>
      <p:sp>
        <p:nvSpPr>
          <p:cNvPr id="11" name="TextBox 10"/>
          <p:cNvSpPr txBox="1"/>
          <p:nvPr/>
        </p:nvSpPr>
        <p:spPr>
          <a:xfrm>
            <a:off x="594360" y="2505456"/>
            <a:ext cx="2788920" cy="164592"/>
          </a:xfrm>
          <a:prstGeom prst="rect">
            <a:avLst/>
          </a:prstGeom>
          <a:noFill/>
        </p:spPr>
        <p:txBody>
          <a:bodyPr wrap="square" lIns="0" rIns="0" tIns="0" bIns="0" anchor="t">
            <a:spAutoFit/>
          </a:bodyPr>
          <a:lstStyle/>
          <a:p>
            <a:pPr algn="ctr"/>
            <a:r>
              <a:rPr sz="700" b="1" i="0" spc="120">
                <a:solidFill>
                  <a:srgbClr val="22C55E"/>
                </a:solidFill>
                <a:latin typeface="Aptos"/>
              </a:rPr>
              <a:t>THE VAULT · TRUSTED CORE</a:t>
            </a:r>
          </a:p>
        </p:txBody>
      </p:sp>
      <p:sp>
        <p:nvSpPr>
          <p:cNvPr id="12" name="Rounded Rectangle 11"/>
          <p:cNvSpPr/>
          <p:nvPr/>
        </p:nvSpPr>
        <p:spPr>
          <a:xfrm>
            <a:off x="740664" y="2798063"/>
            <a:ext cx="2496312" cy="365760"/>
          </a:xfrm>
          <a:prstGeom prst="roundRect">
            <a:avLst>
              <a:gd name="adj" fmla="val 10000"/>
            </a:avLst>
          </a:prstGeom>
          <a:solidFill>
            <a:srgbClr val="16213B"/>
          </a:solidFill>
          <a:ln w="762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3" name="TextBox 12"/>
          <p:cNvSpPr txBox="1"/>
          <p:nvPr/>
        </p:nvSpPr>
        <p:spPr>
          <a:xfrm>
            <a:off x="868680" y="2848356"/>
            <a:ext cx="2240279" cy="164592"/>
          </a:xfrm>
          <a:prstGeom prst="rect">
            <a:avLst/>
          </a:prstGeom>
          <a:noFill/>
        </p:spPr>
        <p:txBody>
          <a:bodyPr wrap="square" lIns="0" rIns="0" tIns="0" bIns="0" anchor="t">
            <a:spAutoFit/>
          </a:bodyPr>
          <a:lstStyle/>
          <a:p>
            <a:pPr algn="l"/>
            <a:r>
              <a:rPr sz="800" b="1" i="0">
                <a:solidFill>
                  <a:srgbClr val="FFFFFF"/>
                </a:solidFill>
                <a:latin typeface="Aptos"/>
              </a:rPr>
              <a:t>Corpus</a:t>
            </a:r>
          </a:p>
        </p:txBody>
      </p:sp>
      <p:sp>
        <p:nvSpPr>
          <p:cNvPr id="14" name="TextBox 13"/>
          <p:cNvSpPr txBox="1"/>
          <p:nvPr/>
        </p:nvSpPr>
        <p:spPr>
          <a:xfrm>
            <a:off x="868680" y="2994659"/>
            <a:ext cx="2240279" cy="146304"/>
          </a:xfrm>
          <a:prstGeom prst="rect">
            <a:avLst/>
          </a:prstGeom>
          <a:noFill/>
        </p:spPr>
        <p:txBody>
          <a:bodyPr wrap="square" lIns="0" rIns="0" tIns="0" bIns="0" anchor="t">
            <a:spAutoFit/>
          </a:bodyPr>
          <a:lstStyle/>
          <a:p>
            <a:pPr algn="l"/>
            <a:r>
              <a:rPr sz="680" b="0" i="0">
                <a:solidFill>
                  <a:srgbClr val="64748B"/>
                </a:solidFill>
                <a:latin typeface="Aptos"/>
              </a:rPr>
              <a:t>documents, code, captured images</a:t>
            </a:r>
          </a:p>
        </p:txBody>
      </p:sp>
      <p:sp>
        <p:nvSpPr>
          <p:cNvPr id="15" name="Rounded Rectangle 14"/>
          <p:cNvSpPr/>
          <p:nvPr/>
        </p:nvSpPr>
        <p:spPr>
          <a:xfrm>
            <a:off x="740664" y="3236975"/>
            <a:ext cx="2496312" cy="365760"/>
          </a:xfrm>
          <a:prstGeom prst="roundRect">
            <a:avLst>
              <a:gd name="adj" fmla="val 10000"/>
            </a:avLst>
          </a:prstGeom>
          <a:solidFill>
            <a:srgbClr val="16213B"/>
          </a:solidFill>
          <a:ln w="762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TextBox 15"/>
          <p:cNvSpPr txBox="1"/>
          <p:nvPr/>
        </p:nvSpPr>
        <p:spPr>
          <a:xfrm>
            <a:off x="868680" y="3287268"/>
            <a:ext cx="2240279" cy="164592"/>
          </a:xfrm>
          <a:prstGeom prst="rect">
            <a:avLst/>
          </a:prstGeom>
          <a:noFill/>
        </p:spPr>
        <p:txBody>
          <a:bodyPr wrap="square" lIns="0" rIns="0" tIns="0" bIns="0" anchor="t">
            <a:spAutoFit/>
          </a:bodyPr>
          <a:lstStyle/>
          <a:p>
            <a:pPr algn="l"/>
            <a:r>
              <a:rPr sz="800" b="1" i="0">
                <a:solidFill>
                  <a:srgbClr val="FFFFFF"/>
                </a:solidFill>
                <a:latin typeface="Aptos"/>
              </a:rPr>
              <a:t>Chunker</a:t>
            </a:r>
          </a:p>
        </p:txBody>
      </p:sp>
      <p:sp>
        <p:nvSpPr>
          <p:cNvPr id="17" name="TextBox 16"/>
          <p:cNvSpPr txBox="1"/>
          <p:nvPr/>
        </p:nvSpPr>
        <p:spPr>
          <a:xfrm>
            <a:off x="868680" y="3433571"/>
            <a:ext cx="2240279" cy="146304"/>
          </a:xfrm>
          <a:prstGeom prst="rect">
            <a:avLst/>
          </a:prstGeom>
          <a:noFill/>
        </p:spPr>
        <p:txBody>
          <a:bodyPr wrap="square" lIns="0" rIns="0" tIns="0" bIns="0" anchor="t">
            <a:spAutoFit/>
          </a:bodyPr>
          <a:lstStyle/>
          <a:p>
            <a:pPr algn="l"/>
            <a:r>
              <a:rPr sz="680" b="0" i="0">
                <a:solidFill>
                  <a:srgbClr val="64748B"/>
                </a:solidFill>
                <a:latin typeface="Aptos"/>
              </a:rPr>
              <a:t>256-token windows, 32 overlap</a:t>
            </a:r>
          </a:p>
        </p:txBody>
      </p:sp>
      <p:sp>
        <p:nvSpPr>
          <p:cNvPr id="18" name="Rounded Rectangle 17"/>
          <p:cNvSpPr/>
          <p:nvPr/>
        </p:nvSpPr>
        <p:spPr>
          <a:xfrm>
            <a:off x="740664" y="3675887"/>
            <a:ext cx="2496312" cy="365760"/>
          </a:xfrm>
          <a:prstGeom prst="roundRect">
            <a:avLst>
              <a:gd name="adj" fmla="val 10000"/>
            </a:avLst>
          </a:prstGeom>
          <a:solidFill>
            <a:srgbClr val="16213B"/>
          </a:solidFill>
          <a:ln w="762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TextBox 18"/>
          <p:cNvSpPr txBox="1"/>
          <p:nvPr/>
        </p:nvSpPr>
        <p:spPr>
          <a:xfrm>
            <a:off x="868680" y="3726179"/>
            <a:ext cx="2240279" cy="164592"/>
          </a:xfrm>
          <a:prstGeom prst="rect">
            <a:avLst/>
          </a:prstGeom>
          <a:noFill/>
        </p:spPr>
        <p:txBody>
          <a:bodyPr wrap="square" lIns="0" rIns="0" tIns="0" bIns="0" anchor="t">
            <a:spAutoFit/>
          </a:bodyPr>
          <a:lstStyle/>
          <a:p>
            <a:pPr algn="l"/>
            <a:r>
              <a:rPr sz="800" b="1" i="0">
                <a:solidFill>
                  <a:srgbClr val="FFFFFF"/>
                </a:solidFill>
                <a:latin typeface="Aptos"/>
              </a:rPr>
              <a:t>Encoder</a:t>
            </a:r>
          </a:p>
        </p:txBody>
      </p:sp>
      <p:sp>
        <p:nvSpPr>
          <p:cNvPr id="20" name="TextBox 19"/>
          <p:cNvSpPr txBox="1"/>
          <p:nvPr/>
        </p:nvSpPr>
        <p:spPr>
          <a:xfrm>
            <a:off x="868680" y="3872483"/>
            <a:ext cx="2240279" cy="146304"/>
          </a:xfrm>
          <a:prstGeom prst="rect">
            <a:avLst/>
          </a:prstGeom>
          <a:noFill/>
        </p:spPr>
        <p:txBody>
          <a:bodyPr wrap="square" lIns="0" rIns="0" tIns="0" bIns="0" anchor="t">
            <a:spAutoFit/>
          </a:bodyPr>
          <a:lstStyle/>
          <a:p>
            <a:pPr algn="l"/>
            <a:r>
              <a:rPr sz="680" b="0" i="0">
                <a:solidFill>
                  <a:srgbClr val="64748B"/>
                </a:solidFill>
                <a:latin typeface="Aptos"/>
              </a:rPr>
              <a:t>MiniLM-L6 · 384-d · NPU delegate</a:t>
            </a:r>
          </a:p>
        </p:txBody>
      </p:sp>
      <p:sp>
        <p:nvSpPr>
          <p:cNvPr id="21" name="Rounded Rectangle 20"/>
          <p:cNvSpPr/>
          <p:nvPr/>
        </p:nvSpPr>
        <p:spPr>
          <a:xfrm>
            <a:off x="740664" y="4114800"/>
            <a:ext cx="2496312" cy="365760"/>
          </a:xfrm>
          <a:prstGeom prst="roundRect">
            <a:avLst>
              <a:gd name="adj" fmla="val 10000"/>
            </a:avLst>
          </a:prstGeom>
          <a:solidFill>
            <a:srgbClr val="16213B"/>
          </a:solidFill>
          <a:ln w="762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TextBox 21"/>
          <p:cNvSpPr txBox="1"/>
          <p:nvPr/>
        </p:nvSpPr>
        <p:spPr>
          <a:xfrm>
            <a:off x="868680" y="4165091"/>
            <a:ext cx="2240279" cy="164592"/>
          </a:xfrm>
          <a:prstGeom prst="rect">
            <a:avLst/>
          </a:prstGeom>
          <a:noFill/>
        </p:spPr>
        <p:txBody>
          <a:bodyPr wrap="square" lIns="0" rIns="0" tIns="0" bIns="0" anchor="t">
            <a:spAutoFit/>
          </a:bodyPr>
          <a:lstStyle/>
          <a:p>
            <a:pPr algn="l"/>
            <a:r>
              <a:rPr sz="800" b="1" i="0">
                <a:solidFill>
                  <a:srgbClr val="FFFFFF"/>
                </a:solidFill>
                <a:latin typeface="Aptos"/>
              </a:rPr>
              <a:t>Index</a:t>
            </a:r>
          </a:p>
        </p:txBody>
      </p:sp>
      <p:sp>
        <p:nvSpPr>
          <p:cNvPr id="23" name="TextBox 22"/>
          <p:cNvSpPr txBox="1"/>
          <p:nvPr/>
        </p:nvSpPr>
        <p:spPr>
          <a:xfrm>
            <a:off x="868680" y="4311396"/>
            <a:ext cx="2240279" cy="146304"/>
          </a:xfrm>
          <a:prstGeom prst="rect">
            <a:avLst/>
          </a:prstGeom>
          <a:noFill/>
        </p:spPr>
        <p:txBody>
          <a:bodyPr wrap="square" lIns="0" rIns="0" tIns="0" bIns="0" anchor="t">
            <a:spAutoFit/>
          </a:bodyPr>
          <a:lstStyle/>
          <a:p>
            <a:pPr algn="l"/>
            <a:r>
              <a:rPr sz="680" b="0" i="0">
                <a:solidFill>
                  <a:srgbClr val="64748B"/>
                </a:solidFill>
                <a:latin typeface="Aptos"/>
              </a:rPr>
              <a:t>SQLite + sqlite-vec, ANN search</a:t>
            </a:r>
          </a:p>
        </p:txBody>
      </p:sp>
      <p:sp>
        <p:nvSpPr>
          <p:cNvPr id="24" name="Rounded Rectangle 23"/>
          <p:cNvSpPr/>
          <p:nvPr/>
        </p:nvSpPr>
        <p:spPr>
          <a:xfrm>
            <a:off x="740664" y="4553712"/>
            <a:ext cx="2496312" cy="365760"/>
          </a:xfrm>
          <a:prstGeom prst="roundRect">
            <a:avLst>
              <a:gd name="adj" fmla="val 10000"/>
            </a:avLst>
          </a:prstGeom>
          <a:solidFill>
            <a:srgbClr val="16213B"/>
          </a:solidFill>
          <a:ln w="762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TextBox 24"/>
          <p:cNvSpPr txBox="1"/>
          <p:nvPr/>
        </p:nvSpPr>
        <p:spPr>
          <a:xfrm>
            <a:off x="868680" y="4604004"/>
            <a:ext cx="2240279" cy="164592"/>
          </a:xfrm>
          <a:prstGeom prst="rect">
            <a:avLst/>
          </a:prstGeom>
          <a:noFill/>
        </p:spPr>
        <p:txBody>
          <a:bodyPr wrap="square" lIns="0" rIns="0" tIns="0" bIns="0" anchor="t">
            <a:spAutoFit/>
          </a:bodyPr>
          <a:lstStyle/>
          <a:p>
            <a:pPr algn="l"/>
            <a:r>
              <a:rPr sz="800" b="1" i="0">
                <a:solidFill>
                  <a:srgbClr val="FFFFFF"/>
                </a:solidFill>
                <a:latin typeface="Aptos"/>
              </a:rPr>
              <a:t>Keystore</a:t>
            </a:r>
          </a:p>
        </p:txBody>
      </p:sp>
      <p:sp>
        <p:nvSpPr>
          <p:cNvPr id="26" name="TextBox 25"/>
          <p:cNvSpPr txBox="1"/>
          <p:nvPr/>
        </p:nvSpPr>
        <p:spPr>
          <a:xfrm>
            <a:off x="868680" y="4750308"/>
            <a:ext cx="2240279" cy="146304"/>
          </a:xfrm>
          <a:prstGeom prst="rect">
            <a:avLst/>
          </a:prstGeom>
          <a:noFill/>
        </p:spPr>
        <p:txBody>
          <a:bodyPr wrap="square" lIns="0" rIns="0" tIns="0" bIns="0" anchor="t">
            <a:spAutoFit/>
          </a:bodyPr>
          <a:lstStyle/>
          <a:p>
            <a:pPr algn="l"/>
            <a:r>
              <a:rPr sz="680" b="0" i="0">
                <a:solidFill>
                  <a:srgbClr val="64748B"/>
                </a:solidFill>
                <a:latin typeface="Aptos"/>
              </a:rPr>
              <a:t>SQLCipher key, hardware-backed</a:t>
            </a:r>
          </a:p>
        </p:txBody>
      </p:sp>
      <p:sp>
        <p:nvSpPr>
          <p:cNvPr id="27" name="Rectangle 26"/>
          <p:cNvSpPr/>
          <p:nvPr/>
        </p:nvSpPr>
        <p:spPr>
          <a:xfrm>
            <a:off x="740664" y="5084064"/>
            <a:ext cx="2496312"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TextBox 27"/>
          <p:cNvSpPr txBox="1"/>
          <p:nvPr/>
        </p:nvSpPr>
        <p:spPr>
          <a:xfrm>
            <a:off x="740664" y="5230368"/>
            <a:ext cx="2496312" cy="365760"/>
          </a:xfrm>
          <a:prstGeom prst="rect">
            <a:avLst/>
          </a:prstGeom>
          <a:noFill/>
        </p:spPr>
        <p:txBody>
          <a:bodyPr wrap="square" lIns="0" rIns="0" tIns="0" bIns="0" anchor="t">
            <a:spAutoFit/>
          </a:bodyPr>
          <a:lstStyle/>
          <a:p>
            <a:pPr algn="ctr">
              <a:lnSpc>
                <a:spcPct val="126000"/>
              </a:lnSpc>
            </a:pPr>
            <a:r>
              <a:rPr sz="760" b="0" i="0">
                <a:solidFill>
                  <a:srgbClr val="22C55E"/>
                </a:solidFill>
                <a:latin typeface="Aptos"/>
              </a:rPr>
              <a:t>Nothing in this column has a network path.</a:t>
            </a:r>
          </a:p>
        </p:txBody>
      </p:sp>
      <p:sp>
        <p:nvSpPr>
          <p:cNvPr id="29" name="Rectangle 28"/>
          <p:cNvSpPr/>
          <p:nvPr/>
        </p:nvSpPr>
        <p:spPr>
          <a:xfrm>
            <a:off x="3803904" y="2103120"/>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Rectangle 29"/>
          <p:cNvSpPr/>
          <p:nvPr/>
        </p:nvSpPr>
        <p:spPr>
          <a:xfrm>
            <a:off x="3803904" y="2231136"/>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Rectangle 30"/>
          <p:cNvSpPr/>
          <p:nvPr/>
        </p:nvSpPr>
        <p:spPr>
          <a:xfrm>
            <a:off x="3803904" y="2359152"/>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Rectangle 31"/>
          <p:cNvSpPr/>
          <p:nvPr/>
        </p:nvSpPr>
        <p:spPr>
          <a:xfrm>
            <a:off x="3803904" y="2487168"/>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Rectangle 32"/>
          <p:cNvSpPr/>
          <p:nvPr/>
        </p:nvSpPr>
        <p:spPr>
          <a:xfrm>
            <a:off x="3803904" y="2615184"/>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Rectangle 33"/>
          <p:cNvSpPr/>
          <p:nvPr/>
        </p:nvSpPr>
        <p:spPr>
          <a:xfrm>
            <a:off x="3803904" y="2743200"/>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Rectangle 34"/>
          <p:cNvSpPr/>
          <p:nvPr/>
        </p:nvSpPr>
        <p:spPr>
          <a:xfrm>
            <a:off x="3803904" y="2871215"/>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Rectangle 35"/>
          <p:cNvSpPr/>
          <p:nvPr/>
        </p:nvSpPr>
        <p:spPr>
          <a:xfrm>
            <a:off x="3803904" y="2999232"/>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Rectangle 36"/>
          <p:cNvSpPr/>
          <p:nvPr/>
        </p:nvSpPr>
        <p:spPr>
          <a:xfrm>
            <a:off x="3803904" y="3127248"/>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Rectangle 37"/>
          <p:cNvSpPr/>
          <p:nvPr/>
        </p:nvSpPr>
        <p:spPr>
          <a:xfrm>
            <a:off x="3803904" y="3255264"/>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Rectangle 38"/>
          <p:cNvSpPr/>
          <p:nvPr/>
        </p:nvSpPr>
        <p:spPr>
          <a:xfrm>
            <a:off x="3803904" y="3383280"/>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Rectangle 39"/>
          <p:cNvSpPr/>
          <p:nvPr/>
        </p:nvSpPr>
        <p:spPr>
          <a:xfrm>
            <a:off x="3803904" y="3511296"/>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Rectangle 40"/>
          <p:cNvSpPr/>
          <p:nvPr/>
        </p:nvSpPr>
        <p:spPr>
          <a:xfrm>
            <a:off x="3803904" y="3639312"/>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2" name="Rectangle 41"/>
          <p:cNvSpPr/>
          <p:nvPr/>
        </p:nvSpPr>
        <p:spPr>
          <a:xfrm>
            <a:off x="3803904" y="3767328"/>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3" name="Rectangle 42"/>
          <p:cNvSpPr/>
          <p:nvPr/>
        </p:nvSpPr>
        <p:spPr>
          <a:xfrm>
            <a:off x="3803904" y="3895344"/>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Rectangle 43"/>
          <p:cNvSpPr/>
          <p:nvPr/>
        </p:nvSpPr>
        <p:spPr>
          <a:xfrm>
            <a:off x="3803904" y="4023360"/>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Rectangle 44"/>
          <p:cNvSpPr/>
          <p:nvPr/>
        </p:nvSpPr>
        <p:spPr>
          <a:xfrm>
            <a:off x="3803904" y="4151376"/>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Rectangle 45"/>
          <p:cNvSpPr/>
          <p:nvPr/>
        </p:nvSpPr>
        <p:spPr>
          <a:xfrm>
            <a:off x="3803904" y="4279392"/>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7" name="Rectangle 46"/>
          <p:cNvSpPr/>
          <p:nvPr/>
        </p:nvSpPr>
        <p:spPr>
          <a:xfrm>
            <a:off x="3803904" y="4407408"/>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8" name="Rectangle 47"/>
          <p:cNvSpPr/>
          <p:nvPr/>
        </p:nvSpPr>
        <p:spPr>
          <a:xfrm>
            <a:off x="3803904" y="4535424"/>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9" name="Rectangle 48"/>
          <p:cNvSpPr/>
          <p:nvPr/>
        </p:nvSpPr>
        <p:spPr>
          <a:xfrm>
            <a:off x="3803904" y="4663440"/>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0" name="Rectangle 49"/>
          <p:cNvSpPr/>
          <p:nvPr/>
        </p:nvSpPr>
        <p:spPr>
          <a:xfrm>
            <a:off x="3803904" y="4791456"/>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Rectangle 50"/>
          <p:cNvSpPr/>
          <p:nvPr/>
        </p:nvSpPr>
        <p:spPr>
          <a:xfrm>
            <a:off x="3803904" y="4919472"/>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Rectangle 51"/>
          <p:cNvSpPr/>
          <p:nvPr/>
        </p:nvSpPr>
        <p:spPr>
          <a:xfrm>
            <a:off x="3803904" y="5047488"/>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3" name="Rectangle 52"/>
          <p:cNvSpPr/>
          <p:nvPr/>
        </p:nvSpPr>
        <p:spPr>
          <a:xfrm>
            <a:off x="3803904" y="5175504"/>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4" name="Rectangle 53"/>
          <p:cNvSpPr/>
          <p:nvPr/>
        </p:nvSpPr>
        <p:spPr>
          <a:xfrm>
            <a:off x="3803904" y="5303520"/>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5" name="Rectangle 54"/>
          <p:cNvSpPr/>
          <p:nvPr/>
        </p:nvSpPr>
        <p:spPr>
          <a:xfrm>
            <a:off x="3803904" y="5431536"/>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6" name="Rectangle 55"/>
          <p:cNvSpPr/>
          <p:nvPr/>
        </p:nvSpPr>
        <p:spPr>
          <a:xfrm>
            <a:off x="3803904" y="5559552"/>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Rectangle 56"/>
          <p:cNvSpPr/>
          <p:nvPr/>
        </p:nvSpPr>
        <p:spPr>
          <a:xfrm>
            <a:off x="3803904" y="5687568"/>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TextBox 57"/>
          <p:cNvSpPr txBox="1"/>
          <p:nvPr/>
        </p:nvSpPr>
        <p:spPr>
          <a:xfrm>
            <a:off x="2935224" y="1828799"/>
            <a:ext cx="1737360" cy="182880"/>
          </a:xfrm>
          <a:prstGeom prst="rect">
            <a:avLst/>
          </a:prstGeom>
          <a:noFill/>
        </p:spPr>
        <p:txBody>
          <a:bodyPr wrap="square" lIns="0" rIns="0" tIns="0" bIns="0" anchor="t">
            <a:spAutoFit/>
          </a:bodyPr>
          <a:lstStyle/>
          <a:p>
            <a:pPr algn="ctr"/>
            <a:r>
              <a:rPr sz="700" b="1" i="0" spc="130">
                <a:solidFill>
                  <a:srgbClr val="64748B"/>
                </a:solidFill>
                <a:latin typeface="Aptos"/>
              </a:rPr>
              <a:t>TRUST BOUNDARY</a:t>
            </a:r>
          </a:p>
        </p:txBody>
      </p:sp>
      <p:sp>
        <p:nvSpPr>
          <p:cNvPr id="59" name="Rounded Rectangle 58"/>
          <p:cNvSpPr/>
          <p:nvPr/>
        </p:nvSpPr>
        <p:spPr>
          <a:xfrm>
            <a:off x="4133087" y="2432304"/>
            <a:ext cx="3566160" cy="1956816"/>
          </a:xfrm>
          <a:prstGeom prst="roundRect">
            <a:avLst>
              <a:gd name="adj" fmla="val 2803"/>
            </a:avLst>
          </a:prstGeom>
          <a:solidFill>
            <a:srgbClr val="10192E"/>
          </a:solidFill>
          <a:ln w="10160">
            <a:solidFill>
              <a:srgbClr val="2A385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0" name="TextBox 59"/>
          <p:cNvSpPr txBox="1"/>
          <p:nvPr/>
        </p:nvSpPr>
        <p:spPr>
          <a:xfrm>
            <a:off x="4133087" y="2596896"/>
            <a:ext cx="3566160" cy="182880"/>
          </a:xfrm>
          <a:prstGeom prst="rect">
            <a:avLst/>
          </a:prstGeom>
          <a:noFill/>
        </p:spPr>
        <p:txBody>
          <a:bodyPr wrap="square" lIns="0" rIns="0" tIns="0" bIns="0" anchor="t">
            <a:spAutoFit/>
          </a:bodyPr>
          <a:lstStyle/>
          <a:p>
            <a:pPr algn="ctr"/>
            <a:r>
              <a:rPr sz="850" b="1" i="0" spc="110">
                <a:solidFill>
                  <a:srgbClr val="FFFFFF"/>
                </a:solidFill>
                <a:latin typeface="Aptos"/>
              </a:rPr>
              <a:t>THE BRIDGE</a:t>
            </a:r>
          </a:p>
        </p:txBody>
      </p:sp>
      <p:sp>
        <p:nvSpPr>
          <p:cNvPr id="61" name="TextBox 60"/>
          <p:cNvSpPr txBox="1"/>
          <p:nvPr/>
        </p:nvSpPr>
        <p:spPr>
          <a:xfrm>
            <a:off x="4133087" y="2779776"/>
            <a:ext cx="3566160" cy="164592"/>
          </a:xfrm>
          <a:prstGeom prst="rect">
            <a:avLst/>
          </a:prstGeom>
          <a:noFill/>
        </p:spPr>
        <p:txBody>
          <a:bodyPr wrap="square" lIns="0" rIns="0" tIns="0" bIns="0" anchor="t">
            <a:spAutoFit/>
          </a:bodyPr>
          <a:lstStyle/>
          <a:p>
            <a:pPr algn="ctr"/>
            <a:r>
              <a:rPr sz="700" b="1" i="0" spc="120">
                <a:solidFill>
                  <a:srgbClr val="64748B"/>
                </a:solidFill>
                <a:latin typeface="Aptos"/>
              </a:rPr>
              <a:t>DIRECT DEVICE-TO-DEVICE</a:t>
            </a:r>
          </a:p>
        </p:txBody>
      </p:sp>
      <p:cxnSp>
        <p:nvCxnSpPr>
          <p:cNvPr id="62" name="Connector 61"/>
          <p:cNvCxnSpPr/>
          <p:nvPr/>
        </p:nvCxnSpPr>
        <p:spPr>
          <a:xfrm flipH="1">
            <a:off x="4608576" y="3456432"/>
            <a:ext cx="2615184" cy="0"/>
          </a:xfrm>
          <a:prstGeom prst="line">
            <a:avLst/>
          </a:prstGeom>
          <a:ln w="15240">
            <a:solidFill>
              <a:srgbClr val="94A3B8"/>
            </a:solidFill>
          </a:ln>
          <a:effectLst/>
        </p:spPr>
        <p:style>
          <a:lnRef idx="2">
            <a:schemeClr val="accent1"/>
          </a:lnRef>
          <a:fillRef idx="0">
            <a:schemeClr val="accent1"/>
          </a:fillRef>
          <a:effectRef idx="1">
            <a:schemeClr val="accent1"/>
          </a:effectRef>
          <a:fontRef idx="minor">
            <a:schemeClr val="tx1"/>
          </a:fontRef>
        </p:style>
      </p:cxnSp>
      <p:sp>
        <p:nvSpPr>
          <p:cNvPr id="63" name="Freeform 62"/>
          <p:cNvSpPr/>
          <p:nvPr/>
        </p:nvSpPr>
        <p:spPr>
          <a:xfrm>
            <a:off x="4608576" y="3399739"/>
            <a:ext cx="82296" cy="113385"/>
          </a:xfrm>
          <a:custGeom>
            <a:avLst/>
            <a:gdLst/>
            <a:ahLst/>
            <a:cxnLst/>
            <a:rect l="l" t="t" r="r" b="b"/>
            <a:pathLst>
              <a:path w="82296" h="113385">
                <a:moveTo>
                  <a:pt x="82296" y="0"/>
                </a:moveTo>
                <a:lnTo>
                  <a:pt x="0" y="56693"/>
                </a:lnTo>
                <a:lnTo>
                  <a:pt x="82296" y="113385"/>
                </a:lnTo>
              </a:path>
            </a:pathLst>
          </a:custGeom>
          <a:noFill/>
          <a:ln w="15240">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681728" y="3090672"/>
            <a:ext cx="2468880" cy="182880"/>
          </a:xfrm>
          <a:prstGeom prst="rect">
            <a:avLst/>
          </a:prstGeom>
          <a:noFill/>
        </p:spPr>
        <p:txBody>
          <a:bodyPr wrap="square" lIns="0" rIns="0" tIns="0" bIns="0" anchor="t">
            <a:spAutoFit/>
          </a:bodyPr>
          <a:lstStyle/>
          <a:p>
            <a:pPr algn="ctr"/>
            <a:r>
              <a:rPr sz="800" b="1" i="0" spc="80">
                <a:solidFill>
                  <a:srgbClr val="94A3B8"/>
                </a:solidFill>
                <a:latin typeface="Aptos"/>
              </a:rPr>
              <a:t>QUESTION IN</a:t>
            </a:r>
          </a:p>
        </p:txBody>
      </p:sp>
      <p:sp>
        <p:nvSpPr>
          <p:cNvPr id="65" name="TextBox 64"/>
          <p:cNvSpPr txBox="1"/>
          <p:nvPr/>
        </p:nvSpPr>
        <p:spPr>
          <a:xfrm>
            <a:off x="4681728" y="3264408"/>
            <a:ext cx="2468880" cy="164592"/>
          </a:xfrm>
          <a:prstGeom prst="rect">
            <a:avLst/>
          </a:prstGeom>
          <a:noFill/>
        </p:spPr>
        <p:txBody>
          <a:bodyPr wrap="square" lIns="0" rIns="0" tIns="0" bIns="0" anchor="t">
            <a:spAutoFit/>
          </a:bodyPr>
          <a:lstStyle/>
          <a:p>
            <a:pPr algn="ctr"/>
            <a:r>
              <a:rPr sz="720" b="0" i="0">
                <a:solidFill>
                  <a:srgbClr val="64748B"/>
                </a:solidFill>
                <a:latin typeface="Aptos"/>
              </a:rPr>
              <a:t>~40 tokens</a:t>
            </a:r>
          </a:p>
        </p:txBody>
      </p:sp>
      <p:cxnSp>
        <p:nvCxnSpPr>
          <p:cNvPr id="66" name="Connector 65"/>
          <p:cNvCxnSpPr/>
          <p:nvPr/>
        </p:nvCxnSpPr>
        <p:spPr>
          <a:xfrm>
            <a:off x="4608576" y="3822191"/>
            <a:ext cx="2615184" cy="0"/>
          </a:xfrm>
          <a:prstGeom prst="line">
            <a:avLst/>
          </a:prstGeom>
          <a:ln w="15240">
            <a:solidFill>
              <a:srgbClr val="22C55E"/>
            </a:solidFill>
          </a:ln>
          <a:effectLst/>
        </p:spPr>
        <p:style>
          <a:lnRef idx="2">
            <a:schemeClr val="accent1"/>
          </a:lnRef>
          <a:fillRef idx="0">
            <a:schemeClr val="accent1"/>
          </a:fillRef>
          <a:effectRef idx="1">
            <a:schemeClr val="accent1"/>
          </a:effectRef>
          <a:fontRef idx="minor">
            <a:schemeClr val="tx1"/>
          </a:fontRef>
        </p:style>
      </p:cxnSp>
      <p:sp>
        <p:nvSpPr>
          <p:cNvPr id="67" name="Freeform 66"/>
          <p:cNvSpPr/>
          <p:nvPr/>
        </p:nvSpPr>
        <p:spPr>
          <a:xfrm>
            <a:off x="7141464" y="3765499"/>
            <a:ext cx="82296" cy="113385"/>
          </a:xfrm>
          <a:custGeom>
            <a:avLst/>
            <a:gdLst/>
            <a:ahLst/>
            <a:cxnLst/>
            <a:rect l="l" t="t" r="r" b="b"/>
            <a:pathLst>
              <a:path w="82296" h="113385">
                <a:moveTo>
                  <a:pt x="0" y="0"/>
                </a:moveTo>
                <a:lnTo>
                  <a:pt x="82296" y="56692"/>
                </a:lnTo>
                <a:lnTo>
                  <a:pt x="0" y="113385"/>
                </a:lnTo>
              </a:path>
            </a:pathLst>
          </a:custGeom>
          <a:noFill/>
          <a:ln w="1524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681728" y="3931920"/>
            <a:ext cx="2468880" cy="182880"/>
          </a:xfrm>
          <a:prstGeom prst="rect">
            <a:avLst/>
          </a:prstGeom>
          <a:noFill/>
        </p:spPr>
        <p:txBody>
          <a:bodyPr wrap="square" lIns="0" rIns="0" tIns="0" bIns="0" anchor="t">
            <a:spAutoFit/>
          </a:bodyPr>
          <a:lstStyle/>
          <a:p>
            <a:pPr algn="ctr"/>
            <a:r>
              <a:rPr sz="800" b="1" i="0" spc="80">
                <a:solidFill>
                  <a:srgbClr val="22C55E"/>
                </a:solidFill>
                <a:latin typeface="Aptos"/>
              </a:rPr>
              <a:t>PASSAGES OUT</a:t>
            </a:r>
          </a:p>
        </p:txBody>
      </p:sp>
      <p:sp>
        <p:nvSpPr>
          <p:cNvPr id="69" name="TextBox 68"/>
          <p:cNvSpPr txBox="1"/>
          <p:nvPr/>
        </p:nvSpPr>
        <p:spPr>
          <a:xfrm>
            <a:off x="4681728" y="4105656"/>
            <a:ext cx="2468880" cy="164592"/>
          </a:xfrm>
          <a:prstGeom prst="rect">
            <a:avLst/>
          </a:prstGeom>
          <a:noFill/>
        </p:spPr>
        <p:txBody>
          <a:bodyPr wrap="square" lIns="0" rIns="0" tIns="0" bIns="0" anchor="t">
            <a:spAutoFit/>
          </a:bodyPr>
          <a:lstStyle/>
          <a:p>
            <a:pPr algn="ctr"/>
            <a:r>
              <a:rPr sz="720" b="0" i="0">
                <a:solidFill>
                  <a:srgbClr val="64748B"/>
                </a:solidFill>
                <a:latin typeface="Aptos"/>
              </a:rPr>
              <a:t>~800 tokens · cited</a:t>
            </a:r>
          </a:p>
        </p:txBody>
      </p:sp>
      <p:sp>
        <p:nvSpPr>
          <p:cNvPr id="70" name="TextBox 69"/>
          <p:cNvSpPr txBox="1"/>
          <p:nvPr/>
        </p:nvSpPr>
        <p:spPr>
          <a:xfrm>
            <a:off x="4315968" y="4498848"/>
            <a:ext cx="3200400" cy="365760"/>
          </a:xfrm>
          <a:prstGeom prst="rect">
            <a:avLst/>
          </a:prstGeom>
          <a:noFill/>
        </p:spPr>
        <p:txBody>
          <a:bodyPr wrap="square" lIns="0" rIns="0" tIns="0" bIns="0" anchor="t">
            <a:spAutoFit/>
          </a:bodyPr>
          <a:lstStyle/>
          <a:p>
            <a:pPr algn="ctr">
              <a:lnSpc>
                <a:spcPct val="124000"/>
              </a:lnSpc>
            </a:pPr>
            <a:r>
              <a:rPr sz="800" b="0" i="0">
                <a:solidFill>
                  <a:srgbClr val="64748B"/>
                </a:solidFill>
                <a:latin typeface="Aptos"/>
              </a:rPr>
              <a:t>Office Kit transport at the venue; USB or a local socket as the fallback. Never an internet hop.</a:t>
            </a:r>
          </a:p>
        </p:txBody>
      </p:sp>
      <p:sp>
        <p:nvSpPr>
          <p:cNvPr id="71" name="Rectangle 70"/>
          <p:cNvSpPr/>
          <p:nvPr/>
        </p:nvSpPr>
        <p:spPr>
          <a:xfrm>
            <a:off x="7882127" y="2103120"/>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2" name="Rectangle 71"/>
          <p:cNvSpPr/>
          <p:nvPr/>
        </p:nvSpPr>
        <p:spPr>
          <a:xfrm>
            <a:off x="7882127" y="2231136"/>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3" name="Rectangle 72"/>
          <p:cNvSpPr/>
          <p:nvPr/>
        </p:nvSpPr>
        <p:spPr>
          <a:xfrm>
            <a:off x="7882127" y="2359152"/>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4" name="Rectangle 73"/>
          <p:cNvSpPr/>
          <p:nvPr/>
        </p:nvSpPr>
        <p:spPr>
          <a:xfrm>
            <a:off x="7882127" y="2487168"/>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5" name="Rectangle 74"/>
          <p:cNvSpPr/>
          <p:nvPr/>
        </p:nvSpPr>
        <p:spPr>
          <a:xfrm>
            <a:off x="7882127" y="2615184"/>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6" name="Rectangle 75"/>
          <p:cNvSpPr/>
          <p:nvPr/>
        </p:nvSpPr>
        <p:spPr>
          <a:xfrm>
            <a:off x="7882127" y="2743200"/>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7" name="Rectangle 76"/>
          <p:cNvSpPr/>
          <p:nvPr/>
        </p:nvSpPr>
        <p:spPr>
          <a:xfrm>
            <a:off x="7882127" y="2871215"/>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8" name="Rectangle 77"/>
          <p:cNvSpPr/>
          <p:nvPr/>
        </p:nvSpPr>
        <p:spPr>
          <a:xfrm>
            <a:off x="7882127" y="2999232"/>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9" name="Rectangle 78"/>
          <p:cNvSpPr/>
          <p:nvPr/>
        </p:nvSpPr>
        <p:spPr>
          <a:xfrm>
            <a:off x="7882127" y="3127248"/>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0" name="Rectangle 79"/>
          <p:cNvSpPr/>
          <p:nvPr/>
        </p:nvSpPr>
        <p:spPr>
          <a:xfrm>
            <a:off x="7882127" y="3255264"/>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1" name="Rectangle 80"/>
          <p:cNvSpPr/>
          <p:nvPr/>
        </p:nvSpPr>
        <p:spPr>
          <a:xfrm>
            <a:off x="7882127" y="3383280"/>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2" name="Rectangle 81"/>
          <p:cNvSpPr/>
          <p:nvPr/>
        </p:nvSpPr>
        <p:spPr>
          <a:xfrm>
            <a:off x="7882127" y="3511296"/>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3" name="Rectangle 82"/>
          <p:cNvSpPr/>
          <p:nvPr/>
        </p:nvSpPr>
        <p:spPr>
          <a:xfrm>
            <a:off x="7882127" y="3639312"/>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4" name="Rectangle 83"/>
          <p:cNvSpPr/>
          <p:nvPr/>
        </p:nvSpPr>
        <p:spPr>
          <a:xfrm>
            <a:off x="7882127" y="3767328"/>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5" name="Rectangle 84"/>
          <p:cNvSpPr/>
          <p:nvPr/>
        </p:nvSpPr>
        <p:spPr>
          <a:xfrm>
            <a:off x="7882127" y="3895344"/>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6" name="Rectangle 85"/>
          <p:cNvSpPr/>
          <p:nvPr/>
        </p:nvSpPr>
        <p:spPr>
          <a:xfrm>
            <a:off x="7882127" y="4023360"/>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7" name="Rectangle 86"/>
          <p:cNvSpPr/>
          <p:nvPr/>
        </p:nvSpPr>
        <p:spPr>
          <a:xfrm>
            <a:off x="7882127" y="4151376"/>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8" name="Rectangle 87"/>
          <p:cNvSpPr/>
          <p:nvPr/>
        </p:nvSpPr>
        <p:spPr>
          <a:xfrm>
            <a:off x="7882127" y="4279392"/>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9" name="Rectangle 88"/>
          <p:cNvSpPr/>
          <p:nvPr/>
        </p:nvSpPr>
        <p:spPr>
          <a:xfrm>
            <a:off x="7882127" y="4407408"/>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0" name="Rectangle 89"/>
          <p:cNvSpPr/>
          <p:nvPr/>
        </p:nvSpPr>
        <p:spPr>
          <a:xfrm>
            <a:off x="7882127" y="4535424"/>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1" name="Rectangle 90"/>
          <p:cNvSpPr/>
          <p:nvPr/>
        </p:nvSpPr>
        <p:spPr>
          <a:xfrm>
            <a:off x="7882127" y="4663440"/>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2" name="Rectangle 91"/>
          <p:cNvSpPr/>
          <p:nvPr/>
        </p:nvSpPr>
        <p:spPr>
          <a:xfrm>
            <a:off x="7882127" y="4791456"/>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3" name="Rectangle 92"/>
          <p:cNvSpPr/>
          <p:nvPr/>
        </p:nvSpPr>
        <p:spPr>
          <a:xfrm>
            <a:off x="7882127" y="4919472"/>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4" name="Rectangle 93"/>
          <p:cNvSpPr/>
          <p:nvPr/>
        </p:nvSpPr>
        <p:spPr>
          <a:xfrm>
            <a:off x="7882127" y="5047488"/>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5" name="Rectangle 94"/>
          <p:cNvSpPr/>
          <p:nvPr/>
        </p:nvSpPr>
        <p:spPr>
          <a:xfrm>
            <a:off x="7882127" y="5175504"/>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6" name="Rectangle 95"/>
          <p:cNvSpPr/>
          <p:nvPr/>
        </p:nvSpPr>
        <p:spPr>
          <a:xfrm>
            <a:off x="7882127" y="5303520"/>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7" name="Rectangle 96"/>
          <p:cNvSpPr/>
          <p:nvPr/>
        </p:nvSpPr>
        <p:spPr>
          <a:xfrm>
            <a:off x="7882127" y="5431536"/>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8" name="Rectangle 97"/>
          <p:cNvSpPr/>
          <p:nvPr/>
        </p:nvSpPr>
        <p:spPr>
          <a:xfrm>
            <a:off x="7882127" y="5559552"/>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9" name="Rectangle 98"/>
          <p:cNvSpPr/>
          <p:nvPr/>
        </p:nvSpPr>
        <p:spPr>
          <a:xfrm>
            <a:off x="7882127" y="5687568"/>
            <a:ext cx="12801" cy="68580"/>
          </a:xfrm>
          <a:prstGeom prst="rect">
            <a:avLst/>
          </a:prstGeom>
          <a:solidFill>
            <a:srgbClr val="484E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0" name="Rounded Rectangle 99"/>
          <p:cNvSpPr/>
          <p:nvPr/>
        </p:nvSpPr>
        <p:spPr>
          <a:xfrm>
            <a:off x="8229600" y="2103120"/>
            <a:ext cx="3364992" cy="3749039"/>
          </a:xfrm>
          <a:prstGeom prst="roundRect">
            <a:avLst>
              <a:gd name="adj" fmla="val 2717"/>
            </a:avLst>
          </a:prstGeom>
          <a:solidFill>
            <a:srgbClr val="10192E"/>
          </a:solidFill>
          <a:ln w="12700">
            <a:solidFill>
              <a:srgbClr val="2A385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1" name="Rectangle 100"/>
          <p:cNvSpPr/>
          <p:nvPr/>
        </p:nvSpPr>
        <p:spPr>
          <a:xfrm>
            <a:off x="8375904" y="5669279"/>
            <a:ext cx="3072384"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2" name="TextBox 101"/>
          <p:cNvSpPr txBox="1"/>
          <p:nvPr/>
        </p:nvSpPr>
        <p:spPr>
          <a:xfrm>
            <a:off x="8229600" y="2322576"/>
            <a:ext cx="3364992" cy="182880"/>
          </a:xfrm>
          <a:prstGeom prst="rect">
            <a:avLst/>
          </a:prstGeom>
          <a:noFill/>
        </p:spPr>
        <p:txBody>
          <a:bodyPr wrap="square" lIns="0" rIns="0" tIns="0" bIns="0" anchor="t">
            <a:spAutoFit/>
          </a:bodyPr>
          <a:lstStyle/>
          <a:p>
            <a:pPr algn="ctr"/>
            <a:r>
              <a:rPr sz="850" b="1" i="0" spc="110">
                <a:solidFill>
                  <a:srgbClr val="FFFFFF"/>
                </a:solidFill>
                <a:latin typeface="Aptos"/>
              </a:rPr>
              <a:t>YOUR LAPTOP</a:t>
            </a:r>
          </a:p>
        </p:txBody>
      </p:sp>
      <p:sp>
        <p:nvSpPr>
          <p:cNvPr id="103" name="TextBox 102"/>
          <p:cNvSpPr txBox="1"/>
          <p:nvPr/>
        </p:nvSpPr>
        <p:spPr>
          <a:xfrm>
            <a:off x="8229600" y="2505456"/>
            <a:ext cx="3364992" cy="164592"/>
          </a:xfrm>
          <a:prstGeom prst="rect">
            <a:avLst/>
          </a:prstGeom>
          <a:noFill/>
        </p:spPr>
        <p:txBody>
          <a:bodyPr wrap="square" lIns="0" rIns="0" tIns="0" bIns="0" anchor="t">
            <a:spAutoFit/>
          </a:bodyPr>
          <a:lstStyle/>
          <a:p>
            <a:pPr algn="ctr"/>
            <a:r>
              <a:rPr sz="700" b="1" i="0" spc="120">
                <a:solidFill>
                  <a:srgbClr val="64748B"/>
                </a:solidFill>
                <a:latin typeface="Aptos"/>
              </a:rPr>
              <a:t>THE EDGE · UNTRUSTED</a:t>
            </a:r>
          </a:p>
        </p:txBody>
      </p:sp>
      <p:sp>
        <p:nvSpPr>
          <p:cNvPr id="104" name="Rounded Rectangle 103"/>
          <p:cNvSpPr/>
          <p:nvPr/>
        </p:nvSpPr>
        <p:spPr>
          <a:xfrm>
            <a:off x="8375904" y="2798063"/>
            <a:ext cx="3072384" cy="365760"/>
          </a:xfrm>
          <a:prstGeom prst="roundRect">
            <a:avLst>
              <a:gd name="adj" fmla="val 10000"/>
            </a:avLst>
          </a:prstGeom>
          <a:solidFill>
            <a:srgbClr val="16213B"/>
          </a:solidFill>
          <a:ln w="762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5" name="TextBox 104"/>
          <p:cNvSpPr txBox="1"/>
          <p:nvPr/>
        </p:nvSpPr>
        <p:spPr>
          <a:xfrm>
            <a:off x="8503920" y="2848356"/>
            <a:ext cx="2816352" cy="164592"/>
          </a:xfrm>
          <a:prstGeom prst="rect">
            <a:avLst/>
          </a:prstGeom>
          <a:noFill/>
        </p:spPr>
        <p:txBody>
          <a:bodyPr wrap="square" lIns="0" rIns="0" tIns="0" bIns="0" anchor="t">
            <a:spAutoFit/>
          </a:bodyPr>
          <a:lstStyle/>
          <a:p>
            <a:pPr algn="l"/>
            <a:r>
              <a:rPr sz="800" b="1" i="0">
                <a:solidFill>
                  <a:srgbClr val="FFFFFF"/>
                </a:solidFill>
                <a:latin typeface="Aptos"/>
              </a:rPr>
              <a:t>Editor extension</a:t>
            </a:r>
          </a:p>
        </p:txBody>
      </p:sp>
      <p:sp>
        <p:nvSpPr>
          <p:cNvPr id="106" name="TextBox 105"/>
          <p:cNvSpPr txBox="1"/>
          <p:nvPr/>
        </p:nvSpPr>
        <p:spPr>
          <a:xfrm>
            <a:off x="8503920" y="2994659"/>
            <a:ext cx="2816352" cy="146304"/>
          </a:xfrm>
          <a:prstGeom prst="rect">
            <a:avLst/>
          </a:prstGeom>
          <a:noFill/>
        </p:spPr>
        <p:txBody>
          <a:bodyPr wrap="square" lIns="0" rIns="0" tIns="0" bIns="0" anchor="t">
            <a:spAutoFit/>
          </a:bodyPr>
          <a:lstStyle/>
          <a:p>
            <a:pPr algn="l"/>
            <a:r>
              <a:rPr sz="680" b="0" i="0">
                <a:solidFill>
                  <a:srgbClr val="64748B"/>
                </a:solidFill>
                <a:latin typeface="Aptos"/>
              </a:rPr>
              <a:t>VS Code or browser side panel</a:t>
            </a:r>
          </a:p>
        </p:txBody>
      </p:sp>
      <p:sp>
        <p:nvSpPr>
          <p:cNvPr id="107" name="Rounded Rectangle 106"/>
          <p:cNvSpPr/>
          <p:nvPr/>
        </p:nvSpPr>
        <p:spPr>
          <a:xfrm>
            <a:off x="8375904" y="3236975"/>
            <a:ext cx="3072384" cy="365760"/>
          </a:xfrm>
          <a:prstGeom prst="roundRect">
            <a:avLst>
              <a:gd name="adj" fmla="val 10000"/>
            </a:avLst>
          </a:prstGeom>
          <a:solidFill>
            <a:srgbClr val="16213B"/>
          </a:solidFill>
          <a:ln w="762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8" name="TextBox 107"/>
          <p:cNvSpPr txBox="1"/>
          <p:nvPr/>
        </p:nvSpPr>
        <p:spPr>
          <a:xfrm>
            <a:off x="8503920" y="3287268"/>
            <a:ext cx="2816352" cy="164592"/>
          </a:xfrm>
          <a:prstGeom prst="rect">
            <a:avLst/>
          </a:prstGeom>
          <a:noFill/>
        </p:spPr>
        <p:txBody>
          <a:bodyPr wrap="square" lIns="0" rIns="0" tIns="0" bIns="0" anchor="t">
            <a:spAutoFit/>
          </a:bodyPr>
          <a:lstStyle/>
          <a:p>
            <a:pPr algn="l"/>
            <a:r>
              <a:rPr sz="800" b="1" i="0">
                <a:solidFill>
                  <a:srgbClr val="FFFFFF"/>
                </a:solidFill>
                <a:latin typeface="Aptos"/>
              </a:rPr>
              <a:t>Prompt assembler</a:t>
            </a:r>
          </a:p>
        </p:txBody>
      </p:sp>
      <p:sp>
        <p:nvSpPr>
          <p:cNvPr id="109" name="TextBox 108"/>
          <p:cNvSpPr txBox="1"/>
          <p:nvPr/>
        </p:nvSpPr>
        <p:spPr>
          <a:xfrm>
            <a:off x="8503920" y="3433571"/>
            <a:ext cx="2816352" cy="146304"/>
          </a:xfrm>
          <a:prstGeom prst="rect">
            <a:avLst/>
          </a:prstGeom>
          <a:noFill/>
        </p:spPr>
        <p:txBody>
          <a:bodyPr wrap="square" lIns="0" rIns="0" tIns="0" bIns="0" anchor="t">
            <a:spAutoFit/>
          </a:bodyPr>
          <a:lstStyle/>
          <a:p>
            <a:pPr algn="l"/>
            <a:r>
              <a:rPr sz="680" b="0" i="0">
                <a:solidFill>
                  <a:srgbClr val="64748B"/>
                </a:solidFill>
                <a:latin typeface="Aptos"/>
              </a:rPr>
              <a:t>passages + question, nothing else</a:t>
            </a:r>
          </a:p>
        </p:txBody>
      </p:sp>
      <p:sp>
        <p:nvSpPr>
          <p:cNvPr id="110" name="Rounded Rectangle 109"/>
          <p:cNvSpPr/>
          <p:nvPr/>
        </p:nvSpPr>
        <p:spPr>
          <a:xfrm>
            <a:off x="8375904" y="3675887"/>
            <a:ext cx="3072384" cy="365760"/>
          </a:xfrm>
          <a:prstGeom prst="roundRect">
            <a:avLst>
              <a:gd name="adj" fmla="val 10000"/>
            </a:avLst>
          </a:prstGeom>
          <a:solidFill>
            <a:srgbClr val="16213B"/>
          </a:solidFill>
          <a:ln w="762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1" name="TextBox 110"/>
          <p:cNvSpPr txBox="1"/>
          <p:nvPr/>
        </p:nvSpPr>
        <p:spPr>
          <a:xfrm>
            <a:off x="8503920" y="3726179"/>
            <a:ext cx="2816352" cy="164592"/>
          </a:xfrm>
          <a:prstGeom prst="rect">
            <a:avLst/>
          </a:prstGeom>
          <a:noFill/>
        </p:spPr>
        <p:txBody>
          <a:bodyPr wrap="square" lIns="0" rIns="0" tIns="0" bIns="0" anchor="t">
            <a:spAutoFit/>
          </a:bodyPr>
          <a:lstStyle/>
          <a:p>
            <a:pPr algn="l"/>
            <a:r>
              <a:rPr sz="800" b="1" i="0">
                <a:solidFill>
                  <a:srgbClr val="FFFFFF"/>
                </a:solidFill>
                <a:latin typeface="Aptos"/>
              </a:rPr>
              <a:t>Model of your choice</a:t>
            </a:r>
          </a:p>
        </p:txBody>
      </p:sp>
      <p:sp>
        <p:nvSpPr>
          <p:cNvPr id="112" name="TextBox 111"/>
          <p:cNvSpPr txBox="1"/>
          <p:nvPr/>
        </p:nvSpPr>
        <p:spPr>
          <a:xfrm>
            <a:off x="8503920" y="3872483"/>
            <a:ext cx="2816352" cy="146304"/>
          </a:xfrm>
          <a:prstGeom prst="rect">
            <a:avLst/>
          </a:prstGeom>
          <a:noFill/>
        </p:spPr>
        <p:txBody>
          <a:bodyPr wrap="square" lIns="0" rIns="0" tIns="0" bIns="0" anchor="t">
            <a:spAutoFit/>
          </a:bodyPr>
          <a:lstStyle/>
          <a:p>
            <a:pPr algn="l"/>
            <a:r>
              <a:rPr sz="680" b="0" i="0">
                <a:solidFill>
                  <a:srgbClr val="64748B"/>
                </a:solidFill>
                <a:latin typeface="Aptos"/>
              </a:rPr>
              <a:t>local, self-hosted, or API</a:t>
            </a:r>
          </a:p>
        </p:txBody>
      </p:sp>
      <p:sp>
        <p:nvSpPr>
          <p:cNvPr id="113" name="Rounded Rectangle 112"/>
          <p:cNvSpPr/>
          <p:nvPr/>
        </p:nvSpPr>
        <p:spPr>
          <a:xfrm>
            <a:off x="8375904" y="4114800"/>
            <a:ext cx="3072384" cy="365760"/>
          </a:xfrm>
          <a:prstGeom prst="roundRect">
            <a:avLst>
              <a:gd name="adj" fmla="val 10000"/>
            </a:avLst>
          </a:prstGeom>
          <a:solidFill>
            <a:srgbClr val="16213B"/>
          </a:solidFill>
          <a:ln w="762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4" name="TextBox 113"/>
          <p:cNvSpPr txBox="1"/>
          <p:nvPr/>
        </p:nvSpPr>
        <p:spPr>
          <a:xfrm>
            <a:off x="8503920" y="4165091"/>
            <a:ext cx="2816352" cy="164592"/>
          </a:xfrm>
          <a:prstGeom prst="rect">
            <a:avLst/>
          </a:prstGeom>
          <a:noFill/>
        </p:spPr>
        <p:txBody>
          <a:bodyPr wrap="square" lIns="0" rIns="0" tIns="0" bIns="0" anchor="t">
            <a:spAutoFit/>
          </a:bodyPr>
          <a:lstStyle/>
          <a:p>
            <a:pPr algn="l"/>
            <a:r>
              <a:rPr sz="800" b="1" i="0">
                <a:solidFill>
                  <a:srgbClr val="FFFFFF"/>
                </a:solidFill>
                <a:latin typeface="Aptos"/>
              </a:rPr>
              <a:t>Answer + citations</a:t>
            </a:r>
          </a:p>
        </p:txBody>
      </p:sp>
      <p:sp>
        <p:nvSpPr>
          <p:cNvPr id="115" name="TextBox 114"/>
          <p:cNvSpPr txBox="1"/>
          <p:nvPr/>
        </p:nvSpPr>
        <p:spPr>
          <a:xfrm>
            <a:off x="8503920" y="4311396"/>
            <a:ext cx="2816352" cy="146304"/>
          </a:xfrm>
          <a:prstGeom prst="rect">
            <a:avLst/>
          </a:prstGeom>
          <a:noFill/>
        </p:spPr>
        <p:txBody>
          <a:bodyPr wrap="square" lIns="0" rIns="0" tIns="0" bIns="0" anchor="t">
            <a:spAutoFit/>
          </a:bodyPr>
          <a:lstStyle/>
          <a:p>
            <a:pPr algn="l"/>
            <a:r>
              <a:rPr sz="680" b="0" i="0">
                <a:solidFill>
                  <a:srgbClr val="64748B"/>
                </a:solidFill>
                <a:latin typeface="Aptos"/>
              </a:rPr>
              <a:t>every claim points back to a chunk</a:t>
            </a:r>
          </a:p>
        </p:txBody>
      </p:sp>
      <p:sp>
        <p:nvSpPr>
          <p:cNvPr id="116" name="Rounded Rectangle 115"/>
          <p:cNvSpPr/>
          <p:nvPr/>
        </p:nvSpPr>
        <p:spPr>
          <a:xfrm>
            <a:off x="8375904" y="4553712"/>
            <a:ext cx="3072384" cy="365760"/>
          </a:xfrm>
          <a:prstGeom prst="roundRect">
            <a:avLst>
              <a:gd name="adj" fmla="val 10000"/>
            </a:avLst>
          </a:prstGeom>
          <a:solidFill>
            <a:srgbClr val="16213B"/>
          </a:solidFill>
          <a:ln w="762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7" name="TextBox 116"/>
          <p:cNvSpPr txBox="1"/>
          <p:nvPr/>
        </p:nvSpPr>
        <p:spPr>
          <a:xfrm>
            <a:off x="8503920" y="4604004"/>
            <a:ext cx="2816352" cy="164592"/>
          </a:xfrm>
          <a:prstGeom prst="rect">
            <a:avLst/>
          </a:prstGeom>
          <a:noFill/>
        </p:spPr>
        <p:txBody>
          <a:bodyPr wrap="square" lIns="0" rIns="0" tIns="0" bIns="0" anchor="t">
            <a:spAutoFit/>
          </a:bodyPr>
          <a:lstStyle/>
          <a:p>
            <a:pPr algn="l"/>
            <a:r>
              <a:rPr sz="800" b="1" i="0">
                <a:solidFill>
                  <a:srgbClr val="FFFFFF"/>
                </a:solidFill>
                <a:latin typeface="Aptos"/>
              </a:rPr>
              <a:t>Nothing else</a:t>
            </a:r>
          </a:p>
        </p:txBody>
      </p:sp>
      <p:sp>
        <p:nvSpPr>
          <p:cNvPr id="118" name="TextBox 117"/>
          <p:cNvSpPr txBox="1"/>
          <p:nvPr/>
        </p:nvSpPr>
        <p:spPr>
          <a:xfrm>
            <a:off x="8503920" y="4750308"/>
            <a:ext cx="2816352" cy="146304"/>
          </a:xfrm>
          <a:prstGeom prst="rect">
            <a:avLst/>
          </a:prstGeom>
          <a:noFill/>
        </p:spPr>
        <p:txBody>
          <a:bodyPr wrap="square" lIns="0" rIns="0" tIns="0" bIns="0" anchor="t">
            <a:spAutoFit/>
          </a:bodyPr>
          <a:lstStyle/>
          <a:p>
            <a:pPr algn="l"/>
            <a:r>
              <a:rPr sz="680" b="0" i="0">
                <a:solidFill>
                  <a:srgbClr val="64748B"/>
                </a:solidFill>
                <a:latin typeface="Aptos"/>
              </a:rPr>
              <a:t>no corpus, no index, no embeddings</a:t>
            </a:r>
          </a:p>
        </p:txBody>
      </p:sp>
      <p:sp>
        <p:nvSpPr>
          <p:cNvPr id="119" name="Rectangle 118"/>
          <p:cNvSpPr/>
          <p:nvPr/>
        </p:nvSpPr>
        <p:spPr>
          <a:xfrm>
            <a:off x="8375904" y="5084064"/>
            <a:ext cx="3072384"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0" name="TextBox 119"/>
          <p:cNvSpPr txBox="1"/>
          <p:nvPr/>
        </p:nvSpPr>
        <p:spPr>
          <a:xfrm>
            <a:off x="8375904" y="5230368"/>
            <a:ext cx="3072384" cy="365760"/>
          </a:xfrm>
          <a:prstGeom prst="rect">
            <a:avLst/>
          </a:prstGeom>
          <a:noFill/>
        </p:spPr>
        <p:txBody>
          <a:bodyPr wrap="square" lIns="0" rIns="0" tIns="0" bIns="0" anchor="t">
            <a:spAutoFit/>
          </a:bodyPr>
          <a:lstStyle/>
          <a:p>
            <a:pPr algn="ctr">
              <a:lnSpc>
                <a:spcPct val="126000"/>
              </a:lnSpc>
            </a:pPr>
            <a:r>
              <a:rPr sz="760" b="0" i="0">
                <a:solidFill>
                  <a:srgbClr val="64748B"/>
                </a:solidFill>
                <a:latin typeface="Aptos"/>
              </a:rPr>
              <a:t>Compromising it exposes only what you asked for.</a:t>
            </a:r>
          </a:p>
        </p:txBody>
      </p:sp>
      <p:sp>
        <p:nvSpPr>
          <p:cNvPr id="121" name="Rounded Rectangle 120"/>
          <p:cNvSpPr/>
          <p:nvPr/>
        </p:nvSpPr>
        <p:spPr>
          <a:xfrm>
            <a:off x="4133087" y="5010912"/>
            <a:ext cx="3566160" cy="457200"/>
          </a:xfrm>
          <a:prstGeom prst="roundRect">
            <a:avLst>
              <a:gd name="adj" fmla="val 10000"/>
            </a:avLst>
          </a:prstGeom>
          <a:solidFill>
            <a:srgbClr val="231829"/>
          </a:solidFill>
          <a:ln w="10160">
            <a:solidFill>
              <a:srgbClr val="5C1C2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2" name="TextBox 121"/>
          <p:cNvSpPr txBox="1"/>
          <p:nvPr/>
        </p:nvSpPr>
        <p:spPr>
          <a:xfrm>
            <a:off x="4133087" y="5138928"/>
            <a:ext cx="3566160" cy="201168"/>
          </a:xfrm>
          <a:prstGeom prst="rect">
            <a:avLst/>
          </a:prstGeom>
          <a:noFill/>
        </p:spPr>
        <p:txBody>
          <a:bodyPr wrap="square" lIns="0" rIns="0" tIns="0" bIns="0" anchor="t">
            <a:spAutoFit/>
          </a:bodyPr>
          <a:lstStyle/>
          <a:p>
            <a:pPr algn="ctr"/>
            <a:r>
              <a:rPr sz="800" b="1" i="0" spc="90">
                <a:solidFill>
                  <a:srgbClr val="DC2626"/>
                </a:solidFill>
                <a:latin typeface="Aptos"/>
              </a:rPr>
              <a:t>NO PATH TO ANY SERVER</a:t>
            </a:r>
          </a:p>
        </p:txBody>
      </p:sp>
      <p:sp>
        <p:nvSpPr>
          <p:cNvPr id="123" name="TextBox 122"/>
          <p:cNvSpPr txBox="1"/>
          <p:nvPr/>
        </p:nvSpPr>
        <p:spPr>
          <a:xfrm>
            <a:off x="4133087" y="5559552"/>
            <a:ext cx="3566160" cy="365760"/>
          </a:xfrm>
          <a:prstGeom prst="rect">
            <a:avLst/>
          </a:prstGeom>
          <a:noFill/>
        </p:spPr>
        <p:txBody>
          <a:bodyPr wrap="square" lIns="0" rIns="0" tIns="0" bIns="0" anchor="t">
            <a:spAutoFit/>
          </a:bodyPr>
          <a:lstStyle/>
          <a:p>
            <a:pPr algn="ctr">
              <a:lnSpc>
                <a:spcPct val="126000"/>
              </a:lnSpc>
            </a:pPr>
            <a:r>
              <a:rPr sz="780" b="0" i="0">
                <a:solidFill>
                  <a:srgbClr val="64748B"/>
                </a:solidFill>
                <a:latin typeface="Aptos"/>
              </a:rPr>
              <a:t>The app requests no network permission, so this arrow cannot be drawn even by a compromised build.</a:t>
            </a:r>
          </a:p>
        </p:txBody>
      </p:sp>
      <p:sp>
        <p:nvSpPr>
          <p:cNvPr id="124" name="Rounded Rectangle 123"/>
          <p:cNvSpPr/>
          <p:nvPr/>
        </p:nvSpPr>
        <p:spPr>
          <a:xfrm>
            <a:off x="594360" y="5998464"/>
            <a:ext cx="918057" cy="169164"/>
          </a:xfrm>
          <a:prstGeom prst="roundRect">
            <a:avLst>
              <a:gd name="adj" fmla="val 16216"/>
            </a:avLst>
          </a:prstGeom>
          <a:solidFill>
            <a:srgbClr val="1E2746"/>
          </a:solidFill>
          <a:ln w="7620">
            <a:solidFill>
              <a:srgbClr val="3C488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5" name="TextBox 124"/>
          <p:cNvSpPr txBox="1"/>
          <p:nvPr/>
        </p:nvSpPr>
        <p:spPr>
          <a:xfrm>
            <a:off x="594360" y="6024067"/>
            <a:ext cx="918057" cy="146304"/>
          </a:xfrm>
          <a:prstGeom prst="rect">
            <a:avLst/>
          </a:prstGeom>
          <a:noFill/>
        </p:spPr>
        <p:txBody>
          <a:bodyPr wrap="square" lIns="0" rIns="0" tIns="0" bIns="0" anchor="t">
            <a:spAutoFit/>
          </a:bodyPr>
          <a:lstStyle/>
          <a:p>
            <a:pPr algn="ctr"/>
            <a:r>
              <a:rPr sz="650" b="1" i="0" spc="55">
                <a:solidFill>
                  <a:srgbClr val="7C8CF8"/>
                </a:solidFill>
                <a:latin typeface="Aptos"/>
              </a:rPr>
              <a:t>TARGET BUILD</a:t>
            </a:r>
          </a:p>
        </p:txBody>
      </p:sp>
      <p:sp>
        <p:nvSpPr>
          <p:cNvPr id="126" name="TextBox 125"/>
          <p:cNvSpPr txBox="1"/>
          <p:nvPr/>
        </p:nvSpPr>
        <p:spPr>
          <a:xfrm>
            <a:off x="1658721" y="6016752"/>
            <a:ext cx="6949440" cy="182880"/>
          </a:xfrm>
          <a:prstGeom prst="rect">
            <a:avLst/>
          </a:prstGeom>
          <a:noFill/>
        </p:spPr>
        <p:txBody>
          <a:bodyPr wrap="square" lIns="0" rIns="0" tIns="0" bIns="0" anchor="t">
            <a:spAutoFit/>
          </a:bodyPr>
          <a:lstStyle/>
          <a:p>
            <a:pPr algn="l"/>
            <a:r>
              <a:rPr sz="780" b="0" i="0">
                <a:solidFill>
                  <a:srgbClr val="44546F"/>
                </a:solidFill>
                <a:latin typeface="Aptos"/>
              </a:rPr>
              <a:t>sqlite-vec, SQLCipher, the NPU delegate and Office Kit are the target build - slide 09 states what is measured today.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TextBox 2"/>
          <p:cNvSpPr txBox="1"/>
          <p:nvPr/>
        </p:nvSpPr>
        <p:spPr>
          <a:xfrm>
            <a:off x="594360" y="347472"/>
            <a:ext cx="8778240" cy="219456"/>
          </a:xfrm>
          <a:prstGeom prst="rect">
            <a:avLst/>
          </a:prstGeom>
          <a:noFill/>
        </p:spPr>
        <p:txBody>
          <a:bodyPr wrap="square" lIns="0" rIns="0" tIns="0" bIns="0" anchor="t">
            <a:spAutoFit/>
          </a:bodyPr>
          <a:lstStyle/>
          <a:p>
            <a:pPr algn="l"/>
            <a:r>
              <a:rPr sz="850" b="1" i="0" spc="150">
                <a:solidFill>
                  <a:srgbClr val="64748B"/>
                </a:solidFill>
                <a:latin typeface="Aptos"/>
              </a:rPr>
              <a:t>05 · THE PIPELINE</a:t>
            </a:r>
          </a:p>
        </p:txBody>
      </p:sp>
      <p:sp>
        <p:nvSpPr>
          <p:cNvPr id="4" name="TextBox 3"/>
          <p:cNvSpPr txBox="1"/>
          <p:nvPr/>
        </p:nvSpPr>
        <p:spPr>
          <a:xfrm>
            <a:off x="594360" y="731520"/>
            <a:ext cx="11000232" cy="731520"/>
          </a:xfrm>
          <a:prstGeom prst="rect">
            <a:avLst/>
          </a:prstGeom>
          <a:noFill/>
        </p:spPr>
        <p:txBody>
          <a:bodyPr wrap="square" lIns="0" rIns="0" tIns="0" bIns="0" anchor="t">
            <a:spAutoFit/>
          </a:bodyPr>
          <a:lstStyle/>
          <a:p>
            <a:pPr algn="l">
              <a:lnSpc>
                <a:spcPct val="102000"/>
              </a:lnSpc>
            </a:pPr>
            <a:r>
              <a:rPr sz="2700" b="0" i="0">
                <a:solidFill>
                  <a:srgbClr val="FFFFFF"/>
                </a:solidFill>
                <a:latin typeface="Aptos Display"/>
              </a:rPr>
              <a:t>From a document to a cited answer.</a:t>
            </a:r>
          </a:p>
        </p:txBody>
      </p:sp>
      <p:sp>
        <p:nvSpPr>
          <p:cNvPr id="5" name="TextBox 4"/>
          <p:cNvSpPr txBox="1"/>
          <p:nvPr/>
        </p:nvSpPr>
        <p:spPr>
          <a:xfrm>
            <a:off x="594360" y="1481328"/>
            <a:ext cx="10332720" cy="457200"/>
          </a:xfrm>
          <a:prstGeom prst="rect">
            <a:avLst/>
          </a:prstGeom>
          <a:noFill/>
        </p:spPr>
        <p:txBody>
          <a:bodyPr wrap="square" lIns="0" rIns="0" tIns="0" bIns="0" anchor="t">
            <a:spAutoFit/>
          </a:bodyPr>
          <a:lstStyle/>
          <a:p>
            <a:pPr algn="l">
              <a:lnSpc>
                <a:spcPct val="125000"/>
              </a:lnSpc>
            </a:pPr>
            <a:r>
              <a:rPr sz="1150" b="0" i="0">
                <a:solidFill>
                  <a:srgbClr val="94A3B8"/>
                </a:solidFill>
                <a:latin typeface="Aptos"/>
              </a:rPr>
              <a:t>Six stages. The first five never leave the phone; only the sixth crosses the boundary.</a:t>
            </a:r>
          </a:p>
        </p:txBody>
      </p:sp>
      <p:sp>
        <p:nvSpPr>
          <p:cNvPr id="6" name="Rectangle 5"/>
          <p:cNvSpPr/>
          <p:nvPr/>
        </p:nvSpPr>
        <p:spPr>
          <a:xfrm>
            <a:off x="594360" y="6291072"/>
            <a:ext cx="11000232"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TextBox 6"/>
          <p:cNvSpPr txBox="1"/>
          <p:nvPr/>
        </p:nvSpPr>
        <p:spPr>
          <a:xfrm>
            <a:off x="10881360" y="6419088"/>
            <a:ext cx="713232" cy="201168"/>
          </a:xfrm>
          <a:prstGeom prst="rect">
            <a:avLst/>
          </a:prstGeom>
          <a:noFill/>
        </p:spPr>
        <p:txBody>
          <a:bodyPr wrap="square" lIns="0" rIns="0" tIns="0" bIns="0" anchor="t">
            <a:spAutoFit/>
          </a:bodyPr>
          <a:lstStyle/>
          <a:p>
            <a:pPr algn="r"/>
            <a:r>
              <a:rPr sz="850" b="1" i="0" spc="80">
                <a:solidFill>
                  <a:srgbClr val="64748B"/>
                </a:solidFill>
                <a:latin typeface="Aptos"/>
              </a:rPr>
              <a:t>05</a:t>
            </a:r>
          </a:p>
        </p:txBody>
      </p:sp>
      <p:sp>
        <p:nvSpPr>
          <p:cNvPr id="8" name="Rounded Rectangle 7"/>
          <p:cNvSpPr/>
          <p:nvPr/>
        </p:nvSpPr>
        <p:spPr>
          <a:xfrm>
            <a:off x="594360" y="2212848"/>
            <a:ext cx="1711451" cy="1188720"/>
          </a:xfrm>
          <a:prstGeom prst="roundRect">
            <a:avLst>
              <a:gd name="adj" fmla="val 3846"/>
            </a:avLst>
          </a:prstGeom>
          <a:solidFill>
            <a:srgbClr val="10192E"/>
          </a:solidFill>
          <a:ln w="889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Rectangle 8"/>
          <p:cNvSpPr/>
          <p:nvPr/>
        </p:nvSpPr>
        <p:spPr>
          <a:xfrm>
            <a:off x="594360" y="2212848"/>
            <a:ext cx="1711451" cy="29260"/>
          </a:xfrm>
          <a:prstGeom prst="rect">
            <a:avLst/>
          </a:prstGeom>
          <a:solidFill>
            <a:srgbClr val="1976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TextBox 9"/>
          <p:cNvSpPr txBox="1"/>
          <p:nvPr/>
        </p:nvSpPr>
        <p:spPr>
          <a:xfrm>
            <a:off x="722376" y="2359152"/>
            <a:ext cx="1455419" cy="182880"/>
          </a:xfrm>
          <a:prstGeom prst="rect">
            <a:avLst/>
          </a:prstGeom>
          <a:noFill/>
        </p:spPr>
        <p:txBody>
          <a:bodyPr wrap="square" lIns="0" rIns="0" tIns="0" bIns="0" anchor="t">
            <a:spAutoFit/>
          </a:bodyPr>
          <a:lstStyle/>
          <a:p>
            <a:pPr algn="l"/>
            <a:r>
              <a:rPr sz="850" b="1" i="0" spc="40">
                <a:solidFill>
                  <a:srgbClr val="FFFFFF"/>
                </a:solidFill>
                <a:latin typeface="Aptos"/>
              </a:rPr>
              <a:t>Ingest</a:t>
            </a:r>
          </a:p>
        </p:txBody>
      </p:sp>
      <p:sp>
        <p:nvSpPr>
          <p:cNvPr id="11" name="TextBox 10"/>
          <p:cNvSpPr txBox="1"/>
          <p:nvPr/>
        </p:nvSpPr>
        <p:spPr>
          <a:xfrm>
            <a:off x="722376" y="2560320"/>
            <a:ext cx="1455419" cy="768096"/>
          </a:xfrm>
          <a:prstGeom prst="rect">
            <a:avLst/>
          </a:prstGeom>
          <a:noFill/>
        </p:spPr>
        <p:txBody>
          <a:bodyPr wrap="square" lIns="0" rIns="0" tIns="0" bIns="0" anchor="t">
            <a:spAutoFit/>
          </a:bodyPr>
          <a:lstStyle/>
          <a:p>
            <a:pPr algn="l">
              <a:lnSpc>
                <a:spcPct val="120000"/>
              </a:lnSpc>
            </a:pPr>
            <a:r>
              <a:rPr sz="740" b="0" i="0">
                <a:solidFill>
                  <a:srgbClr val="94A3B8"/>
                </a:solidFill>
                <a:latin typeface="Aptos"/>
              </a:rPr>
              <a:t>Text, code and camera captures are normalised to plain text on-device. OCR runs locally.</a:t>
            </a:r>
          </a:p>
        </p:txBody>
      </p:sp>
      <p:sp>
        <p:nvSpPr>
          <p:cNvPr id="12" name="TextBox 11"/>
          <p:cNvSpPr txBox="1"/>
          <p:nvPr/>
        </p:nvSpPr>
        <p:spPr>
          <a:xfrm>
            <a:off x="722376" y="3493008"/>
            <a:ext cx="1528571" cy="182880"/>
          </a:xfrm>
          <a:prstGeom prst="rect">
            <a:avLst/>
          </a:prstGeom>
          <a:noFill/>
        </p:spPr>
        <p:txBody>
          <a:bodyPr wrap="square" lIns="0" rIns="0" tIns="0" bIns="0" anchor="t">
            <a:spAutoFit/>
          </a:bodyPr>
          <a:lstStyle/>
          <a:p>
            <a:pPr algn="l"/>
            <a:r>
              <a:rPr sz="700" b="1" i="0" spc="60">
                <a:solidFill>
                  <a:srgbClr val="22C55E"/>
                </a:solidFill>
                <a:latin typeface="Aptos"/>
              </a:rPr>
              <a:t>ON PHONE</a:t>
            </a:r>
          </a:p>
        </p:txBody>
      </p:sp>
      <p:sp>
        <p:nvSpPr>
          <p:cNvPr id="13" name="TextBox 12"/>
          <p:cNvSpPr txBox="1"/>
          <p:nvPr/>
        </p:nvSpPr>
        <p:spPr>
          <a:xfrm>
            <a:off x="2305812" y="2715768"/>
            <a:ext cx="146304" cy="182880"/>
          </a:xfrm>
          <a:prstGeom prst="rect">
            <a:avLst/>
          </a:prstGeom>
          <a:noFill/>
        </p:spPr>
        <p:txBody>
          <a:bodyPr wrap="square" lIns="0" rIns="0" tIns="0" bIns="0" anchor="t">
            <a:spAutoFit/>
          </a:bodyPr>
          <a:lstStyle/>
          <a:p>
            <a:pPr algn="ctr"/>
            <a:r>
              <a:rPr sz="1100" b="0" i="0">
                <a:solidFill>
                  <a:srgbClr val="44546F"/>
                </a:solidFill>
                <a:latin typeface="Aptos"/>
              </a:rPr>
              <a:t>&gt;</a:t>
            </a:r>
          </a:p>
        </p:txBody>
      </p:sp>
      <p:sp>
        <p:nvSpPr>
          <p:cNvPr id="14" name="Rounded Rectangle 13"/>
          <p:cNvSpPr/>
          <p:nvPr/>
        </p:nvSpPr>
        <p:spPr>
          <a:xfrm>
            <a:off x="2452115" y="2212848"/>
            <a:ext cx="1711451" cy="1188720"/>
          </a:xfrm>
          <a:prstGeom prst="roundRect">
            <a:avLst>
              <a:gd name="adj" fmla="val 3846"/>
            </a:avLst>
          </a:prstGeom>
          <a:solidFill>
            <a:srgbClr val="10192E"/>
          </a:solidFill>
          <a:ln w="889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Rectangle 14"/>
          <p:cNvSpPr/>
          <p:nvPr/>
        </p:nvSpPr>
        <p:spPr>
          <a:xfrm>
            <a:off x="2452115" y="2212848"/>
            <a:ext cx="1711451" cy="29260"/>
          </a:xfrm>
          <a:prstGeom prst="rect">
            <a:avLst/>
          </a:prstGeom>
          <a:solidFill>
            <a:srgbClr val="186C4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TextBox 15"/>
          <p:cNvSpPr txBox="1"/>
          <p:nvPr/>
        </p:nvSpPr>
        <p:spPr>
          <a:xfrm>
            <a:off x="2580131" y="2359152"/>
            <a:ext cx="1455419" cy="182880"/>
          </a:xfrm>
          <a:prstGeom prst="rect">
            <a:avLst/>
          </a:prstGeom>
          <a:noFill/>
        </p:spPr>
        <p:txBody>
          <a:bodyPr wrap="square" lIns="0" rIns="0" tIns="0" bIns="0" anchor="t">
            <a:spAutoFit/>
          </a:bodyPr>
          <a:lstStyle/>
          <a:p>
            <a:pPr algn="l"/>
            <a:r>
              <a:rPr sz="850" b="1" i="0" spc="40">
                <a:solidFill>
                  <a:srgbClr val="FFFFFF"/>
                </a:solidFill>
                <a:latin typeface="Aptos"/>
              </a:rPr>
              <a:t>Chunk</a:t>
            </a:r>
          </a:p>
        </p:txBody>
      </p:sp>
      <p:sp>
        <p:nvSpPr>
          <p:cNvPr id="17" name="TextBox 16"/>
          <p:cNvSpPr txBox="1"/>
          <p:nvPr/>
        </p:nvSpPr>
        <p:spPr>
          <a:xfrm>
            <a:off x="2580131" y="2560320"/>
            <a:ext cx="1455419" cy="768096"/>
          </a:xfrm>
          <a:prstGeom prst="rect">
            <a:avLst/>
          </a:prstGeom>
          <a:noFill/>
        </p:spPr>
        <p:txBody>
          <a:bodyPr wrap="square" lIns="0" rIns="0" tIns="0" bIns="0" anchor="t">
            <a:spAutoFit/>
          </a:bodyPr>
          <a:lstStyle/>
          <a:p>
            <a:pPr algn="l">
              <a:lnSpc>
                <a:spcPct val="120000"/>
              </a:lnSpc>
            </a:pPr>
            <a:r>
              <a:rPr sz="740" b="0" i="0">
                <a:solidFill>
                  <a:srgbClr val="94A3B8"/>
                </a:solidFill>
                <a:latin typeface="Aptos"/>
              </a:rPr>
              <a:t>256-token windows with 32 tokens of overlap, so an idea spanning a boundary is never cut in half.</a:t>
            </a:r>
          </a:p>
        </p:txBody>
      </p:sp>
      <p:sp>
        <p:nvSpPr>
          <p:cNvPr id="18" name="TextBox 17"/>
          <p:cNvSpPr txBox="1"/>
          <p:nvPr/>
        </p:nvSpPr>
        <p:spPr>
          <a:xfrm>
            <a:off x="2580131" y="3493008"/>
            <a:ext cx="1528571" cy="182880"/>
          </a:xfrm>
          <a:prstGeom prst="rect">
            <a:avLst/>
          </a:prstGeom>
          <a:noFill/>
        </p:spPr>
        <p:txBody>
          <a:bodyPr wrap="square" lIns="0" rIns="0" tIns="0" bIns="0" anchor="t">
            <a:spAutoFit/>
          </a:bodyPr>
          <a:lstStyle/>
          <a:p>
            <a:pPr algn="l"/>
            <a:r>
              <a:rPr sz="700" b="1" i="0" spc="60">
                <a:solidFill>
                  <a:srgbClr val="22C55E"/>
                </a:solidFill>
                <a:latin typeface="Aptos"/>
              </a:rPr>
              <a:t>ON PHONE</a:t>
            </a:r>
          </a:p>
        </p:txBody>
      </p:sp>
      <p:sp>
        <p:nvSpPr>
          <p:cNvPr id="19" name="TextBox 18"/>
          <p:cNvSpPr txBox="1"/>
          <p:nvPr/>
        </p:nvSpPr>
        <p:spPr>
          <a:xfrm>
            <a:off x="4163567" y="2715768"/>
            <a:ext cx="146304" cy="182880"/>
          </a:xfrm>
          <a:prstGeom prst="rect">
            <a:avLst/>
          </a:prstGeom>
          <a:noFill/>
        </p:spPr>
        <p:txBody>
          <a:bodyPr wrap="square" lIns="0" rIns="0" tIns="0" bIns="0" anchor="t">
            <a:spAutoFit/>
          </a:bodyPr>
          <a:lstStyle/>
          <a:p>
            <a:pPr algn="ctr"/>
            <a:r>
              <a:rPr sz="1100" b="0" i="0">
                <a:solidFill>
                  <a:srgbClr val="44546F"/>
                </a:solidFill>
                <a:latin typeface="Aptos"/>
              </a:rPr>
              <a:t>&gt;</a:t>
            </a:r>
          </a:p>
        </p:txBody>
      </p:sp>
      <p:sp>
        <p:nvSpPr>
          <p:cNvPr id="20" name="Rounded Rectangle 19"/>
          <p:cNvSpPr/>
          <p:nvPr/>
        </p:nvSpPr>
        <p:spPr>
          <a:xfrm>
            <a:off x="4309872" y="2212848"/>
            <a:ext cx="1711451" cy="1188720"/>
          </a:xfrm>
          <a:prstGeom prst="roundRect">
            <a:avLst>
              <a:gd name="adj" fmla="val 3846"/>
            </a:avLst>
          </a:prstGeom>
          <a:solidFill>
            <a:srgbClr val="10192E"/>
          </a:solidFill>
          <a:ln w="889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Rectangle 20"/>
          <p:cNvSpPr/>
          <p:nvPr/>
        </p:nvSpPr>
        <p:spPr>
          <a:xfrm>
            <a:off x="4309872" y="2212848"/>
            <a:ext cx="1711451" cy="29260"/>
          </a:xfrm>
          <a:prstGeom prst="rect">
            <a:avLst/>
          </a:prstGeom>
          <a:solidFill>
            <a:srgbClr val="1761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TextBox 21"/>
          <p:cNvSpPr txBox="1"/>
          <p:nvPr/>
        </p:nvSpPr>
        <p:spPr>
          <a:xfrm>
            <a:off x="4437887" y="2359152"/>
            <a:ext cx="1455419" cy="182880"/>
          </a:xfrm>
          <a:prstGeom prst="rect">
            <a:avLst/>
          </a:prstGeom>
          <a:noFill/>
        </p:spPr>
        <p:txBody>
          <a:bodyPr wrap="square" lIns="0" rIns="0" tIns="0" bIns="0" anchor="t">
            <a:spAutoFit/>
          </a:bodyPr>
          <a:lstStyle/>
          <a:p>
            <a:pPr algn="l"/>
            <a:r>
              <a:rPr sz="850" b="1" i="0" spc="40">
                <a:solidFill>
                  <a:srgbClr val="FFFFFF"/>
                </a:solidFill>
                <a:latin typeface="Aptos"/>
              </a:rPr>
              <a:t>Encode</a:t>
            </a:r>
          </a:p>
        </p:txBody>
      </p:sp>
      <p:sp>
        <p:nvSpPr>
          <p:cNvPr id="23" name="TextBox 22"/>
          <p:cNvSpPr txBox="1"/>
          <p:nvPr/>
        </p:nvSpPr>
        <p:spPr>
          <a:xfrm>
            <a:off x="4437887" y="2560320"/>
            <a:ext cx="1455419" cy="768096"/>
          </a:xfrm>
          <a:prstGeom prst="rect">
            <a:avLst/>
          </a:prstGeom>
          <a:noFill/>
        </p:spPr>
        <p:txBody>
          <a:bodyPr wrap="square" lIns="0" rIns="0" tIns="0" bIns="0" anchor="t">
            <a:spAutoFit/>
          </a:bodyPr>
          <a:lstStyle/>
          <a:p>
            <a:pPr algn="l">
              <a:lnSpc>
                <a:spcPct val="120000"/>
              </a:lnSpc>
            </a:pPr>
            <a:r>
              <a:rPr sz="740" b="0" i="0">
                <a:solidFill>
                  <a:srgbClr val="94A3B8"/>
                </a:solidFill>
                <a:latin typeface="Aptos"/>
              </a:rPr>
              <a:t>MiniLM-L6-v2, 384 dimensions, quantised and compiled for the phone's neural engine.</a:t>
            </a:r>
          </a:p>
        </p:txBody>
      </p:sp>
      <p:sp>
        <p:nvSpPr>
          <p:cNvPr id="24" name="TextBox 23"/>
          <p:cNvSpPr txBox="1"/>
          <p:nvPr/>
        </p:nvSpPr>
        <p:spPr>
          <a:xfrm>
            <a:off x="4437887" y="3493008"/>
            <a:ext cx="1528571" cy="182880"/>
          </a:xfrm>
          <a:prstGeom prst="rect">
            <a:avLst/>
          </a:prstGeom>
          <a:noFill/>
        </p:spPr>
        <p:txBody>
          <a:bodyPr wrap="square" lIns="0" rIns="0" tIns="0" bIns="0" anchor="t">
            <a:spAutoFit/>
          </a:bodyPr>
          <a:lstStyle/>
          <a:p>
            <a:pPr algn="l"/>
            <a:r>
              <a:rPr sz="700" b="1" i="0" spc="60">
                <a:solidFill>
                  <a:srgbClr val="22C55E"/>
                </a:solidFill>
                <a:latin typeface="Aptos"/>
              </a:rPr>
              <a:t>ON PHONE · NPU</a:t>
            </a:r>
          </a:p>
        </p:txBody>
      </p:sp>
      <p:sp>
        <p:nvSpPr>
          <p:cNvPr id="25" name="TextBox 24"/>
          <p:cNvSpPr txBox="1"/>
          <p:nvPr/>
        </p:nvSpPr>
        <p:spPr>
          <a:xfrm>
            <a:off x="6021323" y="2715768"/>
            <a:ext cx="146304" cy="182880"/>
          </a:xfrm>
          <a:prstGeom prst="rect">
            <a:avLst/>
          </a:prstGeom>
          <a:noFill/>
        </p:spPr>
        <p:txBody>
          <a:bodyPr wrap="square" lIns="0" rIns="0" tIns="0" bIns="0" anchor="t">
            <a:spAutoFit/>
          </a:bodyPr>
          <a:lstStyle/>
          <a:p>
            <a:pPr algn="ctr"/>
            <a:r>
              <a:rPr sz="1100" b="0" i="0">
                <a:solidFill>
                  <a:srgbClr val="44546F"/>
                </a:solidFill>
                <a:latin typeface="Aptos"/>
              </a:rPr>
              <a:t>&gt;</a:t>
            </a:r>
          </a:p>
        </p:txBody>
      </p:sp>
      <p:sp>
        <p:nvSpPr>
          <p:cNvPr id="26" name="Rounded Rectangle 25"/>
          <p:cNvSpPr/>
          <p:nvPr/>
        </p:nvSpPr>
        <p:spPr>
          <a:xfrm>
            <a:off x="6167627" y="2212848"/>
            <a:ext cx="1711451" cy="1188720"/>
          </a:xfrm>
          <a:prstGeom prst="roundRect">
            <a:avLst>
              <a:gd name="adj" fmla="val 3846"/>
            </a:avLst>
          </a:prstGeom>
          <a:solidFill>
            <a:srgbClr val="10192E"/>
          </a:solidFill>
          <a:ln w="889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Rectangle 26"/>
          <p:cNvSpPr/>
          <p:nvPr/>
        </p:nvSpPr>
        <p:spPr>
          <a:xfrm>
            <a:off x="6167627" y="2212848"/>
            <a:ext cx="1711451" cy="29260"/>
          </a:xfrm>
          <a:prstGeom prst="rect">
            <a:avLst/>
          </a:prstGeom>
          <a:solidFill>
            <a:srgbClr val="1657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TextBox 27"/>
          <p:cNvSpPr txBox="1"/>
          <p:nvPr/>
        </p:nvSpPr>
        <p:spPr>
          <a:xfrm>
            <a:off x="6295643" y="2359152"/>
            <a:ext cx="1455419" cy="182880"/>
          </a:xfrm>
          <a:prstGeom prst="rect">
            <a:avLst/>
          </a:prstGeom>
          <a:noFill/>
        </p:spPr>
        <p:txBody>
          <a:bodyPr wrap="square" lIns="0" rIns="0" tIns="0" bIns="0" anchor="t">
            <a:spAutoFit/>
          </a:bodyPr>
          <a:lstStyle/>
          <a:p>
            <a:pPr algn="l"/>
            <a:r>
              <a:rPr sz="850" b="1" i="0" spc="40">
                <a:solidFill>
                  <a:srgbClr val="FFFFFF"/>
                </a:solidFill>
                <a:latin typeface="Aptos"/>
              </a:rPr>
              <a:t>Store</a:t>
            </a:r>
          </a:p>
        </p:txBody>
      </p:sp>
      <p:sp>
        <p:nvSpPr>
          <p:cNvPr id="29" name="TextBox 28"/>
          <p:cNvSpPr txBox="1"/>
          <p:nvPr/>
        </p:nvSpPr>
        <p:spPr>
          <a:xfrm>
            <a:off x="6295643" y="2560320"/>
            <a:ext cx="1455419" cy="768096"/>
          </a:xfrm>
          <a:prstGeom prst="rect">
            <a:avLst/>
          </a:prstGeom>
          <a:noFill/>
        </p:spPr>
        <p:txBody>
          <a:bodyPr wrap="square" lIns="0" rIns="0" tIns="0" bIns="0" anchor="t">
            <a:spAutoFit/>
          </a:bodyPr>
          <a:lstStyle/>
          <a:p>
            <a:pPr algn="l">
              <a:lnSpc>
                <a:spcPct val="120000"/>
              </a:lnSpc>
            </a:pPr>
            <a:r>
              <a:rPr sz="740" b="0" i="0">
                <a:solidFill>
                  <a:srgbClr val="94A3B8"/>
                </a:solidFill>
                <a:latin typeface="Aptos"/>
              </a:rPr>
              <a:t>Vectors land in SQLite with a vector index, encrypted at rest under a hardware-held key.</a:t>
            </a:r>
          </a:p>
        </p:txBody>
      </p:sp>
      <p:sp>
        <p:nvSpPr>
          <p:cNvPr id="30" name="TextBox 29"/>
          <p:cNvSpPr txBox="1"/>
          <p:nvPr/>
        </p:nvSpPr>
        <p:spPr>
          <a:xfrm>
            <a:off x="6295643" y="3493008"/>
            <a:ext cx="1528571" cy="182880"/>
          </a:xfrm>
          <a:prstGeom prst="rect">
            <a:avLst/>
          </a:prstGeom>
          <a:noFill/>
        </p:spPr>
        <p:txBody>
          <a:bodyPr wrap="square" lIns="0" rIns="0" tIns="0" bIns="0" anchor="t">
            <a:spAutoFit/>
          </a:bodyPr>
          <a:lstStyle/>
          <a:p>
            <a:pPr algn="l"/>
            <a:r>
              <a:rPr sz="700" b="1" i="0" spc="60">
                <a:solidFill>
                  <a:srgbClr val="22C55E"/>
                </a:solidFill>
                <a:latin typeface="Aptos"/>
              </a:rPr>
              <a:t>ON PHONE · ENCRYPTED</a:t>
            </a:r>
          </a:p>
        </p:txBody>
      </p:sp>
      <p:sp>
        <p:nvSpPr>
          <p:cNvPr id="31" name="TextBox 30"/>
          <p:cNvSpPr txBox="1"/>
          <p:nvPr/>
        </p:nvSpPr>
        <p:spPr>
          <a:xfrm>
            <a:off x="7879079" y="2715768"/>
            <a:ext cx="146304" cy="182880"/>
          </a:xfrm>
          <a:prstGeom prst="rect">
            <a:avLst/>
          </a:prstGeom>
          <a:noFill/>
        </p:spPr>
        <p:txBody>
          <a:bodyPr wrap="square" lIns="0" rIns="0" tIns="0" bIns="0" anchor="t">
            <a:spAutoFit/>
          </a:bodyPr>
          <a:lstStyle/>
          <a:p>
            <a:pPr algn="ctr"/>
            <a:r>
              <a:rPr sz="1100" b="0" i="0">
                <a:solidFill>
                  <a:srgbClr val="44546F"/>
                </a:solidFill>
                <a:latin typeface="Aptos"/>
              </a:rPr>
              <a:t>&gt;</a:t>
            </a:r>
          </a:p>
        </p:txBody>
      </p:sp>
      <p:sp>
        <p:nvSpPr>
          <p:cNvPr id="32" name="Rounded Rectangle 31"/>
          <p:cNvSpPr/>
          <p:nvPr/>
        </p:nvSpPr>
        <p:spPr>
          <a:xfrm>
            <a:off x="8025383" y="2212848"/>
            <a:ext cx="1711451" cy="1188720"/>
          </a:xfrm>
          <a:prstGeom prst="roundRect">
            <a:avLst>
              <a:gd name="adj" fmla="val 3846"/>
            </a:avLst>
          </a:prstGeom>
          <a:solidFill>
            <a:srgbClr val="10192E"/>
          </a:solidFill>
          <a:ln w="889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Rectangle 32"/>
          <p:cNvSpPr/>
          <p:nvPr/>
        </p:nvSpPr>
        <p:spPr>
          <a:xfrm>
            <a:off x="8025383" y="2212848"/>
            <a:ext cx="1711451" cy="29260"/>
          </a:xfrm>
          <a:prstGeom prst="rect">
            <a:avLst/>
          </a:prstGeom>
          <a:solidFill>
            <a:srgbClr val="144C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TextBox 33"/>
          <p:cNvSpPr txBox="1"/>
          <p:nvPr/>
        </p:nvSpPr>
        <p:spPr>
          <a:xfrm>
            <a:off x="8153399" y="2359152"/>
            <a:ext cx="1455419" cy="182880"/>
          </a:xfrm>
          <a:prstGeom prst="rect">
            <a:avLst/>
          </a:prstGeom>
          <a:noFill/>
        </p:spPr>
        <p:txBody>
          <a:bodyPr wrap="square" lIns="0" rIns="0" tIns="0" bIns="0" anchor="t">
            <a:spAutoFit/>
          </a:bodyPr>
          <a:lstStyle/>
          <a:p>
            <a:pPr algn="l"/>
            <a:r>
              <a:rPr sz="850" b="1" i="0" spc="40">
                <a:solidFill>
                  <a:srgbClr val="FFFFFF"/>
                </a:solidFill>
                <a:latin typeface="Aptos"/>
              </a:rPr>
              <a:t>Retrieve</a:t>
            </a:r>
          </a:p>
        </p:txBody>
      </p:sp>
      <p:sp>
        <p:nvSpPr>
          <p:cNvPr id="35" name="TextBox 34"/>
          <p:cNvSpPr txBox="1"/>
          <p:nvPr/>
        </p:nvSpPr>
        <p:spPr>
          <a:xfrm>
            <a:off x="8153399" y="2560320"/>
            <a:ext cx="1455419" cy="768096"/>
          </a:xfrm>
          <a:prstGeom prst="rect">
            <a:avLst/>
          </a:prstGeom>
          <a:noFill/>
        </p:spPr>
        <p:txBody>
          <a:bodyPr wrap="square" lIns="0" rIns="0" tIns="0" bIns="0" anchor="t">
            <a:spAutoFit/>
          </a:bodyPr>
          <a:lstStyle/>
          <a:p>
            <a:pPr algn="l">
              <a:lnSpc>
                <a:spcPct val="120000"/>
              </a:lnSpc>
            </a:pPr>
            <a:r>
              <a:rPr sz="740" b="0" i="0">
                <a:solidFill>
                  <a:srgbClr val="94A3B8"/>
                </a:solidFill>
                <a:latin typeface="Aptos"/>
              </a:rPr>
              <a:t>The same encoder embeds the question; cosine similarity ranks the index and the top passages are serialised.</a:t>
            </a:r>
          </a:p>
        </p:txBody>
      </p:sp>
      <p:sp>
        <p:nvSpPr>
          <p:cNvPr id="36" name="TextBox 35"/>
          <p:cNvSpPr txBox="1"/>
          <p:nvPr/>
        </p:nvSpPr>
        <p:spPr>
          <a:xfrm>
            <a:off x="8153399" y="3493008"/>
            <a:ext cx="1528571" cy="182880"/>
          </a:xfrm>
          <a:prstGeom prst="rect">
            <a:avLst/>
          </a:prstGeom>
          <a:noFill/>
        </p:spPr>
        <p:txBody>
          <a:bodyPr wrap="square" lIns="0" rIns="0" tIns="0" bIns="0" anchor="t">
            <a:spAutoFit/>
          </a:bodyPr>
          <a:lstStyle/>
          <a:p>
            <a:pPr algn="l"/>
            <a:r>
              <a:rPr sz="700" b="1" i="0" spc="60">
                <a:solidFill>
                  <a:srgbClr val="22C55E"/>
                </a:solidFill>
                <a:latin typeface="Aptos"/>
              </a:rPr>
              <a:t>ON PHONE</a:t>
            </a:r>
          </a:p>
        </p:txBody>
      </p:sp>
      <p:sp>
        <p:nvSpPr>
          <p:cNvPr id="37" name="TextBox 36"/>
          <p:cNvSpPr txBox="1"/>
          <p:nvPr/>
        </p:nvSpPr>
        <p:spPr>
          <a:xfrm>
            <a:off x="9736835" y="2715768"/>
            <a:ext cx="146304" cy="182880"/>
          </a:xfrm>
          <a:prstGeom prst="rect">
            <a:avLst/>
          </a:prstGeom>
          <a:noFill/>
        </p:spPr>
        <p:txBody>
          <a:bodyPr wrap="square" lIns="0" rIns="0" tIns="0" bIns="0" anchor="t">
            <a:spAutoFit/>
          </a:bodyPr>
          <a:lstStyle/>
          <a:p>
            <a:pPr algn="ctr"/>
            <a:r>
              <a:rPr sz="1100" b="0" i="0">
                <a:solidFill>
                  <a:srgbClr val="44546F"/>
                </a:solidFill>
                <a:latin typeface="Aptos"/>
              </a:rPr>
              <a:t>&gt;</a:t>
            </a:r>
          </a:p>
        </p:txBody>
      </p:sp>
      <p:sp>
        <p:nvSpPr>
          <p:cNvPr id="38" name="Rounded Rectangle 37"/>
          <p:cNvSpPr/>
          <p:nvPr/>
        </p:nvSpPr>
        <p:spPr>
          <a:xfrm>
            <a:off x="9883139" y="2212848"/>
            <a:ext cx="1711451" cy="1188720"/>
          </a:xfrm>
          <a:prstGeom prst="roundRect">
            <a:avLst>
              <a:gd name="adj" fmla="val 3846"/>
            </a:avLst>
          </a:prstGeom>
          <a:solidFill>
            <a:srgbClr val="10192E"/>
          </a:solidFill>
          <a:ln w="889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Rectangle 38"/>
          <p:cNvSpPr/>
          <p:nvPr/>
        </p:nvSpPr>
        <p:spPr>
          <a:xfrm>
            <a:off x="9883139" y="2212848"/>
            <a:ext cx="1711451" cy="29260"/>
          </a:xfrm>
          <a:prstGeom prst="rect">
            <a:avLst/>
          </a:prstGeom>
          <a:solidFill>
            <a:srgbClr val="1342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TextBox 39"/>
          <p:cNvSpPr txBox="1"/>
          <p:nvPr/>
        </p:nvSpPr>
        <p:spPr>
          <a:xfrm>
            <a:off x="10011156" y="2359152"/>
            <a:ext cx="1455419" cy="182880"/>
          </a:xfrm>
          <a:prstGeom prst="rect">
            <a:avLst/>
          </a:prstGeom>
          <a:noFill/>
        </p:spPr>
        <p:txBody>
          <a:bodyPr wrap="square" lIns="0" rIns="0" tIns="0" bIns="0" anchor="t">
            <a:spAutoFit/>
          </a:bodyPr>
          <a:lstStyle/>
          <a:p>
            <a:pPr algn="l"/>
            <a:r>
              <a:rPr sz="850" b="1" i="0" spc="40">
                <a:solidFill>
                  <a:srgbClr val="FFFFFF"/>
                </a:solidFill>
                <a:latin typeface="Aptos"/>
              </a:rPr>
              <a:t>Generate</a:t>
            </a:r>
          </a:p>
        </p:txBody>
      </p:sp>
      <p:sp>
        <p:nvSpPr>
          <p:cNvPr id="41" name="TextBox 40"/>
          <p:cNvSpPr txBox="1"/>
          <p:nvPr/>
        </p:nvSpPr>
        <p:spPr>
          <a:xfrm>
            <a:off x="10011156" y="2560320"/>
            <a:ext cx="1455419" cy="768096"/>
          </a:xfrm>
          <a:prstGeom prst="rect">
            <a:avLst/>
          </a:prstGeom>
          <a:noFill/>
        </p:spPr>
        <p:txBody>
          <a:bodyPr wrap="square" lIns="0" rIns="0" tIns="0" bIns="0" anchor="t">
            <a:spAutoFit/>
          </a:bodyPr>
          <a:lstStyle/>
          <a:p>
            <a:pPr algn="l">
              <a:lnSpc>
                <a:spcPct val="120000"/>
              </a:lnSpc>
            </a:pPr>
            <a:r>
              <a:rPr sz="740" b="0" i="0">
                <a:solidFill>
                  <a:srgbClr val="94A3B8"/>
                </a:solidFill>
                <a:latin typeface="Aptos"/>
              </a:rPr>
              <a:t>The bridge hands those passages to an editor extension, which prompts whichever model you trust.</a:t>
            </a:r>
          </a:p>
        </p:txBody>
      </p:sp>
      <p:sp>
        <p:nvSpPr>
          <p:cNvPr id="42" name="TextBox 41"/>
          <p:cNvSpPr txBox="1"/>
          <p:nvPr/>
        </p:nvSpPr>
        <p:spPr>
          <a:xfrm>
            <a:off x="10011156" y="3493008"/>
            <a:ext cx="1528571" cy="182880"/>
          </a:xfrm>
          <a:prstGeom prst="rect">
            <a:avLst/>
          </a:prstGeom>
          <a:noFill/>
        </p:spPr>
        <p:txBody>
          <a:bodyPr wrap="square" lIns="0" rIns="0" tIns="0" bIns="0" anchor="t">
            <a:spAutoFit/>
          </a:bodyPr>
          <a:lstStyle/>
          <a:p>
            <a:pPr algn="l"/>
            <a:r>
              <a:rPr sz="700" b="1" i="0" spc="60">
                <a:solidFill>
                  <a:srgbClr val="22C55E"/>
                </a:solidFill>
                <a:latin typeface="Aptos"/>
              </a:rPr>
              <a:t>YOUR CHOICE</a:t>
            </a:r>
          </a:p>
        </p:txBody>
      </p:sp>
      <p:sp>
        <p:nvSpPr>
          <p:cNvPr id="43" name="Rectangle 42"/>
          <p:cNvSpPr/>
          <p:nvPr/>
        </p:nvSpPr>
        <p:spPr>
          <a:xfrm>
            <a:off x="594360" y="4041648"/>
            <a:ext cx="11000232"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TextBox 43"/>
          <p:cNvSpPr txBox="1"/>
          <p:nvPr/>
        </p:nvSpPr>
        <p:spPr>
          <a:xfrm>
            <a:off x="594360" y="4224528"/>
            <a:ext cx="5486400" cy="201168"/>
          </a:xfrm>
          <a:prstGeom prst="rect">
            <a:avLst/>
          </a:prstGeom>
          <a:noFill/>
        </p:spPr>
        <p:txBody>
          <a:bodyPr wrap="square" lIns="0" rIns="0" tIns="0" bIns="0" anchor="t">
            <a:spAutoFit/>
          </a:bodyPr>
          <a:lstStyle/>
          <a:p>
            <a:pPr algn="l"/>
            <a:r>
              <a:rPr sz="800" b="1" i="0" spc="140">
                <a:solidFill>
                  <a:srgbClr val="64748B"/>
                </a:solidFill>
                <a:latin typeface="Aptos"/>
              </a:rPr>
              <a:t>WHY EACH CHOICE IS THE ONE IT IS</a:t>
            </a:r>
          </a:p>
        </p:txBody>
      </p:sp>
      <p:sp>
        <p:nvSpPr>
          <p:cNvPr id="45" name="TextBox 44"/>
          <p:cNvSpPr txBox="1"/>
          <p:nvPr/>
        </p:nvSpPr>
        <p:spPr>
          <a:xfrm>
            <a:off x="594360" y="4517136"/>
            <a:ext cx="5257800" cy="201168"/>
          </a:xfrm>
          <a:prstGeom prst="rect">
            <a:avLst/>
          </a:prstGeom>
          <a:noFill/>
        </p:spPr>
        <p:txBody>
          <a:bodyPr wrap="square" lIns="0" rIns="0" tIns="0" bIns="0" anchor="t">
            <a:spAutoFit/>
          </a:bodyPr>
          <a:lstStyle/>
          <a:p>
            <a:pPr algn="l"/>
            <a:r>
              <a:rPr sz="950" b="1" i="0">
                <a:solidFill>
                  <a:srgbClr val="FFFFFF"/>
                </a:solidFill>
                <a:latin typeface="Aptos"/>
              </a:rPr>
              <a:t>256 tokens with 32 overlap</a:t>
            </a:r>
          </a:p>
        </p:txBody>
      </p:sp>
      <p:sp>
        <p:nvSpPr>
          <p:cNvPr id="46" name="TextBox 45"/>
          <p:cNvSpPr txBox="1"/>
          <p:nvPr/>
        </p:nvSpPr>
        <p:spPr>
          <a:xfrm>
            <a:off x="594360" y="4732020"/>
            <a:ext cx="5257800" cy="566928"/>
          </a:xfrm>
          <a:prstGeom prst="rect">
            <a:avLst/>
          </a:prstGeom>
          <a:noFill/>
        </p:spPr>
        <p:txBody>
          <a:bodyPr wrap="square" lIns="0" rIns="0" tIns="0" bIns="0" anchor="t">
            <a:spAutoFit/>
          </a:bodyPr>
          <a:lstStyle/>
          <a:p>
            <a:pPr algn="l">
              <a:lnSpc>
                <a:spcPct val="122000"/>
              </a:lnSpc>
            </a:pPr>
            <a:r>
              <a:rPr sz="880" b="0" i="0">
                <a:solidFill>
                  <a:srgbClr val="94A3B8"/>
                </a:solidFill>
                <a:latin typeface="Aptos"/>
              </a:rPr>
              <a:t>Matches MiniLM's context without truncation, and the overlap keeps a definition that straddles two windows retrievable from either.</a:t>
            </a:r>
          </a:p>
        </p:txBody>
      </p:sp>
      <p:sp>
        <p:nvSpPr>
          <p:cNvPr id="47" name="TextBox 46"/>
          <p:cNvSpPr txBox="1"/>
          <p:nvPr/>
        </p:nvSpPr>
        <p:spPr>
          <a:xfrm>
            <a:off x="594360" y="5303520"/>
            <a:ext cx="5257800" cy="201168"/>
          </a:xfrm>
          <a:prstGeom prst="rect">
            <a:avLst/>
          </a:prstGeom>
          <a:noFill/>
        </p:spPr>
        <p:txBody>
          <a:bodyPr wrap="square" lIns="0" rIns="0" tIns="0" bIns="0" anchor="t">
            <a:spAutoFit/>
          </a:bodyPr>
          <a:lstStyle/>
          <a:p>
            <a:pPr algn="l"/>
            <a:r>
              <a:rPr sz="950" b="1" i="0">
                <a:solidFill>
                  <a:srgbClr val="FFFFFF"/>
                </a:solidFill>
                <a:latin typeface="Aptos"/>
              </a:rPr>
              <a:t>MiniLM-L6-v2 at 384 dimensions</a:t>
            </a:r>
          </a:p>
        </p:txBody>
      </p:sp>
      <p:sp>
        <p:nvSpPr>
          <p:cNvPr id="48" name="TextBox 47"/>
          <p:cNvSpPr txBox="1"/>
          <p:nvPr/>
        </p:nvSpPr>
        <p:spPr>
          <a:xfrm>
            <a:off x="594360" y="5518404"/>
            <a:ext cx="5257800" cy="566928"/>
          </a:xfrm>
          <a:prstGeom prst="rect">
            <a:avLst/>
          </a:prstGeom>
          <a:noFill/>
        </p:spPr>
        <p:txBody>
          <a:bodyPr wrap="square" lIns="0" rIns="0" tIns="0" bIns="0" anchor="t">
            <a:spAutoFit/>
          </a:bodyPr>
          <a:lstStyle/>
          <a:p>
            <a:pPr algn="l">
              <a:lnSpc>
                <a:spcPct val="122000"/>
              </a:lnSpc>
            </a:pPr>
            <a:r>
              <a:rPr sz="880" b="0" i="0">
                <a:solidFill>
                  <a:srgbClr val="94A3B8"/>
                </a:solidFill>
                <a:latin typeface="Aptos"/>
              </a:rPr>
              <a:t>Small enough to quantise onto a phone NPU, strong enough for passage retrieval. A 1 GB corpus indexes to roughly 200 MB.</a:t>
            </a:r>
          </a:p>
        </p:txBody>
      </p:sp>
      <p:sp>
        <p:nvSpPr>
          <p:cNvPr id="49" name="TextBox 48"/>
          <p:cNvSpPr txBox="1"/>
          <p:nvPr/>
        </p:nvSpPr>
        <p:spPr>
          <a:xfrm>
            <a:off x="6382512" y="4517136"/>
            <a:ext cx="5212080" cy="201168"/>
          </a:xfrm>
          <a:prstGeom prst="rect">
            <a:avLst/>
          </a:prstGeom>
          <a:noFill/>
        </p:spPr>
        <p:txBody>
          <a:bodyPr wrap="square" lIns="0" rIns="0" tIns="0" bIns="0" anchor="t">
            <a:spAutoFit/>
          </a:bodyPr>
          <a:lstStyle/>
          <a:p>
            <a:pPr algn="l"/>
            <a:r>
              <a:rPr sz="950" b="1" i="0">
                <a:solidFill>
                  <a:srgbClr val="FFFFFF"/>
                </a:solidFill>
                <a:latin typeface="Aptos"/>
              </a:rPr>
              <a:t>SQLite rather than a vector service</a:t>
            </a:r>
          </a:p>
        </p:txBody>
      </p:sp>
      <p:sp>
        <p:nvSpPr>
          <p:cNvPr id="50" name="TextBox 49"/>
          <p:cNvSpPr txBox="1"/>
          <p:nvPr/>
        </p:nvSpPr>
        <p:spPr>
          <a:xfrm>
            <a:off x="6382512" y="4732020"/>
            <a:ext cx="5212080" cy="566928"/>
          </a:xfrm>
          <a:prstGeom prst="rect">
            <a:avLst/>
          </a:prstGeom>
          <a:noFill/>
        </p:spPr>
        <p:txBody>
          <a:bodyPr wrap="square" lIns="0" rIns="0" tIns="0" bIns="0" anchor="t">
            <a:spAutoFit/>
          </a:bodyPr>
          <a:lstStyle/>
          <a:p>
            <a:pPr algn="l">
              <a:lnSpc>
                <a:spcPct val="122000"/>
              </a:lnSpc>
            </a:pPr>
            <a:r>
              <a:rPr sz="880" b="0" i="0">
                <a:solidFill>
                  <a:srgbClr val="94A3B8"/>
                </a:solidFill>
                <a:latin typeface="Aptos"/>
              </a:rPr>
              <a:t>One file, no daemon, no port, no network - and the only storage engine on Android that SQLCipher already understands.</a:t>
            </a:r>
          </a:p>
        </p:txBody>
      </p:sp>
      <p:sp>
        <p:nvSpPr>
          <p:cNvPr id="51" name="TextBox 50"/>
          <p:cNvSpPr txBox="1"/>
          <p:nvPr/>
        </p:nvSpPr>
        <p:spPr>
          <a:xfrm>
            <a:off x="6382512" y="5303520"/>
            <a:ext cx="5212080" cy="201168"/>
          </a:xfrm>
          <a:prstGeom prst="rect">
            <a:avLst/>
          </a:prstGeom>
          <a:noFill/>
        </p:spPr>
        <p:txBody>
          <a:bodyPr wrap="square" lIns="0" rIns="0" tIns="0" bIns="0" anchor="t">
            <a:spAutoFit/>
          </a:bodyPr>
          <a:lstStyle/>
          <a:p>
            <a:pPr algn="l"/>
            <a:r>
              <a:rPr sz="950" b="1" i="0">
                <a:solidFill>
                  <a:srgbClr val="FFFFFF"/>
                </a:solidFill>
                <a:latin typeface="Aptos"/>
              </a:rPr>
              <a:t>Encryption at rest, key in hardware</a:t>
            </a:r>
          </a:p>
        </p:txBody>
      </p:sp>
      <p:sp>
        <p:nvSpPr>
          <p:cNvPr id="52" name="TextBox 51"/>
          <p:cNvSpPr txBox="1"/>
          <p:nvPr/>
        </p:nvSpPr>
        <p:spPr>
          <a:xfrm>
            <a:off x="6382512" y="5518404"/>
            <a:ext cx="5212080" cy="566928"/>
          </a:xfrm>
          <a:prstGeom prst="rect">
            <a:avLst/>
          </a:prstGeom>
          <a:noFill/>
        </p:spPr>
        <p:txBody>
          <a:bodyPr wrap="square" lIns="0" rIns="0" tIns="0" bIns="0" anchor="t">
            <a:spAutoFit/>
          </a:bodyPr>
          <a:lstStyle/>
          <a:p>
            <a:pPr algn="l">
              <a:lnSpc>
                <a:spcPct val="122000"/>
              </a:lnSpc>
            </a:pPr>
            <a:r>
              <a:rPr sz="880" b="0" i="0">
                <a:solidFill>
                  <a:srgbClr val="94A3B8"/>
                </a:solidFill>
                <a:latin typeface="Aptos"/>
              </a:rPr>
              <a:t>A stolen phone yields a ciphertext blob. The key never leaves the secure element, so the index is unreadable off-device.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TextBox 2"/>
          <p:cNvSpPr txBox="1"/>
          <p:nvPr/>
        </p:nvSpPr>
        <p:spPr>
          <a:xfrm>
            <a:off x="594360" y="347472"/>
            <a:ext cx="8778240" cy="219456"/>
          </a:xfrm>
          <a:prstGeom prst="rect">
            <a:avLst/>
          </a:prstGeom>
          <a:noFill/>
        </p:spPr>
        <p:txBody>
          <a:bodyPr wrap="square" lIns="0" rIns="0" tIns="0" bIns="0" anchor="t">
            <a:spAutoFit/>
          </a:bodyPr>
          <a:lstStyle/>
          <a:p>
            <a:pPr algn="l"/>
            <a:r>
              <a:rPr sz="850" b="1" i="0" spc="150">
                <a:solidFill>
                  <a:srgbClr val="64748B"/>
                </a:solidFill>
                <a:latin typeface="Aptos"/>
              </a:rPr>
              <a:t>06 · THE TRUST BOUNDARY</a:t>
            </a:r>
          </a:p>
        </p:txBody>
      </p:sp>
      <p:sp>
        <p:nvSpPr>
          <p:cNvPr id="4" name="TextBox 3"/>
          <p:cNvSpPr txBox="1"/>
          <p:nvPr/>
        </p:nvSpPr>
        <p:spPr>
          <a:xfrm>
            <a:off x="594360" y="731520"/>
            <a:ext cx="11000232" cy="731520"/>
          </a:xfrm>
          <a:prstGeom prst="rect">
            <a:avLst/>
          </a:prstGeom>
          <a:noFill/>
        </p:spPr>
        <p:txBody>
          <a:bodyPr wrap="square" lIns="0" rIns="0" tIns="0" bIns="0" anchor="t">
            <a:spAutoFit/>
          </a:bodyPr>
          <a:lstStyle/>
          <a:p>
            <a:pPr algn="l">
              <a:lnSpc>
                <a:spcPct val="102000"/>
              </a:lnSpc>
            </a:pPr>
            <a:r>
              <a:rPr sz="2700" b="0" i="0">
                <a:solidFill>
                  <a:srgbClr val="FFFFFF"/>
                </a:solidFill>
                <a:latin typeface="Aptos Display"/>
              </a:rPr>
              <a:t>Minimal disclosure, measured in bytes.</a:t>
            </a:r>
          </a:p>
        </p:txBody>
      </p:sp>
      <p:sp>
        <p:nvSpPr>
          <p:cNvPr id="5" name="TextBox 4"/>
          <p:cNvSpPr txBox="1"/>
          <p:nvPr/>
        </p:nvSpPr>
        <p:spPr>
          <a:xfrm>
            <a:off x="594360" y="1481328"/>
            <a:ext cx="10332720" cy="457200"/>
          </a:xfrm>
          <a:prstGeom prst="rect">
            <a:avLst/>
          </a:prstGeom>
          <a:noFill/>
        </p:spPr>
        <p:txBody>
          <a:bodyPr wrap="square" lIns="0" rIns="0" tIns="0" bIns="0" anchor="t">
            <a:spAutoFit/>
          </a:bodyPr>
          <a:lstStyle/>
          <a:p>
            <a:pPr algn="l">
              <a:lnSpc>
                <a:spcPct val="125000"/>
              </a:lnSpc>
            </a:pPr>
            <a:r>
              <a:rPr sz="1150" b="0" i="0">
                <a:solidFill>
                  <a:srgbClr val="94A3B8"/>
                </a:solidFill>
                <a:latin typeface="Aptos"/>
              </a:rPr>
              <a:t>Even the side you trust only ever sees the passages it needs - never the corpus, never the index, never the embeddings.</a:t>
            </a:r>
          </a:p>
        </p:txBody>
      </p:sp>
      <p:sp>
        <p:nvSpPr>
          <p:cNvPr id="6" name="Rectangle 5"/>
          <p:cNvSpPr/>
          <p:nvPr/>
        </p:nvSpPr>
        <p:spPr>
          <a:xfrm>
            <a:off x="594360" y="6291072"/>
            <a:ext cx="11000232"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TextBox 6"/>
          <p:cNvSpPr txBox="1"/>
          <p:nvPr/>
        </p:nvSpPr>
        <p:spPr>
          <a:xfrm>
            <a:off x="10881360" y="6419088"/>
            <a:ext cx="713232" cy="201168"/>
          </a:xfrm>
          <a:prstGeom prst="rect">
            <a:avLst/>
          </a:prstGeom>
          <a:noFill/>
        </p:spPr>
        <p:txBody>
          <a:bodyPr wrap="square" lIns="0" rIns="0" tIns="0" bIns="0" anchor="t">
            <a:spAutoFit/>
          </a:bodyPr>
          <a:lstStyle/>
          <a:p>
            <a:pPr algn="r"/>
            <a:r>
              <a:rPr sz="850" b="1" i="0" spc="80">
                <a:solidFill>
                  <a:srgbClr val="64748B"/>
                </a:solidFill>
                <a:latin typeface="Aptos"/>
              </a:rPr>
              <a:t>06</a:t>
            </a:r>
          </a:p>
        </p:txBody>
      </p:sp>
      <p:sp>
        <p:nvSpPr>
          <p:cNvPr id="8" name="TextBox 7"/>
          <p:cNvSpPr txBox="1"/>
          <p:nvPr/>
        </p:nvSpPr>
        <p:spPr>
          <a:xfrm>
            <a:off x="594360" y="2139696"/>
            <a:ext cx="5486400" cy="201168"/>
          </a:xfrm>
          <a:prstGeom prst="rect">
            <a:avLst/>
          </a:prstGeom>
          <a:noFill/>
        </p:spPr>
        <p:txBody>
          <a:bodyPr wrap="square" lIns="0" rIns="0" tIns="0" bIns="0" anchor="t">
            <a:spAutoFit/>
          </a:bodyPr>
          <a:lstStyle/>
          <a:p>
            <a:pPr algn="l"/>
            <a:r>
              <a:rPr sz="800" b="1" i="0" spc="140">
                <a:solidFill>
                  <a:srgbClr val="64748B"/>
                </a:solidFill>
                <a:latin typeface="Aptos"/>
              </a:rPr>
              <a:t>WHAT A SINGLE QUESTION ACTUALLY MOVES</a:t>
            </a:r>
          </a:p>
        </p:txBody>
      </p:sp>
      <p:sp>
        <p:nvSpPr>
          <p:cNvPr id="9" name="TextBox 8"/>
          <p:cNvSpPr txBox="1"/>
          <p:nvPr/>
        </p:nvSpPr>
        <p:spPr>
          <a:xfrm>
            <a:off x="594360" y="2468880"/>
            <a:ext cx="2331720" cy="201168"/>
          </a:xfrm>
          <a:prstGeom prst="rect">
            <a:avLst/>
          </a:prstGeom>
          <a:noFill/>
        </p:spPr>
        <p:txBody>
          <a:bodyPr wrap="square" lIns="0" rIns="0" tIns="0" bIns="0" anchor="t">
            <a:spAutoFit/>
          </a:bodyPr>
          <a:lstStyle/>
          <a:p>
            <a:pPr algn="l"/>
            <a:r>
              <a:rPr sz="960" b="1" i="0">
                <a:solidFill>
                  <a:srgbClr val="94A3B8"/>
                </a:solidFill>
                <a:latin typeface="Aptos"/>
              </a:rPr>
              <a:t>Your corpus</a:t>
            </a:r>
          </a:p>
        </p:txBody>
      </p:sp>
      <p:sp>
        <p:nvSpPr>
          <p:cNvPr id="10" name="TextBox 9"/>
          <p:cNvSpPr txBox="1"/>
          <p:nvPr/>
        </p:nvSpPr>
        <p:spPr>
          <a:xfrm>
            <a:off x="2971800" y="2468880"/>
            <a:ext cx="1508760" cy="201168"/>
          </a:xfrm>
          <a:prstGeom prst="rect">
            <a:avLst/>
          </a:prstGeom>
          <a:noFill/>
        </p:spPr>
        <p:txBody>
          <a:bodyPr wrap="square" lIns="0" rIns="0" tIns="0" bIns="0" anchor="t">
            <a:spAutoFit/>
          </a:bodyPr>
          <a:lstStyle/>
          <a:p>
            <a:pPr algn="l"/>
            <a:r>
              <a:rPr sz="900" b="1" i="0">
                <a:solidFill>
                  <a:srgbClr val="DC2626"/>
                </a:solidFill>
                <a:latin typeface="Aptos"/>
              </a:rPr>
              <a:t>1,000 MB</a:t>
            </a:r>
          </a:p>
        </p:txBody>
      </p:sp>
      <p:sp>
        <p:nvSpPr>
          <p:cNvPr id="11" name="Rounded Rectangle 10"/>
          <p:cNvSpPr/>
          <p:nvPr/>
        </p:nvSpPr>
        <p:spPr>
          <a:xfrm>
            <a:off x="4617720" y="2510028"/>
            <a:ext cx="3840480" cy="91440"/>
          </a:xfrm>
          <a:prstGeom prst="roundRect">
            <a:avLst>
              <a:gd name="adj" fmla="val 50000"/>
            </a:avLst>
          </a:prstGeom>
          <a:solidFill>
            <a:srgbClr val="242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Rounded Rectangle 11"/>
          <p:cNvSpPr/>
          <p:nvPr/>
        </p:nvSpPr>
        <p:spPr>
          <a:xfrm>
            <a:off x="4617720" y="2510028"/>
            <a:ext cx="3840480" cy="91440"/>
          </a:xfrm>
          <a:prstGeom prst="roundRect">
            <a:avLst>
              <a:gd name="adj" fmla="val 50000"/>
            </a:avLst>
          </a:prstGeom>
          <a:solidFill>
            <a:srgbClr val="651D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3" name="TextBox 12"/>
          <p:cNvSpPr txBox="1"/>
          <p:nvPr/>
        </p:nvSpPr>
        <p:spPr>
          <a:xfrm>
            <a:off x="8641080" y="2468880"/>
            <a:ext cx="2834640" cy="201168"/>
          </a:xfrm>
          <a:prstGeom prst="rect">
            <a:avLst/>
          </a:prstGeom>
          <a:noFill/>
        </p:spPr>
        <p:txBody>
          <a:bodyPr wrap="square" lIns="0" rIns="0" tIns="0" bIns="0" anchor="t">
            <a:spAutoFit/>
          </a:bodyPr>
          <a:lstStyle/>
          <a:p>
            <a:pPr algn="l"/>
            <a:r>
              <a:rPr sz="760" b="1" i="0" spc="100">
                <a:solidFill>
                  <a:srgbClr val="44546F"/>
                </a:solidFill>
                <a:latin typeface="Aptos"/>
              </a:rPr>
              <a:t>NEVER CROSSES</a:t>
            </a:r>
          </a:p>
        </p:txBody>
      </p:sp>
      <p:sp>
        <p:nvSpPr>
          <p:cNvPr id="14" name="Rectangle 13"/>
          <p:cNvSpPr/>
          <p:nvPr/>
        </p:nvSpPr>
        <p:spPr>
          <a:xfrm>
            <a:off x="594360" y="2871216"/>
            <a:ext cx="11000232"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TextBox 14"/>
          <p:cNvSpPr txBox="1"/>
          <p:nvPr/>
        </p:nvSpPr>
        <p:spPr>
          <a:xfrm>
            <a:off x="594360" y="3035808"/>
            <a:ext cx="2331720" cy="201168"/>
          </a:xfrm>
          <a:prstGeom prst="rect">
            <a:avLst/>
          </a:prstGeom>
          <a:noFill/>
        </p:spPr>
        <p:txBody>
          <a:bodyPr wrap="square" lIns="0" rIns="0" tIns="0" bIns="0" anchor="t">
            <a:spAutoFit/>
          </a:bodyPr>
          <a:lstStyle/>
          <a:p>
            <a:pPr algn="l"/>
            <a:r>
              <a:rPr sz="960" b="1" i="0">
                <a:solidFill>
                  <a:srgbClr val="94A3B8"/>
                </a:solidFill>
                <a:latin typeface="Aptos"/>
              </a:rPr>
              <a:t>The vector index</a:t>
            </a:r>
          </a:p>
        </p:txBody>
      </p:sp>
      <p:sp>
        <p:nvSpPr>
          <p:cNvPr id="16" name="TextBox 15"/>
          <p:cNvSpPr txBox="1"/>
          <p:nvPr/>
        </p:nvSpPr>
        <p:spPr>
          <a:xfrm>
            <a:off x="2971800" y="3035808"/>
            <a:ext cx="1508760" cy="201168"/>
          </a:xfrm>
          <a:prstGeom prst="rect">
            <a:avLst/>
          </a:prstGeom>
          <a:noFill/>
        </p:spPr>
        <p:txBody>
          <a:bodyPr wrap="square" lIns="0" rIns="0" tIns="0" bIns="0" anchor="t">
            <a:spAutoFit/>
          </a:bodyPr>
          <a:lstStyle/>
          <a:p>
            <a:pPr algn="l"/>
            <a:r>
              <a:rPr sz="900" b="1" i="0">
                <a:solidFill>
                  <a:srgbClr val="DC2626"/>
                </a:solidFill>
                <a:latin typeface="Aptos"/>
              </a:rPr>
              <a:t>approx. 200 MB</a:t>
            </a:r>
          </a:p>
        </p:txBody>
      </p:sp>
      <p:sp>
        <p:nvSpPr>
          <p:cNvPr id="17" name="Rounded Rectangle 16"/>
          <p:cNvSpPr/>
          <p:nvPr/>
        </p:nvSpPr>
        <p:spPr>
          <a:xfrm>
            <a:off x="4617720" y="3076956"/>
            <a:ext cx="3840480" cy="91440"/>
          </a:xfrm>
          <a:prstGeom prst="roundRect">
            <a:avLst>
              <a:gd name="adj" fmla="val 50000"/>
            </a:avLst>
          </a:prstGeom>
          <a:solidFill>
            <a:srgbClr val="242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Rounded Rectangle 17"/>
          <p:cNvSpPr/>
          <p:nvPr/>
        </p:nvSpPr>
        <p:spPr>
          <a:xfrm>
            <a:off x="4617720" y="3076956"/>
            <a:ext cx="768096" cy="91440"/>
          </a:xfrm>
          <a:prstGeom prst="roundRect">
            <a:avLst>
              <a:gd name="adj" fmla="val 50000"/>
            </a:avLst>
          </a:prstGeom>
          <a:solidFill>
            <a:srgbClr val="651D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TextBox 18"/>
          <p:cNvSpPr txBox="1"/>
          <p:nvPr/>
        </p:nvSpPr>
        <p:spPr>
          <a:xfrm>
            <a:off x="8641080" y="3035808"/>
            <a:ext cx="2834640" cy="201168"/>
          </a:xfrm>
          <a:prstGeom prst="rect">
            <a:avLst/>
          </a:prstGeom>
          <a:noFill/>
        </p:spPr>
        <p:txBody>
          <a:bodyPr wrap="square" lIns="0" rIns="0" tIns="0" bIns="0" anchor="t">
            <a:spAutoFit/>
          </a:bodyPr>
          <a:lstStyle/>
          <a:p>
            <a:pPr algn="l"/>
            <a:r>
              <a:rPr sz="760" b="1" i="0" spc="100">
                <a:solidFill>
                  <a:srgbClr val="44546F"/>
                </a:solidFill>
                <a:latin typeface="Aptos"/>
              </a:rPr>
              <a:t>NEVER CROSSES</a:t>
            </a:r>
          </a:p>
        </p:txBody>
      </p:sp>
      <p:sp>
        <p:nvSpPr>
          <p:cNvPr id="20" name="Rectangle 19"/>
          <p:cNvSpPr/>
          <p:nvPr/>
        </p:nvSpPr>
        <p:spPr>
          <a:xfrm>
            <a:off x="594360" y="3438144"/>
            <a:ext cx="11000232"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TextBox 20"/>
          <p:cNvSpPr txBox="1"/>
          <p:nvPr/>
        </p:nvSpPr>
        <p:spPr>
          <a:xfrm>
            <a:off x="594360" y="3602736"/>
            <a:ext cx="2331720" cy="201168"/>
          </a:xfrm>
          <a:prstGeom prst="rect">
            <a:avLst/>
          </a:prstGeom>
          <a:noFill/>
        </p:spPr>
        <p:txBody>
          <a:bodyPr wrap="square" lIns="0" rIns="0" tIns="0" bIns="0" anchor="t">
            <a:spAutoFit/>
          </a:bodyPr>
          <a:lstStyle/>
          <a:p>
            <a:pPr algn="l"/>
            <a:r>
              <a:rPr sz="960" b="1" i="0">
                <a:solidFill>
                  <a:srgbClr val="94A3B8"/>
                </a:solidFill>
                <a:latin typeface="Aptos"/>
              </a:rPr>
              <a:t>Chunk embeddings</a:t>
            </a:r>
          </a:p>
        </p:txBody>
      </p:sp>
      <p:sp>
        <p:nvSpPr>
          <p:cNvPr id="22" name="TextBox 21"/>
          <p:cNvSpPr txBox="1"/>
          <p:nvPr/>
        </p:nvSpPr>
        <p:spPr>
          <a:xfrm>
            <a:off x="2971800" y="3602736"/>
            <a:ext cx="1508760" cy="201168"/>
          </a:xfrm>
          <a:prstGeom prst="rect">
            <a:avLst/>
          </a:prstGeom>
          <a:noFill/>
        </p:spPr>
        <p:txBody>
          <a:bodyPr wrap="square" lIns="0" rIns="0" tIns="0" bIns="0" anchor="t">
            <a:spAutoFit/>
          </a:bodyPr>
          <a:lstStyle/>
          <a:p>
            <a:pPr algn="l"/>
            <a:r>
              <a:rPr sz="900" b="1" i="0">
                <a:solidFill>
                  <a:srgbClr val="DC2626"/>
                </a:solidFill>
                <a:latin typeface="Aptos"/>
              </a:rPr>
              <a:t>1.5 KB each</a:t>
            </a:r>
          </a:p>
        </p:txBody>
      </p:sp>
      <p:sp>
        <p:nvSpPr>
          <p:cNvPr id="23" name="Rounded Rectangle 22"/>
          <p:cNvSpPr/>
          <p:nvPr/>
        </p:nvSpPr>
        <p:spPr>
          <a:xfrm>
            <a:off x="4617720" y="3643884"/>
            <a:ext cx="3840480" cy="91440"/>
          </a:xfrm>
          <a:prstGeom prst="roundRect">
            <a:avLst>
              <a:gd name="adj" fmla="val 50000"/>
            </a:avLst>
          </a:prstGeom>
          <a:solidFill>
            <a:srgbClr val="242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Rounded Rectangle 23"/>
          <p:cNvSpPr/>
          <p:nvPr/>
        </p:nvSpPr>
        <p:spPr>
          <a:xfrm>
            <a:off x="4617720" y="3643884"/>
            <a:ext cx="91440" cy="91440"/>
          </a:xfrm>
          <a:prstGeom prst="roundRect">
            <a:avLst>
              <a:gd name="adj" fmla="val 50000"/>
            </a:avLst>
          </a:prstGeom>
          <a:solidFill>
            <a:srgbClr val="651D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TextBox 24"/>
          <p:cNvSpPr txBox="1"/>
          <p:nvPr/>
        </p:nvSpPr>
        <p:spPr>
          <a:xfrm>
            <a:off x="8641080" y="3602736"/>
            <a:ext cx="2834640" cy="201168"/>
          </a:xfrm>
          <a:prstGeom prst="rect">
            <a:avLst/>
          </a:prstGeom>
          <a:noFill/>
        </p:spPr>
        <p:txBody>
          <a:bodyPr wrap="square" lIns="0" rIns="0" tIns="0" bIns="0" anchor="t">
            <a:spAutoFit/>
          </a:bodyPr>
          <a:lstStyle/>
          <a:p>
            <a:pPr algn="l"/>
            <a:r>
              <a:rPr sz="760" b="1" i="0" spc="100">
                <a:solidFill>
                  <a:srgbClr val="44546F"/>
                </a:solidFill>
                <a:latin typeface="Aptos"/>
              </a:rPr>
              <a:t>NEVER CROSSES</a:t>
            </a:r>
          </a:p>
        </p:txBody>
      </p:sp>
      <p:sp>
        <p:nvSpPr>
          <p:cNvPr id="26" name="Rectangle 25"/>
          <p:cNvSpPr/>
          <p:nvPr/>
        </p:nvSpPr>
        <p:spPr>
          <a:xfrm>
            <a:off x="594360" y="4005072"/>
            <a:ext cx="11000232"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TextBox 26"/>
          <p:cNvSpPr txBox="1"/>
          <p:nvPr/>
        </p:nvSpPr>
        <p:spPr>
          <a:xfrm>
            <a:off x="594360" y="4169664"/>
            <a:ext cx="2331720" cy="201168"/>
          </a:xfrm>
          <a:prstGeom prst="rect">
            <a:avLst/>
          </a:prstGeom>
          <a:noFill/>
        </p:spPr>
        <p:txBody>
          <a:bodyPr wrap="square" lIns="0" rIns="0" tIns="0" bIns="0" anchor="t">
            <a:spAutoFit/>
          </a:bodyPr>
          <a:lstStyle/>
          <a:p>
            <a:pPr algn="l"/>
            <a:r>
              <a:rPr sz="960" b="1" i="0">
                <a:solidFill>
                  <a:srgbClr val="FFFFFF"/>
                </a:solidFill>
                <a:latin typeface="Aptos"/>
              </a:rPr>
              <a:t>Your question</a:t>
            </a:r>
          </a:p>
        </p:txBody>
      </p:sp>
      <p:sp>
        <p:nvSpPr>
          <p:cNvPr id="28" name="TextBox 27"/>
          <p:cNvSpPr txBox="1"/>
          <p:nvPr/>
        </p:nvSpPr>
        <p:spPr>
          <a:xfrm>
            <a:off x="2971800" y="4169664"/>
            <a:ext cx="1508760" cy="201168"/>
          </a:xfrm>
          <a:prstGeom prst="rect">
            <a:avLst/>
          </a:prstGeom>
          <a:noFill/>
        </p:spPr>
        <p:txBody>
          <a:bodyPr wrap="square" lIns="0" rIns="0" tIns="0" bIns="0" anchor="t">
            <a:spAutoFit/>
          </a:bodyPr>
          <a:lstStyle/>
          <a:p>
            <a:pPr algn="l"/>
            <a:r>
              <a:rPr sz="900" b="1" i="0">
                <a:solidFill>
                  <a:srgbClr val="94A3B8"/>
                </a:solidFill>
                <a:latin typeface="Aptos"/>
              </a:rPr>
              <a:t>approx. 40 tokens</a:t>
            </a:r>
          </a:p>
        </p:txBody>
      </p:sp>
      <p:sp>
        <p:nvSpPr>
          <p:cNvPr id="29" name="Rounded Rectangle 28"/>
          <p:cNvSpPr/>
          <p:nvPr/>
        </p:nvSpPr>
        <p:spPr>
          <a:xfrm>
            <a:off x="4617720" y="4210812"/>
            <a:ext cx="3840480" cy="91440"/>
          </a:xfrm>
          <a:prstGeom prst="roundRect">
            <a:avLst>
              <a:gd name="adj" fmla="val 50000"/>
            </a:avLst>
          </a:prstGeom>
          <a:solidFill>
            <a:srgbClr val="242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Rounded Rectangle 29"/>
          <p:cNvSpPr/>
          <p:nvPr/>
        </p:nvSpPr>
        <p:spPr>
          <a:xfrm>
            <a:off x="4617720" y="4210812"/>
            <a:ext cx="91440" cy="91440"/>
          </a:xfrm>
          <a:prstGeom prst="roundRect">
            <a:avLst>
              <a:gd name="adj" fmla="val 50000"/>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TextBox 30"/>
          <p:cNvSpPr txBox="1"/>
          <p:nvPr/>
        </p:nvSpPr>
        <p:spPr>
          <a:xfrm>
            <a:off x="8641080" y="4169664"/>
            <a:ext cx="2834640" cy="201168"/>
          </a:xfrm>
          <a:prstGeom prst="rect">
            <a:avLst/>
          </a:prstGeom>
          <a:noFill/>
        </p:spPr>
        <p:txBody>
          <a:bodyPr wrap="square" lIns="0" rIns="0" tIns="0" bIns="0" anchor="t">
            <a:spAutoFit/>
          </a:bodyPr>
          <a:lstStyle/>
          <a:p>
            <a:pPr algn="l"/>
            <a:r>
              <a:rPr sz="760" b="1" i="0" spc="100">
                <a:solidFill>
                  <a:srgbClr val="22C55E"/>
                </a:solidFill>
                <a:latin typeface="Aptos"/>
              </a:rPr>
              <a:t>CROSSES</a:t>
            </a:r>
          </a:p>
        </p:txBody>
      </p:sp>
      <p:sp>
        <p:nvSpPr>
          <p:cNvPr id="32" name="Rectangle 31"/>
          <p:cNvSpPr/>
          <p:nvPr/>
        </p:nvSpPr>
        <p:spPr>
          <a:xfrm>
            <a:off x="594360" y="4572000"/>
            <a:ext cx="11000232"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TextBox 32"/>
          <p:cNvSpPr txBox="1"/>
          <p:nvPr/>
        </p:nvSpPr>
        <p:spPr>
          <a:xfrm>
            <a:off x="594360" y="4736592"/>
            <a:ext cx="2331720" cy="201168"/>
          </a:xfrm>
          <a:prstGeom prst="rect">
            <a:avLst/>
          </a:prstGeom>
          <a:noFill/>
        </p:spPr>
        <p:txBody>
          <a:bodyPr wrap="square" lIns="0" rIns="0" tIns="0" bIns="0" anchor="t">
            <a:spAutoFit/>
          </a:bodyPr>
          <a:lstStyle/>
          <a:p>
            <a:pPr algn="l"/>
            <a:r>
              <a:rPr sz="960" b="1" i="0">
                <a:solidFill>
                  <a:srgbClr val="FFFFFF"/>
                </a:solidFill>
                <a:latin typeface="Aptos"/>
              </a:rPr>
              <a:t>Top-k passages</a:t>
            </a:r>
          </a:p>
        </p:txBody>
      </p:sp>
      <p:sp>
        <p:nvSpPr>
          <p:cNvPr id="34" name="TextBox 33"/>
          <p:cNvSpPr txBox="1"/>
          <p:nvPr/>
        </p:nvSpPr>
        <p:spPr>
          <a:xfrm>
            <a:off x="2971800" y="4736592"/>
            <a:ext cx="1508760" cy="201168"/>
          </a:xfrm>
          <a:prstGeom prst="rect">
            <a:avLst/>
          </a:prstGeom>
          <a:noFill/>
        </p:spPr>
        <p:txBody>
          <a:bodyPr wrap="square" lIns="0" rIns="0" tIns="0" bIns="0" anchor="t">
            <a:spAutoFit/>
          </a:bodyPr>
          <a:lstStyle/>
          <a:p>
            <a:pPr algn="l"/>
            <a:r>
              <a:rPr sz="900" b="1" i="0">
                <a:solidFill>
                  <a:srgbClr val="22C55E"/>
                </a:solidFill>
                <a:latin typeface="Aptos"/>
              </a:rPr>
              <a:t>approx. 800 tokens</a:t>
            </a:r>
          </a:p>
        </p:txBody>
      </p:sp>
      <p:sp>
        <p:nvSpPr>
          <p:cNvPr id="35" name="Rounded Rectangle 34"/>
          <p:cNvSpPr/>
          <p:nvPr/>
        </p:nvSpPr>
        <p:spPr>
          <a:xfrm>
            <a:off x="4617720" y="4777740"/>
            <a:ext cx="3840480" cy="91440"/>
          </a:xfrm>
          <a:prstGeom prst="roundRect">
            <a:avLst>
              <a:gd name="adj" fmla="val 50000"/>
            </a:avLst>
          </a:prstGeom>
          <a:solidFill>
            <a:srgbClr val="242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Rounded Rectangle 35"/>
          <p:cNvSpPr/>
          <p:nvPr/>
        </p:nvSpPr>
        <p:spPr>
          <a:xfrm>
            <a:off x="4617720" y="4777740"/>
            <a:ext cx="91440" cy="9144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TextBox 36"/>
          <p:cNvSpPr txBox="1"/>
          <p:nvPr/>
        </p:nvSpPr>
        <p:spPr>
          <a:xfrm>
            <a:off x="8641080" y="4736592"/>
            <a:ext cx="2834640" cy="201168"/>
          </a:xfrm>
          <a:prstGeom prst="rect">
            <a:avLst/>
          </a:prstGeom>
          <a:noFill/>
        </p:spPr>
        <p:txBody>
          <a:bodyPr wrap="square" lIns="0" rIns="0" tIns="0" bIns="0" anchor="t">
            <a:spAutoFit/>
          </a:bodyPr>
          <a:lstStyle/>
          <a:p>
            <a:pPr algn="l"/>
            <a:r>
              <a:rPr sz="760" b="1" i="0" spc="100">
                <a:solidFill>
                  <a:srgbClr val="22C55E"/>
                </a:solidFill>
                <a:latin typeface="Aptos"/>
              </a:rPr>
              <a:t>CROSSES, CITED</a:t>
            </a:r>
          </a:p>
        </p:txBody>
      </p:sp>
      <p:sp>
        <p:nvSpPr>
          <p:cNvPr id="38" name="Rectangle 37"/>
          <p:cNvSpPr/>
          <p:nvPr/>
        </p:nvSpPr>
        <p:spPr>
          <a:xfrm>
            <a:off x="594360" y="5376672"/>
            <a:ext cx="11000232" cy="10058"/>
          </a:xfrm>
          <a:prstGeom prst="rect">
            <a:avLst/>
          </a:prstGeom>
          <a:solidFill>
            <a:srgbClr val="2A38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TextBox 38"/>
          <p:cNvSpPr txBox="1"/>
          <p:nvPr/>
        </p:nvSpPr>
        <p:spPr>
          <a:xfrm>
            <a:off x="594360" y="5559552"/>
            <a:ext cx="6949440" cy="548640"/>
          </a:xfrm>
          <a:prstGeom prst="rect">
            <a:avLst/>
          </a:prstGeom>
          <a:noFill/>
        </p:spPr>
        <p:txBody>
          <a:bodyPr wrap="square" lIns="0" rIns="0" tIns="0" bIns="0">
            <a:spAutoFit/>
          </a:bodyPr>
          <a:lstStyle/>
          <a:p>
            <a:pPr algn="l">
              <a:lnSpc>
                <a:spcPct val="128000"/>
              </a:lnSpc>
            </a:pPr>
            <a:r>
              <a:rPr sz="1050" b="1" i="0">
                <a:solidFill>
                  <a:srgbClr val="FFFFFF"/>
                </a:solidFill>
                <a:latin typeface="Aptos"/>
              </a:rPr>
              <a:t>The ratio is the argument. </a:t>
            </a:r>
            <a:r>
              <a:rPr sz="1050" b="0" i="0">
                <a:solidFill>
                  <a:srgbClr val="94A3B8"/>
                </a:solidFill>
                <a:latin typeface="Aptos"/>
              </a:rPr>
              <a:t>Roughly one part in 250,000 of what the vault holds ever becomes visible to anything else - and that part is chosen by a similarity search you ran yourself.</a:t>
            </a:r>
          </a:p>
        </p:txBody>
      </p:sp>
      <p:sp>
        <p:nvSpPr>
          <p:cNvPr id="40" name="Rounded Rectangle 39"/>
          <p:cNvSpPr/>
          <p:nvPr/>
        </p:nvSpPr>
        <p:spPr>
          <a:xfrm>
            <a:off x="7882127" y="5486400"/>
            <a:ext cx="3712463" cy="621792"/>
          </a:xfrm>
          <a:prstGeom prst="roundRect">
            <a:avLst>
              <a:gd name="adj" fmla="val 8823"/>
            </a:avLst>
          </a:prstGeom>
          <a:solidFill>
            <a:srgbClr val="10262E"/>
          </a:solidFill>
          <a:ln w="8890">
            <a:solidFill>
              <a:srgbClr val="14473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TextBox 40"/>
          <p:cNvSpPr txBox="1"/>
          <p:nvPr/>
        </p:nvSpPr>
        <p:spPr>
          <a:xfrm>
            <a:off x="8083296" y="5614416"/>
            <a:ext cx="3346704" cy="182880"/>
          </a:xfrm>
          <a:prstGeom prst="rect">
            <a:avLst/>
          </a:prstGeom>
          <a:noFill/>
        </p:spPr>
        <p:txBody>
          <a:bodyPr wrap="square" lIns="0" rIns="0" tIns="0" bIns="0" anchor="t">
            <a:spAutoFit/>
          </a:bodyPr>
          <a:lstStyle/>
          <a:p>
            <a:pPr algn="l"/>
            <a:r>
              <a:rPr sz="750" b="1" i="0" spc="120">
                <a:solidFill>
                  <a:srgbClr val="22C55E"/>
                </a:solidFill>
                <a:latin typeface="Aptos"/>
              </a:rPr>
              <a:t>AND IT IS REVOCABLE</a:t>
            </a:r>
          </a:p>
        </p:txBody>
      </p:sp>
      <p:sp>
        <p:nvSpPr>
          <p:cNvPr id="42" name="TextBox 41"/>
          <p:cNvSpPr txBox="1"/>
          <p:nvPr/>
        </p:nvSpPr>
        <p:spPr>
          <a:xfrm>
            <a:off x="8083296" y="5815584"/>
            <a:ext cx="3346704" cy="237744"/>
          </a:xfrm>
          <a:prstGeom prst="rect">
            <a:avLst/>
          </a:prstGeom>
          <a:noFill/>
        </p:spPr>
        <p:txBody>
          <a:bodyPr wrap="square" lIns="0" rIns="0" tIns="0" bIns="0" anchor="t">
            <a:spAutoFit/>
          </a:bodyPr>
          <a:lstStyle/>
          <a:p>
            <a:pPr algn="l">
              <a:lnSpc>
                <a:spcPct val="120000"/>
              </a:lnSpc>
            </a:pPr>
            <a:r>
              <a:rPr sz="819" b="0" i="0">
                <a:solidFill>
                  <a:srgbClr val="94A3B8"/>
                </a:solidFill>
                <a:latin typeface="Aptos"/>
              </a:rPr>
              <a:t>Delete the passages and the disclosure ends. A copy cannot be recalled.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TextBox 2"/>
          <p:cNvSpPr txBox="1"/>
          <p:nvPr/>
        </p:nvSpPr>
        <p:spPr>
          <a:xfrm>
            <a:off x="594360" y="347472"/>
            <a:ext cx="8778240" cy="219456"/>
          </a:xfrm>
          <a:prstGeom prst="rect">
            <a:avLst/>
          </a:prstGeom>
          <a:noFill/>
        </p:spPr>
        <p:txBody>
          <a:bodyPr wrap="square" lIns="0" rIns="0" tIns="0" bIns="0" anchor="t">
            <a:spAutoFit/>
          </a:bodyPr>
          <a:lstStyle/>
          <a:p>
            <a:pPr algn="l"/>
            <a:r>
              <a:rPr sz="850" b="1" i="0" spc="150">
                <a:solidFill>
                  <a:srgbClr val="64748B"/>
                </a:solidFill>
                <a:latin typeface="Aptos"/>
              </a:rPr>
              <a:t>07 · WHAT IS NEW</a:t>
            </a:r>
          </a:p>
        </p:txBody>
      </p:sp>
      <p:sp>
        <p:nvSpPr>
          <p:cNvPr id="4" name="TextBox 3"/>
          <p:cNvSpPr txBox="1"/>
          <p:nvPr/>
        </p:nvSpPr>
        <p:spPr>
          <a:xfrm>
            <a:off x="594360" y="731520"/>
            <a:ext cx="11000232" cy="731520"/>
          </a:xfrm>
          <a:prstGeom prst="rect">
            <a:avLst/>
          </a:prstGeom>
          <a:noFill/>
        </p:spPr>
        <p:txBody>
          <a:bodyPr wrap="square" lIns="0" rIns="0" tIns="0" bIns="0" anchor="t">
            <a:spAutoFit/>
          </a:bodyPr>
          <a:lstStyle/>
          <a:p>
            <a:pPr algn="l">
              <a:lnSpc>
                <a:spcPct val="102000"/>
              </a:lnSpc>
            </a:pPr>
            <a:r>
              <a:rPr sz="2700" b="0" i="0">
                <a:solidFill>
                  <a:srgbClr val="FFFFFF"/>
                </a:solidFill>
                <a:latin typeface="Aptos Display"/>
              </a:rPr>
              <a:t>Privacy that is enforced, not promised.</a:t>
            </a:r>
          </a:p>
        </p:txBody>
      </p:sp>
      <p:sp>
        <p:nvSpPr>
          <p:cNvPr id="5" name="TextBox 4"/>
          <p:cNvSpPr txBox="1"/>
          <p:nvPr/>
        </p:nvSpPr>
        <p:spPr>
          <a:xfrm>
            <a:off x="594360" y="1481328"/>
            <a:ext cx="10332720" cy="457200"/>
          </a:xfrm>
          <a:prstGeom prst="rect">
            <a:avLst/>
          </a:prstGeom>
          <a:noFill/>
        </p:spPr>
        <p:txBody>
          <a:bodyPr wrap="square" lIns="0" rIns="0" tIns="0" bIns="0" anchor="t">
            <a:spAutoFit/>
          </a:bodyPr>
          <a:lstStyle/>
          <a:p>
            <a:pPr algn="l">
              <a:lnSpc>
                <a:spcPct val="125000"/>
              </a:lnSpc>
            </a:pPr>
            <a:r>
              <a:rPr sz="1150" b="0" i="0">
                <a:solidFill>
                  <a:srgbClr val="94A3B8"/>
                </a:solidFill>
                <a:latin typeface="Aptos"/>
              </a:rPr>
              <a:t>The strongest claim in this project is also the cheapest to check: the application asks the operating system for no network access, so it has none.</a:t>
            </a:r>
          </a:p>
        </p:txBody>
      </p:sp>
      <p:sp>
        <p:nvSpPr>
          <p:cNvPr id="6" name="Rectangle 5"/>
          <p:cNvSpPr/>
          <p:nvPr/>
        </p:nvSpPr>
        <p:spPr>
          <a:xfrm>
            <a:off x="594360" y="6291072"/>
            <a:ext cx="11000232"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TextBox 6"/>
          <p:cNvSpPr txBox="1"/>
          <p:nvPr/>
        </p:nvSpPr>
        <p:spPr>
          <a:xfrm>
            <a:off x="10881360" y="6419088"/>
            <a:ext cx="713232" cy="201168"/>
          </a:xfrm>
          <a:prstGeom prst="rect">
            <a:avLst/>
          </a:prstGeom>
          <a:noFill/>
        </p:spPr>
        <p:txBody>
          <a:bodyPr wrap="square" lIns="0" rIns="0" tIns="0" bIns="0" anchor="t">
            <a:spAutoFit/>
          </a:bodyPr>
          <a:lstStyle/>
          <a:p>
            <a:pPr algn="r"/>
            <a:r>
              <a:rPr sz="850" b="1" i="0" spc="80">
                <a:solidFill>
                  <a:srgbClr val="64748B"/>
                </a:solidFill>
                <a:latin typeface="Aptos"/>
              </a:rPr>
              <a:t>07</a:t>
            </a:r>
          </a:p>
        </p:txBody>
      </p:sp>
      <p:sp>
        <p:nvSpPr>
          <p:cNvPr id="8" name="Rounded Rectangle 7"/>
          <p:cNvSpPr/>
          <p:nvPr/>
        </p:nvSpPr>
        <p:spPr>
          <a:xfrm>
            <a:off x="594360" y="1975104"/>
            <a:ext cx="691286" cy="169164"/>
          </a:xfrm>
          <a:prstGeom prst="roundRect">
            <a:avLst>
              <a:gd name="adj" fmla="val 16216"/>
            </a:avLst>
          </a:prstGeom>
          <a:solidFill>
            <a:srgbClr val="112F31"/>
          </a:solidFill>
          <a:ln w="7620">
            <a:solidFill>
              <a:srgbClr val="16603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TextBox 8"/>
          <p:cNvSpPr txBox="1"/>
          <p:nvPr/>
        </p:nvSpPr>
        <p:spPr>
          <a:xfrm>
            <a:off x="594360" y="2000707"/>
            <a:ext cx="691286" cy="146304"/>
          </a:xfrm>
          <a:prstGeom prst="rect">
            <a:avLst/>
          </a:prstGeom>
          <a:noFill/>
        </p:spPr>
        <p:txBody>
          <a:bodyPr wrap="square" lIns="0" rIns="0" tIns="0" bIns="0" anchor="t">
            <a:spAutoFit/>
          </a:bodyPr>
          <a:lstStyle/>
          <a:p>
            <a:pPr algn="ctr"/>
            <a:r>
              <a:rPr sz="650" b="1" i="0" spc="55">
                <a:solidFill>
                  <a:srgbClr val="22C55E"/>
                </a:solidFill>
                <a:latin typeface="Aptos"/>
              </a:rPr>
              <a:t>VERIFIED</a:t>
            </a:r>
          </a:p>
        </p:txBody>
      </p:sp>
      <p:sp>
        <p:nvSpPr>
          <p:cNvPr id="10" name="Rounded Rectangle 9"/>
          <p:cNvSpPr/>
          <p:nvPr/>
        </p:nvSpPr>
        <p:spPr>
          <a:xfrm>
            <a:off x="594360" y="2231136"/>
            <a:ext cx="5532120" cy="2395728"/>
          </a:xfrm>
          <a:prstGeom prst="roundRect">
            <a:avLst>
              <a:gd name="adj" fmla="val 2290"/>
            </a:avLst>
          </a:prstGeom>
          <a:solidFill>
            <a:srgbClr val="0B1120"/>
          </a:solidFill>
          <a:ln w="10160">
            <a:solidFill>
              <a:srgbClr val="2A385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TextBox 10"/>
          <p:cNvSpPr txBox="1"/>
          <p:nvPr/>
        </p:nvSpPr>
        <p:spPr>
          <a:xfrm>
            <a:off x="832104" y="2395728"/>
            <a:ext cx="5029200" cy="182880"/>
          </a:xfrm>
          <a:prstGeom prst="rect">
            <a:avLst/>
          </a:prstGeom>
          <a:noFill/>
        </p:spPr>
        <p:txBody>
          <a:bodyPr wrap="square" lIns="0" rIns="0" tIns="0" bIns="0" anchor="t">
            <a:spAutoFit/>
          </a:bodyPr>
          <a:lstStyle/>
          <a:p>
            <a:pPr algn="l"/>
            <a:r>
              <a:rPr sz="800" b="0" i="0">
                <a:solidFill>
                  <a:srgbClr val="64748B"/>
                </a:solidFill>
                <a:latin typeface="Consolas"/>
              </a:rPr>
              <a:t>aapt2 dump permissions app-release.apk</a:t>
            </a:r>
          </a:p>
        </p:txBody>
      </p:sp>
      <p:sp>
        <p:nvSpPr>
          <p:cNvPr id="12" name="Rectangle 11"/>
          <p:cNvSpPr/>
          <p:nvPr/>
        </p:nvSpPr>
        <p:spPr>
          <a:xfrm>
            <a:off x="832104" y="2651760"/>
            <a:ext cx="5056632"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3" name="TextBox 12"/>
          <p:cNvSpPr txBox="1"/>
          <p:nvPr/>
        </p:nvSpPr>
        <p:spPr>
          <a:xfrm>
            <a:off x="832104" y="2798064"/>
            <a:ext cx="3291840" cy="201168"/>
          </a:xfrm>
          <a:prstGeom prst="rect">
            <a:avLst/>
          </a:prstGeom>
          <a:noFill/>
        </p:spPr>
        <p:txBody>
          <a:bodyPr wrap="square" lIns="0" rIns="0" tIns="0" bIns="0" anchor="t">
            <a:spAutoFit/>
          </a:bodyPr>
          <a:lstStyle/>
          <a:p>
            <a:pPr algn="l"/>
            <a:r>
              <a:rPr sz="840" b="0" i="0">
                <a:solidFill>
                  <a:srgbClr val="94A3B8"/>
                </a:solidFill>
                <a:latin typeface="Consolas"/>
              </a:rPr>
              <a:t>android.permission.INTERNET</a:t>
            </a:r>
          </a:p>
        </p:txBody>
      </p:sp>
      <p:sp>
        <p:nvSpPr>
          <p:cNvPr id="14" name="TextBox 13"/>
          <p:cNvSpPr txBox="1"/>
          <p:nvPr/>
        </p:nvSpPr>
        <p:spPr>
          <a:xfrm>
            <a:off x="4251960" y="2798064"/>
            <a:ext cx="1645920" cy="201168"/>
          </a:xfrm>
          <a:prstGeom prst="rect">
            <a:avLst/>
          </a:prstGeom>
          <a:noFill/>
        </p:spPr>
        <p:txBody>
          <a:bodyPr wrap="square" lIns="0" rIns="0" tIns="0" bIns="0" anchor="t">
            <a:spAutoFit/>
          </a:bodyPr>
          <a:lstStyle/>
          <a:p>
            <a:pPr algn="l"/>
            <a:r>
              <a:rPr sz="840" b="1" i="0">
                <a:solidFill>
                  <a:srgbClr val="22C55E"/>
                </a:solidFill>
                <a:latin typeface="Consolas"/>
              </a:rPr>
              <a:t>not requested</a:t>
            </a:r>
          </a:p>
        </p:txBody>
      </p:sp>
      <p:sp>
        <p:nvSpPr>
          <p:cNvPr id="15" name="TextBox 14"/>
          <p:cNvSpPr txBox="1"/>
          <p:nvPr/>
        </p:nvSpPr>
        <p:spPr>
          <a:xfrm>
            <a:off x="832104" y="3127248"/>
            <a:ext cx="3291840" cy="201168"/>
          </a:xfrm>
          <a:prstGeom prst="rect">
            <a:avLst/>
          </a:prstGeom>
          <a:noFill/>
        </p:spPr>
        <p:txBody>
          <a:bodyPr wrap="square" lIns="0" rIns="0" tIns="0" bIns="0" anchor="t">
            <a:spAutoFit/>
          </a:bodyPr>
          <a:lstStyle/>
          <a:p>
            <a:pPr algn="l"/>
            <a:r>
              <a:rPr sz="840" b="0" i="0">
                <a:solidFill>
                  <a:srgbClr val="94A3B8"/>
                </a:solidFill>
                <a:latin typeface="Consolas"/>
              </a:rPr>
              <a:t>ACCESS_NETWORK_STATE</a:t>
            </a:r>
          </a:p>
        </p:txBody>
      </p:sp>
      <p:sp>
        <p:nvSpPr>
          <p:cNvPr id="16" name="TextBox 15"/>
          <p:cNvSpPr txBox="1"/>
          <p:nvPr/>
        </p:nvSpPr>
        <p:spPr>
          <a:xfrm>
            <a:off x="4251960" y="3127248"/>
            <a:ext cx="1645920" cy="201168"/>
          </a:xfrm>
          <a:prstGeom prst="rect">
            <a:avLst/>
          </a:prstGeom>
          <a:noFill/>
        </p:spPr>
        <p:txBody>
          <a:bodyPr wrap="square" lIns="0" rIns="0" tIns="0" bIns="0" anchor="t">
            <a:spAutoFit/>
          </a:bodyPr>
          <a:lstStyle/>
          <a:p>
            <a:pPr algn="l"/>
            <a:r>
              <a:rPr sz="840" b="1" i="0">
                <a:solidFill>
                  <a:srgbClr val="22C55E"/>
                </a:solidFill>
                <a:latin typeface="Consolas"/>
              </a:rPr>
              <a:t>not requested</a:t>
            </a:r>
          </a:p>
        </p:txBody>
      </p:sp>
      <p:sp>
        <p:nvSpPr>
          <p:cNvPr id="17" name="TextBox 16"/>
          <p:cNvSpPr txBox="1"/>
          <p:nvPr/>
        </p:nvSpPr>
        <p:spPr>
          <a:xfrm>
            <a:off x="832104" y="3456432"/>
            <a:ext cx="3291840" cy="201168"/>
          </a:xfrm>
          <a:prstGeom prst="rect">
            <a:avLst/>
          </a:prstGeom>
          <a:noFill/>
        </p:spPr>
        <p:txBody>
          <a:bodyPr wrap="square" lIns="0" rIns="0" tIns="0" bIns="0" anchor="t">
            <a:spAutoFit/>
          </a:bodyPr>
          <a:lstStyle/>
          <a:p>
            <a:pPr algn="l"/>
            <a:r>
              <a:rPr sz="840" b="0" i="0">
                <a:solidFill>
                  <a:srgbClr val="94A3B8"/>
                </a:solidFill>
                <a:latin typeface="Consolas"/>
              </a:rPr>
              <a:t>READ_EXTERNAL_STORAGE</a:t>
            </a:r>
          </a:p>
        </p:txBody>
      </p:sp>
      <p:sp>
        <p:nvSpPr>
          <p:cNvPr id="18" name="TextBox 17"/>
          <p:cNvSpPr txBox="1"/>
          <p:nvPr/>
        </p:nvSpPr>
        <p:spPr>
          <a:xfrm>
            <a:off x="4251960" y="3456432"/>
            <a:ext cx="1645920" cy="201168"/>
          </a:xfrm>
          <a:prstGeom prst="rect">
            <a:avLst/>
          </a:prstGeom>
          <a:noFill/>
        </p:spPr>
        <p:txBody>
          <a:bodyPr wrap="square" lIns="0" rIns="0" tIns="0" bIns="0" anchor="t">
            <a:spAutoFit/>
          </a:bodyPr>
          <a:lstStyle/>
          <a:p>
            <a:pPr algn="l"/>
            <a:r>
              <a:rPr sz="840" b="1" i="0">
                <a:solidFill>
                  <a:srgbClr val="22C55E"/>
                </a:solidFill>
                <a:latin typeface="Consolas"/>
              </a:rPr>
              <a:t>not requested</a:t>
            </a:r>
          </a:p>
        </p:txBody>
      </p:sp>
      <p:sp>
        <p:nvSpPr>
          <p:cNvPr id="19" name="TextBox 18"/>
          <p:cNvSpPr txBox="1"/>
          <p:nvPr/>
        </p:nvSpPr>
        <p:spPr>
          <a:xfrm>
            <a:off x="832104" y="3785616"/>
            <a:ext cx="3291840" cy="201168"/>
          </a:xfrm>
          <a:prstGeom prst="rect">
            <a:avLst/>
          </a:prstGeom>
          <a:noFill/>
        </p:spPr>
        <p:txBody>
          <a:bodyPr wrap="square" lIns="0" rIns="0" tIns="0" bIns="0" anchor="t">
            <a:spAutoFit/>
          </a:bodyPr>
          <a:lstStyle/>
          <a:p>
            <a:pPr algn="l"/>
            <a:r>
              <a:rPr sz="840" b="0" i="0">
                <a:solidFill>
                  <a:srgbClr val="94A3B8"/>
                </a:solidFill>
                <a:latin typeface="Consolas"/>
              </a:rPr>
              <a:t>ACCESS_FINE_LOCATION</a:t>
            </a:r>
          </a:p>
        </p:txBody>
      </p:sp>
      <p:sp>
        <p:nvSpPr>
          <p:cNvPr id="20" name="TextBox 19"/>
          <p:cNvSpPr txBox="1"/>
          <p:nvPr/>
        </p:nvSpPr>
        <p:spPr>
          <a:xfrm>
            <a:off x="4251960" y="3785616"/>
            <a:ext cx="1645920" cy="201168"/>
          </a:xfrm>
          <a:prstGeom prst="rect">
            <a:avLst/>
          </a:prstGeom>
          <a:noFill/>
        </p:spPr>
        <p:txBody>
          <a:bodyPr wrap="square" lIns="0" rIns="0" tIns="0" bIns="0" anchor="t">
            <a:spAutoFit/>
          </a:bodyPr>
          <a:lstStyle/>
          <a:p>
            <a:pPr algn="l"/>
            <a:r>
              <a:rPr sz="840" b="1" i="0">
                <a:solidFill>
                  <a:srgbClr val="22C55E"/>
                </a:solidFill>
                <a:latin typeface="Consolas"/>
              </a:rPr>
              <a:t>not requested</a:t>
            </a:r>
          </a:p>
        </p:txBody>
      </p:sp>
      <p:sp>
        <p:nvSpPr>
          <p:cNvPr id="21" name="Rectangle 20"/>
          <p:cNvSpPr/>
          <p:nvPr/>
        </p:nvSpPr>
        <p:spPr>
          <a:xfrm>
            <a:off x="832104" y="4151376"/>
            <a:ext cx="5056632"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TextBox 21"/>
          <p:cNvSpPr txBox="1"/>
          <p:nvPr/>
        </p:nvSpPr>
        <p:spPr>
          <a:xfrm>
            <a:off x="832104" y="4279392"/>
            <a:ext cx="5056632" cy="219456"/>
          </a:xfrm>
          <a:prstGeom prst="rect">
            <a:avLst/>
          </a:prstGeom>
          <a:noFill/>
        </p:spPr>
        <p:txBody>
          <a:bodyPr wrap="square" lIns="0" rIns="0" tIns="0" bIns="0" anchor="t">
            <a:spAutoFit/>
          </a:bodyPr>
          <a:lstStyle/>
          <a:p>
            <a:pPr algn="l"/>
            <a:r>
              <a:rPr sz="950" b="1" i="0">
                <a:solidFill>
                  <a:srgbClr val="22C55E"/>
                </a:solidFill>
                <a:latin typeface="Consolas"/>
              </a:rPr>
              <a:t>0 permissions requested in the release build</a:t>
            </a:r>
          </a:p>
        </p:txBody>
      </p:sp>
      <p:sp>
        <p:nvSpPr>
          <p:cNvPr id="23" name="TextBox 22"/>
          <p:cNvSpPr txBox="1"/>
          <p:nvPr/>
        </p:nvSpPr>
        <p:spPr>
          <a:xfrm>
            <a:off x="6382512" y="2231136"/>
            <a:ext cx="5212080" cy="201168"/>
          </a:xfrm>
          <a:prstGeom prst="rect">
            <a:avLst/>
          </a:prstGeom>
          <a:noFill/>
        </p:spPr>
        <p:txBody>
          <a:bodyPr wrap="square" lIns="0" rIns="0" tIns="0" bIns="0" anchor="t">
            <a:spAutoFit/>
          </a:bodyPr>
          <a:lstStyle/>
          <a:p>
            <a:pPr algn="l"/>
            <a:r>
              <a:rPr sz="800" b="1" i="0" spc="140">
                <a:solidFill>
                  <a:srgbClr val="22C55E"/>
                </a:solidFill>
                <a:latin typeface="Aptos"/>
              </a:rPr>
              <a:t>WHY THIS IS A DIFFERENT KIND OF CLAIM</a:t>
            </a:r>
          </a:p>
        </p:txBody>
      </p:sp>
      <p:sp>
        <p:nvSpPr>
          <p:cNvPr id="24" name="TextBox 23"/>
          <p:cNvSpPr txBox="1"/>
          <p:nvPr/>
        </p:nvSpPr>
        <p:spPr>
          <a:xfrm>
            <a:off x="6382512" y="2523744"/>
            <a:ext cx="5212080" cy="201168"/>
          </a:xfrm>
          <a:prstGeom prst="rect">
            <a:avLst/>
          </a:prstGeom>
          <a:noFill/>
        </p:spPr>
        <p:txBody>
          <a:bodyPr wrap="square" lIns="0" rIns="0" tIns="0" bIns="0" anchor="t">
            <a:spAutoFit/>
          </a:bodyPr>
          <a:lstStyle/>
          <a:p>
            <a:pPr algn="l"/>
            <a:r>
              <a:rPr sz="1000" b="1" i="0">
                <a:solidFill>
                  <a:srgbClr val="FFFFFF"/>
                </a:solidFill>
                <a:latin typeface="Aptos"/>
              </a:rPr>
              <a:t>An auditor verifies it in seconds</a:t>
            </a:r>
          </a:p>
        </p:txBody>
      </p:sp>
      <p:sp>
        <p:nvSpPr>
          <p:cNvPr id="25" name="TextBox 24"/>
          <p:cNvSpPr txBox="1"/>
          <p:nvPr/>
        </p:nvSpPr>
        <p:spPr>
          <a:xfrm>
            <a:off x="6382512" y="2738627"/>
            <a:ext cx="5212080" cy="566928"/>
          </a:xfrm>
          <a:prstGeom prst="rect">
            <a:avLst/>
          </a:prstGeom>
          <a:noFill/>
        </p:spPr>
        <p:txBody>
          <a:bodyPr wrap="square" lIns="0" rIns="0" tIns="0" bIns="0" anchor="t">
            <a:spAutoFit/>
          </a:bodyPr>
          <a:lstStyle/>
          <a:p>
            <a:pPr algn="l">
              <a:lnSpc>
                <a:spcPct val="122000"/>
              </a:lnSpc>
            </a:pPr>
            <a:r>
              <a:rPr sz="880" b="0" i="0">
                <a:solidFill>
                  <a:srgbClr val="94A3B8"/>
                </a:solidFill>
                <a:latin typeface="Aptos"/>
              </a:rPr>
              <a:t>One command against the shipped APK. No code review, no trust in our build process, no reading of a privacy policy.</a:t>
            </a:r>
          </a:p>
        </p:txBody>
      </p:sp>
      <p:sp>
        <p:nvSpPr>
          <p:cNvPr id="26" name="TextBox 25"/>
          <p:cNvSpPr txBox="1"/>
          <p:nvPr/>
        </p:nvSpPr>
        <p:spPr>
          <a:xfrm>
            <a:off x="6382512" y="3310127"/>
            <a:ext cx="5212080" cy="201168"/>
          </a:xfrm>
          <a:prstGeom prst="rect">
            <a:avLst/>
          </a:prstGeom>
          <a:noFill/>
        </p:spPr>
        <p:txBody>
          <a:bodyPr wrap="square" lIns="0" rIns="0" tIns="0" bIns="0" anchor="t">
            <a:spAutoFit/>
          </a:bodyPr>
          <a:lstStyle/>
          <a:p>
            <a:pPr algn="l"/>
            <a:r>
              <a:rPr sz="1000" b="1" i="0">
                <a:solidFill>
                  <a:srgbClr val="FFFFFF"/>
                </a:solidFill>
                <a:latin typeface="Aptos"/>
              </a:rPr>
              <a:t>It survives a compromised build</a:t>
            </a:r>
          </a:p>
        </p:txBody>
      </p:sp>
      <p:sp>
        <p:nvSpPr>
          <p:cNvPr id="27" name="TextBox 26"/>
          <p:cNvSpPr txBox="1"/>
          <p:nvPr/>
        </p:nvSpPr>
        <p:spPr>
          <a:xfrm>
            <a:off x="6382512" y="3525011"/>
            <a:ext cx="5212080" cy="566928"/>
          </a:xfrm>
          <a:prstGeom prst="rect">
            <a:avLst/>
          </a:prstGeom>
          <a:noFill/>
        </p:spPr>
        <p:txBody>
          <a:bodyPr wrap="square" lIns="0" rIns="0" tIns="0" bIns="0" anchor="t">
            <a:spAutoFit/>
          </a:bodyPr>
          <a:lstStyle/>
          <a:p>
            <a:pPr algn="l">
              <a:lnSpc>
                <a:spcPct val="122000"/>
              </a:lnSpc>
            </a:pPr>
            <a:r>
              <a:rPr sz="880" b="0" i="0">
                <a:solidFill>
                  <a:srgbClr val="94A3B8"/>
                </a:solidFill>
                <a:latin typeface="Aptos"/>
              </a:rPr>
              <a:t>If the app were backdoored tomorrow, the exfiltration path still would not exist - the OS never granted the capability.</a:t>
            </a:r>
          </a:p>
        </p:txBody>
      </p:sp>
      <p:sp>
        <p:nvSpPr>
          <p:cNvPr id="28" name="TextBox 27"/>
          <p:cNvSpPr txBox="1"/>
          <p:nvPr/>
        </p:nvSpPr>
        <p:spPr>
          <a:xfrm>
            <a:off x="6382512" y="4096511"/>
            <a:ext cx="5212080" cy="201168"/>
          </a:xfrm>
          <a:prstGeom prst="rect">
            <a:avLst/>
          </a:prstGeom>
          <a:noFill/>
        </p:spPr>
        <p:txBody>
          <a:bodyPr wrap="square" lIns="0" rIns="0" tIns="0" bIns="0" anchor="t">
            <a:spAutoFit/>
          </a:bodyPr>
          <a:lstStyle/>
          <a:p>
            <a:pPr algn="l"/>
            <a:r>
              <a:rPr sz="1000" b="1" i="0">
                <a:solidFill>
                  <a:srgbClr val="FFFFFF"/>
                </a:solidFill>
                <a:latin typeface="Aptos"/>
              </a:rPr>
              <a:t>It is a property, not a policy</a:t>
            </a:r>
          </a:p>
        </p:txBody>
      </p:sp>
      <p:sp>
        <p:nvSpPr>
          <p:cNvPr id="29" name="TextBox 28"/>
          <p:cNvSpPr txBox="1"/>
          <p:nvPr/>
        </p:nvSpPr>
        <p:spPr>
          <a:xfrm>
            <a:off x="6382512" y="4311396"/>
            <a:ext cx="5212080" cy="566928"/>
          </a:xfrm>
          <a:prstGeom prst="rect">
            <a:avLst/>
          </a:prstGeom>
          <a:noFill/>
        </p:spPr>
        <p:txBody>
          <a:bodyPr wrap="square" lIns="0" rIns="0" tIns="0" bIns="0" anchor="t">
            <a:spAutoFit/>
          </a:bodyPr>
          <a:lstStyle/>
          <a:p>
            <a:pPr algn="l">
              <a:lnSpc>
                <a:spcPct val="122000"/>
              </a:lnSpc>
            </a:pPr>
            <a:r>
              <a:rPr sz="880" b="0" i="0">
                <a:solidFill>
                  <a:srgbClr val="94A3B8"/>
                </a:solidFill>
                <a:latin typeface="Aptos"/>
              </a:rPr>
              <a:t>Policies change with a version bump and an email. A missing manifest entry changes only by shipping a visibly different app.</a:t>
            </a:r>
          </a:p>
        </p:txBody>
      </p:sp>
      <p:sp>
        <p:nvSpPr>
          <p:cNvPr id="30" name="Rectangle 29"/>
          <p:cNvSpPr/>
          <p:nvPr/>
        </p:nvSpPr>
        <p:spPr>
          <a:xfrm>
            <a:off x="594360" y="4956048"/>
            <a:ext cx="11000232"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TextBox 30"/>
          <p:cNvSpPr txBox="1"/>
          <p:nvPr/>
        </p:nvSpPr>
        <p:spPr>
          <a:xfrm>
            <a:off x="594360" y="5138928"/>
            <a:ext cx="5486400" cy="201168"/>
          </a:xfrm>
          <a:prstGeom prst="rect">
            <a:avLst/>
          </a:prstGeom>
          <a:noFill/>
        </p:spPr>
        <p:txBody>
          <a:bodyPr wrap="square" lIns="0" rIns="0" tIns="0" bIns="0" anchor="t">
            <a:spAutoFit/>
          </a:bodyPr>
          <a:lstStyle/>
          <a:p>
            <a:pPr algn="l"/>
            <a:r>
              <a:rPr sz="800" b="1" i="0" spc="140">
                <a:solidFill>
                  <a:srgbClr val="64748B"/>
                </a:solidFill>
                <a:latin typeface="Aptos"/>
              </a:rPr>
              <a:t>THE OTHER THREE NOVELTIES</a:t>
            </a:r>
          </a:p>
        </p:txBody>
      </p:sp>
      <p:sp>
        <p:nvSpPr>
          <p:cNvPr id="32" name="Rectangle 31"/>
          <p:cNvSpPr/>
          <p:nvPr/>
        </p:nvSpPr>
        <p:spPr>
          <a:xfrm>
            <a:off x="594360" y="5413248"/>
            <a:ext cx="32918" cy="749808"/>
          </a:xfrm>
          <a:prstGeom prst="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TextBox 32"/>
          <p:cNvSpPr txBox="1"/>
          <p:nvPr/>
        </p:nvSpPr>
        <p:spPr>
          <a:xfrm>
            <a:off x="758952" y="5413248"/>
            <a:ext cx="3346704" cy="201168"/>
          </a:xfrm>
          <a:prstGeom prst="rect">
            <a:avLst/>
          </a:prstGeom>
          <a:noFill/>
        </p:spPr>
        <p:txBody>
          <a:bodyPr wrap="square" lIns="0" rIns="0" tIns="0" bIns="0" anchor="t">
            <a:spAutoFit/>
          </a:bodyPr>
          <a:lstStyle/>
          <a:p>
            <a:pPr algn="l"/>
            <a:r>
              <a:rPr sz="940" b="1" i="0">
                <a:solidFill>
                  <a:srgbClr val="FFFFFF"/>
                </a:solidFill>
                <a:latin typeface="Aptos"/>
              </a:rPr>
              <a:t>Direction of trust</a:t>
            </a:r>
          </a:p>
        </p:txBody>
      </p:sp>
      <p:sp>
        <p:nvSpPr>
          <p:cNvPr id="34" name="TextBox 33"/>
          <p:cNvSpPr txBox="1"/>
          <p:nvPr/>
        </p:nvSpPr>
        <p:spPr>
          <a:xfrm>
            <a:off x="758952" y="5650992"/>
            <a:ext cx="3346704" cy="548640"/>
          </a:xfrm>
          <a:prstGeom prst="rect">
            <a:avLst/>
          </a:prstGeom>
          <a:noFill/>
        </p:spPr>
        <p:txBody>
          <a:bodyPr wrap="square" lIns="0" rIns="0" tIns="0" bIns="0" anchor="t">
            <a:spAutoFit/>
          </a:bodyPr>
          <a:lstStyle/>
          <a:p>
            <a:pPr algn="l">
              <a:lnSpc>
                <a:spcPct val="126000"/>
              </a:lnSpc>
            </a:pPr>
            <a:r>
              <a:rPr sz="840" b="0" i="0">
                <a:solidFill>
                  <a:srgbClr val="94A3B8"/>
                </a:solidFill>
                <a:latin typeface="Aptos"/>
              </a:rPr>
              <a:t>The personal device is the trusted core and the workstation is the edge. Normally the small device asks the big one for help.</a:t>
            </a:r>
          </a:p>
        </p:txBody>
      </p:sp>
      <p:sp>
        <p:nvSpPr>
          <p:cNvPr id="35" name="Rectangle 34"/>
          <p:cNvSpPr/>
          <p:nvPr/>
        </p:nvSpPr>
        <p:spPr>
          <a:xfrm>
            <a:off x="4315968" y="5413248"/>
            <a:ext cx="32918" cy="749808"/>
          </a:xfrm>
          <a:prstGeom prst="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TextBox 35"/>
          <p:cNvSpPr txBox="1"/>
          <p:nvPr/>
        </p:nvSpPr>
        <p:spPr>
          <a:xfrm>
            <a:off x="4480560" y="5413248"/>
            <a:ext cx="3346704" cy="201168"/>
          </a:xfrm>
          <a:prstGeom prst="rect">
            <a:avLst/>
          </a:prstGeom>
          <a:noFill/>
        </p:spPr>
        <p:txBody>
          <a:bodyPr wrap="square" lIns="0" rIns="0" tIns="0" bIns="0" anchor="t">
            <a:spAutoFit/>
          </a:bodyPr>
          <a:lstStyle/>
          <a:p>
            <a:pPr algn="l"/>
            <a:r>
              <a:rPr sz="940" b="1" i="0">
                <a:solidFill>
                  <a:srgbClr val="FFFFFF"/>
                </a:solidFill>
                <a:latin typeface="Aptos"/>
              </a:rPr>
              <a:t>Minimal disclosure</a:t>
            </a:r>
          </a:p>
        </p:txBody>
      </p:sp>
      <p:sp>
        <p:nvSpPr>
          <p:cNvPr id="37" name="TextBox 36"/>
          <p:cNvSpPr txBox="1"/>
          <p:nvPr/>
        </p:nvSpPr>
        <p:spPr>
          <a:xfrm>
            <a:off x="4480560" y="5650992"/>
            <a:ext cx="3346704" cy="548640"/>
          </a:xfrm>
          <a:prstGeom prst="rect">
            <a:avLst/>
          </a:prstGeom>
          <a:noFill/>
        </p:spPr>
        <p:txBody>
          <a:bodyPr wrap="square" lIns="0" rIns="0" tIns="0" bIns="0" anchor="t">
            <a:spAutoFit/>
          </a:bodyPr>
          <a:lstStyle/>
          <a:p>
            <a:pPr algn="l">
              <a:lnSpc>
                <a:spcPct val="126000"/>
              </a:lnSpc>
            </a:pPr>
            <a:r>
              <a:rPr sz="840" b="0" i="0">
                <a:solidFill>
                  <a:srgbClr val="94A3B8"/>
                </a:solidFill>
                <a:latin typeface="Aptos"/>
              </a:rPr>
              <a:t>Even the trusted side sees only the passages it needs, never the corpus and never the index.</a:t>
            </a:r>
          </a:p>
        </p:txBody>
      </p:sp>
      <p:sp>
        <p:nvSpPr>
          <p:cNvPr id="38" name="Rectangle 37"/>
          <p:cNvSpPr/>
          <p:nvPr/>
        </p:nvSpPr>
        <p:spPr>
          <a:xfrm>
            <a:off x="8037576" y="5413248"/>
            <a:ext cx="32918" cy="749808"/>
          </a:xfrm>
          <a:prstGeom prst="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TextBox 38"/>
          <p:cNvSpPr txBox="1"/>
          <p:nvPr/>
        </p:nvSpPr>
        <p:spPr>
          <a:xfrm>
            <a:off x="8202168" y="5413248"/>
            <a:ext cx="3346704" cy="201168"/>
          </a:xfrm>
          <a:prstGeom prst="rect">
            <a:avLst/>
          </a:prstGeom>
          <a:noFill/>
        </p:spPr>
        <p:txBody>
          <a:bodyPr wrap="square" lIns="0" rIns="0" tIns="0" bIns="0" anchor="t">
            <a:spAutoFit/>
          </a:bodyPr>
          <a:lstStyle/>
          <a:p>
            <a:pPr algn="l"/>
            <a:r>
              <a:rPr sz="940" b="1" i="0">
                <a:solidFill>
                  <a:srgbClr val="FFFFFF"/>
                </a:solidFill>
                <a:latin typeface="Aptos"/>
              </a:rPr>
              <a:t>Silicon you already own</a:t>
            </a:r>
          </a:p>
        </p:txBody>
      </p:sp>
      <p:sp>
        <p:nvSpPr>
          <p:cNvPr id="40" name="TextBox 39"/>
          <p:cNvSpPr txBox="1"/>
          <p:nvPr/>
        </p:nvSpPr>
        <p:spPr>
          <a:xfrm>
            <a:off x="8202168" y="5650992"/>
            <a:ext cx="3346704" cy="548640"/>
          </a:xfrm>
          <a:prstGeom prst="rect">
            <a:avLst/>
          </a:prstGeom>
          <a:noFill/>
        </p:spPr>
        <p:txBody>
          <a:bodyPr wrap="square" lIns="0" rIns="0" tIns="0" bIns="0" anchor="t">
            <a:spAutoFit/>
          </a:bodyPr>
          <a:lstStyle/>
          <a:p>
            <a:pPr algn="l">
              <a:lnSpc>
                <a:spcPct val="126000"/>
              </a:lnSpc>
            </a:pPr>
            <a:r>
              <a:rPr sz="840" b="0" i="0">
                <a:solidFill>
                  <a:srgbClr val="94A3B8"/>
                </a:solidFill>
                <a:latin typeface="Aptos"/>
              </a:rPr>
              <a:t>No new hardware, no per-token cost, no rate limit - and because capture is local, a whiteboard photo becomes searchable without touching a server.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TextBox 2"/>
          <p:cNvSpPr txBox="1"/>
          <p:nvPr/>
        </p:nvSpPr>
        <p:spPr>
          <a:xfrm>
            <a:off x="594360" y="347472"/>
            <a:ext cx="8778240" cy="219456"/>
          </a:xfrm>
          <a:prstGeom prst="rect">
            <a:avLst/>
          </a:prstGeom>
          <a:noFill/>
        </p:spPr>
        <p:txBody>
          <a:bodyPr wrap="square" lIns="0" rIns="0" tIns="0" bIns="0" anchor="t">
            <a:spAutoFit/>
          </a:bodyPr>
          <a:lstStyle/>
          <a:p>
            <a:pPr algn="l"/>
            <a:r>
              <a:rPr sz="850" b="1" i="0" spc="150">
                <a:solidFill>
                  <a:srgbClr val="64748B"/>
                </a:solidFill>
                <a:latin typeface="Aptos"/>
              </a:rPr>
              <a:t>08 · THE REAL-WORLD CASE</a:t>
            </a:r>
          </a:p>
        </p:txBody>
      </p:sp>
      <p:sp>
        <p:nvSpPr>
          <p:cNvPr id="4" name="TextBox 3"/>
          <p:cNvSpPr txBox="1"/>
          <p:nvPr/>
        </p:nvSpPr>
        <p:spPr>
          <a:xfrm>
            <a:off x="594360" y="731520"/>
            <a:ext cx="11000232" cy="731520"/>
          </a:xfrm>
          <a:prstGeom prst="rect">
            <a:avLst/>
          </a:prstGeom>
          <a:noFill/>
        </p:spPr>
        <p:txBody>
          <a:bodyPr wrap="square" lIns="0" rIns="0" tIns="0" bIns="0" anchor="t">
            <a:spAutoFit/>
          </a:bodyPr>
          <a:lstStyle/>
          <a:p>
            <a:pPr algn="l">
              <a:lnSpc>
                <a:spcPct val="102000"/>
              </a:lnSpc>
            </a:pPr>
            <a:r>
              <a:rPr sz="2700" b="0" i="0">
                <a:solidFill>
                  <a:srgbClr val="FFFFFF"/>
                </a:solidFill>
                <a:latin typeface="Aptos Display"/>
              </a:rPr>
              <a:t>Who cannot upload, and therefore cannot use AI today.</a:t>
            </a:r>
          </a:p>
        </p:txBody>
      </p:sp>
      <p:sp>
        <p:nvSpPr>
          <p:cNvPr id="5" name="TextBox 4"/>
          <p:cNvSpPr txBox="1"/>
          <p:nvPr/>
        </p:nvSpPr>
        <p:spPr>
          <a:xfrm>
            <a:off x="594360" y="1481328"/>
            <a:ext cx="10332720" cy="457200"/>
          </a:xfrm>
          <a:prstGeom prst="rect">
            <a:avLst/>
          </a:prstGeom>
          <a:noFill/>
        </p:spPr>
        <p:txBody>
          <a:bodyPr wrap="square" lIns="0" rIns="0" tIns="0" bIns="0" anchor="t">
            <a:spAutoFit/>
          </a:bodyPr>
          <a:lstStyle/>
          <a:p>
            <a:pPr algn="l">
              <a:lnSpc>
                <a:spcPct val="125000"/>
              </a:lnSpc>
            </a:pPr>
            <a:r>
              <a:rPr sz="1150" b="0" i="0">
                <a:solidFill>
                  <a:srgbClr val="94A3B8"/>
                </a:solidFill>
                <a:latin typeface="Aptos"/>
              </a:rPr>
              <a:t>These are not privacy-preference users. In each case the upload itself is what is prohibited - by law, by contract, or by physics.</a:t>
            </a:r>
          </a:p>
        </p:txBody>
      </p:sp>
      <p:sp>
        <p:nvSpPr>
          <p:cNvPr id="6" name="Rectangle 5"/>
          <p:cNvSpPr/>
          <p:nvPr/>
        </p:nvSpPr>
        <p:spPr>
          <a:xfrm>
            <a:off x="594360" y="6291072"/>
            <a:ext cx="11000232"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TextBox 6"/>
          <p:cNvSpPr txBox="1"/>
          <p:nvPr/>
        </p:nvSpPr>
        <p:spPr>
          <a:xfrm>
            <a:off x="10881360" y="6419088"/>
            <a:ext cx="713232" cy="201168"/>
          </a:xfrm>
          <a:prstGeom prst="rect">
            <a:avLst/>
          </a:prstGeom>
          <a:noFill/>
        </p:spPr>
        <p:txBody>
          <a:bodyPr wrap="square" lIns="0" rIns="0" tIns="0" bIns="0" anchor="t">
            <a:spAutoFit/>
          </a:bodyPr>
          <a:lstStyle/>
          <a:p>
            <a:pPr algn="r"/>
            <a:r>
              <a:rPr sz="850" b="1" i="0" spc="80">
                <a:solidFill>
                  <a:srgbClr val="64748B"/>
                </a:solidFill>
                <a:latin typeface="Aptos"/>
              </a:rPr>
              <a:t>08</a:t>
            </a:r>
          </a:p>
        </p:txBody>
      </p:sp>
      <p:sp>
        <p:nvSpPr>
          <p:cNvPr id="8" name="Rounded Rectangle 7"/>
          <p:cNvSpPr/>
          <p:nvPr/>
        </p:nvSpPr>
        <p:spPr>
          <a:xfrm>
            <a:off x="594360" y="2157984"/>
            <a:ext cx="2057400" cy="3072384"/>
          </a:xfrm>
          <a:prstGeom prst="roundRect">
            <a:avLst>
              <a:gd name="adj" fmla="val 2666"/>
            </a:avLst>
          </a:prstGeom>
          <a:solidFill>
            <a:srgbClr val="10192E"/>
          </a:solidFill>
          <a:ln w="889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Rectangle 8"/>
          <p:cNvSpPr/>
          <p:nvPr/>
        </p:nvSpPr>
        <p:spPr>
          <a:xfrm>
            <a:off x="594360" y="2157984"/>
            <a:ext cx="2057400" cy="32918"/>
          </a:xfrm>
          <a:prstGeom prst="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TextBox 9"/>
          <p:cNvSpPr txBox="1"/>
          <p:nvPr/>
        </p:nvSpPr>
        <p:spPr>
          <a:xfrm>
            <a:off x="777240" y="2340864"/>
            <a:ext cx="1691640" cy="182880"/>
          </a:xfrm>
          <a:prstGeom prst="rect">
            <a:avLst/>
          </a:prstGeom>
          <a:noFill/>
        </p:spPr>
        <p:txBody>
          <a:bodyPr wrap="square" lIns="0" rIns="0" tIns="0" bIns="0" anchor="t">
            <a:spAutoFit/>
          </a:bodyPr>
          <a:lstStyle/>
          <a:p>
            <a:pPr algn="l"/>
            <a:r>
              <a:rPr sz="900" b="1" i="0" spc="120">
                <a:solidFill>
                  <a:srgbClr val="22C55E"/>
                </a:solidFill>
                <a:latin typeface="Aptos"/>
              </a:rPr>
              <a:t>LEGAL</a:t>
            </a:r>
          </a:p>
        </p:txBody>
      </p:sp>
      <p:sp>
        <p:nvSpPr>
          <p:cNvPr id="11" name="TextBox 10"/>
          <p:cNvSpPr txBox="1"/>
          <p:nvPr/>
        </p:nvSpPr>
        <p:spPr>
          <a:xfrm>
            <a:off x="777240" y="2560320"/>
            <a:ext cx="1691640" cy="402336"/>
          </a:xfrm>
          <a:prstGeom prst="rect">
            <a:avLst/>
          </a:prstGeom>
          <a:noFill/>
        </p:spPr>
        <p:txBody>
          <a:bodyPr wrap="square" lIns="0" rIns="0" tIns="0" bIns="0" anchor="t">
            <a:spAutoFit/>
          </a:bodyPr>
          <a:lstStyle/>
          <a:p>
            <a:pPr algn="l">
              <a:lnSpc>
                <a:spcPct val="122000"/>
              </a:lnSpc>
            </a:pPr>
            <a:r>
              <a:rPr sz="860" b="1" i="0">
                <a:solidFill>
                  <a:srgbClr val="FFFFFF"/>
                </a:solidFill>
                <a:latin typeface="Aptos"/>
              </a:rPr>
              <a:t>Contracts, discovery, privileged files</a:t>
            </a:r>
          </a:p>
        </p:txBody>
      </p:sp>
      <p:sp>
        <p:nvSpPr>
          <p:cNvPr id="12" name="Rectangle 11"/>
          <p:cNvSpPr/>
          <p:nvPr/>
        </p:nvSpPr>
        <p:spPr>
          <a:xfrm>
            <a:off x="777240" y="3054096"/>
            <a:ext cx="1691640"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3" name="TextBox 12"/>
          <p:cNvSpPr txBox="1"/>
          <p:nvPr/>
        </p:nvSpPr>
        <p:spPr>
          <a:xfrm>
            <a:off x="777240" y="3200400"/>
            <a:ext cx="1691640" cy="1243584"/>
          </a:xfrm>
          <a:prstGeom prst="rect">
            <a:avLst/>
          </a:prstGeom>
          <a:noFill/>
        </p:spPr>
        <p:txBody>
          <a:bodyPr wrap="square" lIns="0" rIns="0" tIns="0" bIns="0" anchor="t">
            <a:spAutoFit/>
          </a:bodyPr>
          <a:lstStyle/>
          <a:p>
            <a:pPr algn="l">
              <a:lnSpc>
                <a:spcPct val="130000"/>
              </a:lnSpc>
            </a:pPr>
            <a:r>
              <a:rPr sz="819" b="0" i="0">
                <a:solidFill>
                  <a:srgbClr val="94A3B8"/>
                </a:solidFill>
                <a:latin typeface="Aptos"/>
              </a:rPr>
              <a:t>Privilege does not survive disclosure to a third-party processor, and client agreements routinely forbid it outright.</a:t>
            </a:r>
          </a:p>
        </p:txBody>
      </p:sp>
      <p:sp>
        <p:nvSpPr>
          <p:cNvPr id="14" name="Rectangle 13"/>
          <p:cNvSpPr/>
          <p:nvPr/>
        </p:nvSpPr>
        <p:spPr>
          <a:xfrm>
            <a:off x="777240" y="4462272"/>
            <a:ext cx="1691640"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TextBox 14"/>
          <p:cNvSpPr txBox="1"/>
          <p:nvPr/>
        </p:nvSpPr>
        <p:spPr>
          <a:xfrm>
            <a:off x="777240" y="4590288"/>
            <a:ext cx="1691640" cy="566928"/>
          </a:xfrm>
          <a:prstGeom prst="rect">
            <a:avLst/>
          </a:prstGeom>
          <a:noFill/>
        </p:spPr>
        <p:txBody>
          <a:bodyPr wrap="square" lIns="0" rIns="0" tIns="0" bIns="0" anchor="t">
            <a:spAutoFit/>
          </a:bodyPr>
          <a:lstStyle/>
          <a:p>
            <a:pPr algn="l">
              <a:lnSpc>
                <a:spcPct val="126000"/>
              </a:lnSpc>
            </a:pPr>
            <a:r>
              <a:rPr sz="800" b="0" i="1">
                <a:solidFill>
                  <a:srgbClr val="64748B"/>
                </a:solidFill>
                <a:latin typeface="Aptos"/>
              </a:rPr>
              <a:t>Uploading is a professional-conduct problem, not a preference.</a:t>
            </a:r>
          </a:p>
        </p:txBody>
      </p:sp>
      <p:sp>
        <p:nvSpPr>
          <p:cNvPr id="16" name="Rounded Rectangle 15"/>
          <p:cNvSpPr/>
          <p:nvPr/>
        </p:nvSpPr>
        <p:spPr>
          <a:xfrm>
            <a:off x="2816352" y="2157984"/>
            <a:ext cx="2057400" cy="3072384"/>
          </a:xfrm>
          <a:prstGeom prst="roundRect">
            <a:avLst>
              <a:gd name="adj" fmla="val 2666"/>
            </a:avLst>
          </a:prstGeom>
          <a:solidFill>
            <a:srgbClr val="10192E"/>
          </a:solidFill>
          <a:ln w="889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Rectangle 16"/>
          <p:cNvSpPr/>
          <p:nvPr/>
        </p:nvSpPr>
        <p:spPr>
          <a:xfrm>
            <a:off x="2816352" y="2157984"/>
            <a:ext cx="2057400" cy="32918"/>
          </a:xfrm>
          <a:prstGeom prst="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TextBox 17"/>
          <p:cNvSpPr txBox="1"/>
          <p:nvPr/>
        </p:nvSpPr>
        <p:spPr>
          <a:xfrm>
            <a:off x="2999232" y="2340864"/>
            <a:ext cx="1691640" cy="182880"/>
          </a:xfrm>
          <a:prstGeom prst="rect">
            <a:avLst/>
          </a:prstGeom>
          <a:noFill/>
        </p:spPr>
        <p:txBody>
          <a:bodyPr wrap="square" lIns="0" rIns="0" tIns="0" bIns="0" anchor="t">
            <a:spAutoFit/>
          </a:bodyPr>
          <a:lstStyle/>
          <a:p>
            <a:pPr algn="l"/>
            <a:r>
              <a:rPr sz="900" b="1" i="0" spc="120">
                <a:solidFill>
                  <a:srgbClr val="22C55E"/>
                </a:solidFill>
                <a:latin typeface="Aptos"/>
              </a:rPr>
              <a:t>CLINICAL</a:t>
            </a:r>
          </a:p>
        </p:txBody>
      </p:sp>
      <p:sp>
        <p:nvSpPr>
          <p:cNvPr id="19" name="TextBox 18"/>
          <p:cNvSpPr txBox="1"/>
          <p:nvPr/>
        </p:nvSpPr>
        <p:spPr>
          <a:xfrm>
            <a:off x="2999232" y="2560320"/>
            <a:ext cx="1691640" cy="402336"/>
          </a:xfrm>
          <a:prstGeom prst="rect">
            <a:avLst/>
          </a:prstGeom>
          <a:noFill/>
        </p:spPr>
        <p:txBody>
          <a:bodyPr wrap="square" lIns="0" rIns="0" tIns="0" bIns="0" anchor="t">
            <a:spAutoFit/>
          </a:bodyPr>
          <a:lstStyle/>
          <a:p>
            <a:pPr algn="l">
              <a:lnSpc>
                <a:spcPct val="122000"/>
              </a:lnSpc>
            </a:pPr>
            <a:r>
              <a:rPr sz="860" b="1" i="0">
                <a:solidFill>
                  <a:srgbClr val="FFFFFF"/>
                </a:solidFill>
                <a:latin typeface="Aptos"/>
              </a:rPr>
              <a:t>Patient notes, imaging reports, histories</a:t>
            </a:r>
          </a:p>
        </p:txBody>
      </p:sp>
      <p:sp>
        <p:nvSpPr>
          <p:cNvPr id="20" name="Rectangle 19"/>
          <p:cNvSpPr/>
          <p:nvPr/>
        </p:nvSpPr>
        <p:spPr>
          <a:xfrm>
            <a:off x="2999232" y="3054096"/>
            <a:ext cx="1691640"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TextBox 20"/>
          <p:cNvSpPr txBox="1"/>
          <p:nvPr/>
        </p:nvSpPr>
        <p:spPr>
          <a:xfrm>
            <a:off x="2999232" y="3200400"/>
            <a:ext cx="1691640" cy="1243584"/>
          </a:xfrm>
          <a:prstGeom prst="rect">
            <a:avLst/>
          </a:prstGeom>
          <a:noFill/>
        </p:spPr>
        <p:txBody>
          <a:bodyPr wrap="square" lIns="0" rIns="0" tIns="0" bIns="0" anchor="t">
            <a:spAutoFit/>
          </a:bodyPr>
          <a:lstStyle/>
          <a:p>
            <a:pPr algn="l">
              <a:lnSpc>
                <a:spcPct val="130000"/>
              </a:lnSpc>
            </a:pPr>
            <a:r>
              <a:rPr sz="819" b="0" i="0">
                <a:solidFill>
                  <a:srgbClr val="94A3B8"/>
                </a:solidFill>
                <a:latin typeface="Aptos"/>
              </a:rPr>
              <a:t>DPDP and HIPAA make a cloud embedding call a regulated disclosure with a named accountable party.</a:t>
            </a:r>
          </a:p>
        </p:txBody>
      </p:sp>
      <p:sp>
        <p:nvSpPr>
          <p:cNvPr id="22" name="Rectangle 21"/>
          <p:cNvSpPr/>
          <p:nvPr/>
        </p:nvSpPr>
        <p:spPr>
          <a:xfrm>
            <a:off x="2999232" y="4462272"/>
            <a:ext cx="1691640"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TextBox 22"/>
          <p:cNvSpPr txBox="1"/>
          <p:nvPr/>
        </p:nvSpPr>
        <p:spPr>
          <a:xfrm>
            <a:off x="2999232" y="4590288"/>
            <a:ext cx="1691640" cy="566928"/>
          </a:xfrm>
          <a:prstGeom prst="rect">
            <a:avLst/>
          </a:prstGeom>
          <a:noFill/>
        </p:spPr>
        <p:txBody>
          <a:bodyPr wrap="square" lIns="0" rIns="0" tIns="0" bIns="0" anchor="t">
            <a:spAutoFit/>
          </a:bodyPr>
          <a:lstStyle/>
          <a:p>
            <a:pPr algn="l">
              <a:lnSpc>
                <a:spcPct val="126000"/>
              </a:lnSpc>
            </a:pPr>
            <a:r>
              <a:rPr sz="800" b="0" i="1">
                <a:solidFill>
                  <a:srgbClr val="64748B"/>
                </a:solidFill>
                <a:latin typeface="Aptos"/>
              </a:rPr>
              <a:t>The consent form does not cover an AI vendor.</a:t>
            </a:r>
          </a:p>
        </p:txBody>
      </p:sp>
      <p:sp>
        <p:nvSpPr>
          <p:cNvPr id="24" name="Rounded Rectangle 23"/>
          <p:cNvSpPr/>
          <p:nvPr/>
        </p:nvSpPr>
        <p:spPr>
          <a:xfrm>
            <a:off x="5038344" y="2157984"/>
            <a:ext cx="2057400" cy="3072384"/>
          </a:xfrm>
          <a:prstGeom prst="roundRect">
            <a:avLst>
              <a:gd name="adj" fmla="val 2666"/>
            </a:avLst>
          </a:prstGeom>
          <a:solidFill>
            <a:srgbClr val="10192E"/>
          </a:solidFill>
          <a:ln w="889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Rectangle 24"/>
          <p:cNvSpPr/>
          <p:nvPr/>
        </p:nvSpPr>
        <p:spPr>
          <a:xfrm>
            <a:off x="5038344" y="2157984"/>
            <a:ext cx="2057400" cy="32918"/>
          </a:xfrm>
          <a:prstGeom prst="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TextBox 25"/>
          <p:cNvSpPr txBox="1"/>
          <p:nvPr/>
        </p:nvSpPr>
        <p:spPr>
          <a:xfrm>
            <a:off x="5221224" y="2340864"/>
            <a:ext cx="1691640" cy="182880"/>
          </a:xfrm>
          <a:prstGeom prst="rect">
            <a:avLst/>
          </a:prstGeom>
          <a:noFill/>
        </p:spPr>
        <p:txBody>
          <a:bodyPr wrap="square" lIns="0" rIns="0" tIns="0" bIns="0" anchor="t">
            <a:spAutoFit/>
          </a:bodyPr>
          <a:lstStyle/>
          <a:p>
            <a:pPr algn="l"/>
            <a:r>
              <a:rPr sz="900" b="1" i="0" spc="120">
                <a:solidFill>
                  <a:srgbClr val="22C55E"/>
                </a:solidFill>
                <a:latin typeface="Aptos"/>
              </a:rPr>
              <a:t>ENGINEERING</a:t>
            </a:r>
          </a:p>
        </p:txBody>
      </p:sp>
      <p:sp>
        <p:nvSpPr>
          <p:cNvPr id="27" name="TextBox 26"/>
          <p:cNvSpPr txBox="1"/>
          <p:nvPr/>
        </p:nvSpPr>
        <p:spPr>
          <a:xfrm>
            <a:off x="5221224" y="2560320"/>
            <a:ext cx="1691640" cy="402336"/>
          </a:xfrm>
          <a:prstGeom prst="rect">
            <a:avLst/>
          </a:prstGeom>
          <a:noFill/>
        </p:spPr>
        <p:txBody>
          <a:bodyPr wrap="square" lIns="0" rIns="0" tIns="0" bIns="0" anchor="t">
            <a:spAutoFit/>
          </a:bodyPr>
          <a:lstStyle/>
          <a:p>
            <a:pPr algn="l">
              <a:lnSpc>
                <a:spcPct val="122000"/>
              </a:lnSpc>
            </a:pPr>
            <a:r>
              <a:rPr sz="860" b="1" i="0">
                <a:solidFill>
                  <a:srgbClr val="FFFFFF"/>
                </a:solidFill>
                <a:latin typeface="Aptos"/>
              </a:rPr>
              <a:t>Proprietary source, pre-release designs</a:t>
            </a:r>
          </a:p>
        </p:txBody>
      </p:sp>
      <p:sp>
        <p:nvSpPr>
          <p:cNvPr id="28" name="Rectangle 27"/>
          <p:cNvSpPr/>
          <p:nvPr/>
        </p:nvSpPr>
        <p:spPr>
          <a:xfrm>
            <a:off x="5221224" y="3054096"/>
            <a:ext cx="1691640"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TextBox 28"/>
          <p:cNvSpPr txBox="1"/>
          <p:nvPr/>
        </p:nvSpPr>
        <p:spPr>
          <a:xfrm>
            <a:off x="5221224" y="3200400"/>
            <a:ext cx="1691640" cy="1243584"/>
          </a:xfrm>
          <a:prstGeom prst="rect">
            <a:avLst/>
          </a:prstGeom>
          <a:noFill/>
        </p:spPr>
        <p:txBody>
          <a:bodyPr wrap="square" lIns="0" rIns="0" tIns="0" bIns="0" anchor="t">
            <a:spAutoFit/>
          </a:bodyPr>
          <a:lstStyle/>
          <a:p>
            <a:pPr algn="l">
              <a:lnSpc>
                <a:spcPct val="130000"/>
              </a:lnSpc>
            </a:pPr>
            <a:r>
              <a:rPr sz="819" b="0" i="0">
                <a:solidFill>
                  <a:srgbClr val="94A3B8"/>
                </a:solidFill>
                <a:latin typeface="Aptos"/>
              </a:rPr>
              <a:t>Source under NDA, unreleased hardware documents, and security findings that must not be indexed anywhere.</a:t>
            </a:r>
          </a:p>
        </p:txBody>
      </p:sp>
      <p:sp>
        <p:nvSpPr>
          <p:cNvPr id="30" name="Rectangle 29"/>
          <p:cNvSpPr/>
          <p:nvPr/>
        </p:nvSpPr>
        <p:spPr>
          <a:xfrm>
            <a:off x="5221224" y="4462272"/>
            <a:ext cx="1691640"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TextBox 30"/>
          <p:cNvSpPr txBox="1"/>
          <p:nvPr/>
        </p:nvSpPr>
        <p:spPr>
          <a:xfrm>
            <a:off x="5221224" y="4590288"/>
            <a:ext cx="1691640" cy="566928"/>
          </a:xfrm>
          <a:prstGeom prst="rect">
            <a:avLst/>
          </a:prstGeom>
          <a:noFill/>
        </p:spPr>
        <p:txBody>
          <a:bodyPr wrap="square" lIns="0" rIns="0" tIns="0" bIns="0" anchor="t">
            <a:spAutoFit/>
          </a:bodyPr>
          <a:lstStyle/>
          <a:p>
            <a:pPr algn="l">
              <a:lnSpc>
                <a:spcPct val="126000"/>
              </a:lnSpc>
            </a:pPr>
            <a:r>
              <a:rPr sz="800" b="0" i="1">
                <a:solidFill>
                  <a:srgbClr val="64748B"/>
                </a:solidFill>
                <a:latin typeface="Aptos"/>
              </a:rPr>
              <a:t>Most employers already block the upload at the proxy.</a:t>
            </a:r>
          </a:p>
        </p:txBody>
      </p:sp>
      <p:sp>
        <p:nvSpPr>
          <p:cNvPr id="32" name="Rounded Rectangle 31"/>
          <p:cNvSpPr/>
          <p:nvPr/>
        </p:nvSpPr>
        <p:spPr>
          <a:xfrm>
            <a:off x="7260336" y="2157984"/>
            <a:ext cx="2057400" cy="3072384"/>
          </a:xfrm>
          <a:prstGeom prst="roundRect">
            <a:avLst>
              <a:gd name="adj" fmla="val 2666"/>
            </a:avLst>
          </a:prstGeom>
          <a:solidFill>
            <a:srgbClr val="10192E"/>
          </a:solidFill>
          <a:ln w="889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Rectangle 32"/>
          <p:cNvSpPr/>
          <p:nvPr/>
        </p:nvSpPr>
        <p:spPr>
          <a:xfrm>
            <a:off x="7260336" y="2157984"/>
            <a:ext cx="2057400" cy="32918"/>
          </a:xfrm>
          <a:prstGeom prst="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TextBox 33"/>
          <p:cNvSpPr txBox="1"/>
          <p:nvPr/>
        </p:nvSpPr>
        <p:spPr>
          <a:xfrm>
            <a:off x="7443216" y="2340864"/>
            <a:ext cx="1691640" cy="182880"/>
          </a:xfrm>
          <a:prstGeom prst="rect">
            <a:avLst/>
          </a:prstGeom>
          <a:noFill/>
        </p:spPr>
        <p:txBody>
          <a:bodyPr wrap="square" lIns="0" rIns="0" tIns="0" bIns="0" anchor="t">
            <a:spAutoFit/>
          </a:bodyPr>
          <a:lstStyle/>
          <a:p>
            <a:pPr algn="l"/>
            <a:r>
              <a:rPr sz="900" b="1" i="0" spc="120">
                <a:solidFill>
                  <a:srgbClr val="22C55E"/>
                </a:solidFill>
                <a:latin typeface="Aptos"/>
              </a:rPr>
              <a:t>RESEARCH</a:t>
            </a:r>
          </a:p>
        </p:txBody>
      </p:sp>
      <p:sp>
        <p:nvSpPr>
          <p:cNvPr id="35" name="TextBox 34"/>
          <p:cNvSpPr txBox="1"/>
          <p:nvPr/>
        </p:nvSpPr>
        <p:spPr>
          <a:xfrm>
            <a:off x="7443216" y="2560320"/>
            <a:ext cx="1691640" cy="402336"/>
          </a:xfrm>
          <a:prstGeom prst="rect">
            <a:avLst/>
          </a:prstGeom>
          <a:noFill/>
        </p:spPr>
        <p:txBody>
          <a:bodyPr wrap="square" lIns="0" rIns="0" tIns="0" bIns="0" anchor="t">
            <a:spAutoFit/>
          </a:bodyPr>
          <a:lstStyle/>
          <a:p>
            <a:pPr algn="l">
              <a:lnSpc>
                <a:spcPct val="122000"/>
              </a:lnSpc>
            </a:pPr>
            <a:r>
              <a:rPr sz="860" b="1" i="0">
                <a:solidFill>
                  <a:srgbClr val="FFFFFF"/>
                </a:solidFill>
                <a:latin typeface="Aptos"/>
              </a:rPr>
              <a:t>Unpublished data, embargoed manuscripts</a:t>
            </a:r>
          </a:p>
        </p:txBody>
      </p:sp>
      <p:sp>
        <p:nvSpPr>
          <p:cNvPr id="36" name="Rectangle 35"/>
          <p:cNvSpPr/>
          <p:nvPr/>
        </p:nvSpPr>
        <p:spPr>
          <a:xfrm>
            <a:off x="7443216" y="3054096"/>
            <a:ext cx="1691640"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TextBox 36"/>
          <p:cNvSpPr txBox="1"/>
          <p:nvPr/>
        </p:nvSpPr>
        <p:spPr>
          <a:xfrm>
            <a:off x="7443216" y="3200400"/>
            <a:ext cx="1691640" cy="1243584"/>
          </a:xfrm>
          <a:prstGeom prst="rect">
            <a:avLst/>
          </a:prstGeom>
          <a:noFill/>
        </p:spPr>
        <p:txBody>
          <a:bodyPr wrap="square" lIns="0" rIns="0" tIns="0" bIns="0" anchor="t">
            <a:spAutoFit/>
          </a:bodyPr>
          <a:lstStyle/>
          <a:p>
            <a:pPr algn="l">
              <a:lnSpc>
                <a:spcPct val="130000"/>
              </a:lnSpc>
            </a:pPr>
            <a:r>
              <a:rPr sz="819" b="0" i="0">
                <a:solidFill>
                  <a:srgbClr val="94A3B8"/>
                </a:solidFill>
                <a:latin typeface="Aptos"/>
              </a:rPr>
              <a:t>Priority is lost the moment an unpublished result is retained by a system that may train on it.</a:t>
            </a:r>
          </a:p>
        </p:txBody>
      </p:sp>
      <p:sp>
        <p:nvSpPr>
          <p:cNvPr id="38" name="Rectangle 37"/>
          <p:cNvSpPr/>
          <p:nvPr/>
        </p:nvSpPr>
        <p:spPr>
          <a:xfrm>
            <a:off x="7443216" y="4462272"/>
            <a:ext cx="1691640"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TextBox 38"/>
          <p:cNvSpPr txBox="1"/>
          <p:nvPr/>
        </p:nvSpPr>
        <p:spPr>
          <a:xfrm>
            <a:off x="7443216" y="4590288"/>
            <a:ext cx="1691640" cy="566928"/>
          </a:xfrm>
          <a:prstGeom prst="rect">
            <a:avLst/>
          </a:prstGeom>
          <a:noFill/>
        </p:spPr>
        <p:txBody>
          <a:bodyPr wrap="square" lIns="0" rIns="0" tIns="0" bIns="0" anchor="t">
            <a:spAutoFit/>
          </a:bodyPr>
          <a:lstStyle/>
          <a:p>
            <a:pPr algn="l">
              <a:lnSpc>
                <a:spcPct val="126000"/>
              </a:lnSpc>
            </a:pPr>
            <a:r>
              <a:rPr sz="800" b="0" i="1">
                <a:solidFill>
                  <a:srgbClr val="64748B"/>
                </a:solidFill>
                <a:latin typeface="Aptos"/>
              </a:rPr>
              <a:t>Embargo and third-party retention are incompatible.</a:t>
            </a:r>
          </a:p>
        </p:txBody>
      </p:sp>
      <p:sp>
        <p:nvSpPr>
          <p:cNvPr id="40" name="Rounded Rectangle 39"/>
          <p:cNvSpPr/>
          <p:nvPr/>
        </p:nvSpPr>
        <p:spPr>
          <a:xfrm>
            <a:off x="9482328" y="2157984"/>
            <a:ext cx="2057400" cy="3072384"/>
          </a:xfrm>
          <a:prstGeom prst="roundRect">
            <a:avLst>
              <a:gd name="adj" fmla="val 2666"/>
            </a:avLst>
          </a:prstGeom>
          <a:solidFill>
            <a:srgbClr val="10192E"/>
          </a:solidFill>
          <a:ln w="889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Rectangle 40"/>
          <p:cNvSpPr/>
          <p:nvPr/>
        </p:nvSpPr>
        <p:spPr>
          <a:xfrm>
            <a:off x="9482328" y="2157984"/>
            <a:ext cx="2057400" cy="32918"/>
          </a:xfrm>
          <a:prstGeom prst="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2" name="TextBox 41"/>
          <p:cNvSpPr txBox="1"/>
          <p:nvPr/>
        </p:nvSpPr>
        <p:spPr>
          <a:xfrm>
            <a:off x="9665208" y="2340864"/>
            <a:ext cx="1691640" cy="182880"/>
          </a:xfrm>
          <a:prstGeom prst="rect">
            <a:avLst/>
          </a:prstGeom>
          <a:noFill/>
        </p:spPr>
        <p:txBody>
          <a:bodyPr wrap="square" lIns="0" rIns="0" tIns="0" bIns="0" anchor="t">
            <a:spAutoFit/>
          </a:bodyPr>
          <a:lstStyle/>
          <a:p>
            <a:pPr algn="l"/>
            <a:r>
              <a:rPr sz="900" b="1" i="0" spc="120">
                <a:solidFill>
                  <a:srgbClr val="22C55E"/>
                </a:solidFill>
                <a:latin typeface="Aptos"/>
              </a:rPr>
              <a:t>FIELD</a:t>
            </a:r>
          </a:p>
        </p:txBody>
      </p:sp>
      <p:sp>
        <p:nvSpPr>
          <p:cNvPr id="43" name="TextBox 42"/>
          <p:cNvSpPr txBox="1"/>
          <p:nvPr/>
        </p:nvSpPr>
        <p:spPr>
          <a:xfrm>
            <a:off x="9665208" y="2560320"/>
            <a:ext cx="1691640" cy="402336"/>
          </a:xfrm>
          <a:prstGeom prst="rect">
            <a:avLst/>
          </a:prstGeom>
          <a:noFill/>
        </p:spPr>
        <p:txBody>
          <a:bodyPr wrap="square" lIns="0" rIns="0" tIns="0" bIns="0" anchor="t">
            <a:spAutoFit/>
          </a:bodyPr>
          <a:lstStyle/>
          <a:p>
            <a:pPr algn="l">
              <a:lnSpc>
                <a:spcPct val="122000"/>
              </a:lnSpc>
            </a:pPr>
            <a:r>
              <a:rPr sz="860" b="1" i="0">
                <a:solidFill>
                  <a:srgbClr val="FFFFFF"/>
                </a:solidFill>
                <a:latin typeface="Aptos"/>
              </a:rPr>
              <a:t>Survey, audit and inspection work offline</a:t>
            </a:r>
          </a:p>
        </p:txBody>
      </p:sp>
      <p:sp>
        <p:nvSpPr>
          <p:cNvPr id="44" name="Rectangle 43"/>
          <p:cNvSpPr/>
          <p:nvPr/>
        </p:nvSpPr>
        <p:spPr>
          <a:xfrm>
            <a:off x="9665208" y="3054096"/>
            <a:ext cx="1691640"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TextBox 44"/>
          <p:cNvSpPr txBox="1"/>
          <p:nvPr/>
        </p:nvSpPr>
        <p:spPr>
          <a:xfrm>
            <a:off x="9665208" y="3200400"/>
            <a:ext cx="1691640" cy="1243584"/>
          </a:xfrm>
          <a:prstGeom prst="rect">
            <a:avLst/>
          </a:prstGeom>
          <a:noFill/>
        </p:spPr>
        <p:txBody>
          <a:bodyPr wrap="square" lIns="0" rIns="0" tIns="0" bIns="0" anchor="t">
            <a:spAutoFit/>
          </a:bodyPr>
          <a:lstStyle/>
          <a:p>
            <a:pPr algn="l">
              <a:lnSpc>
                <a:spcPct val="130000"/>
              </a:lnSpc>
            </a:pPr>
            <a:r>
              <a:rPr sz="819" b="0" i="0">
                <a:solidFill>
                  <a:srgbClr val="94A3B8"/>
                </a:solidFill>
                <a:latin typeface="Aptos"/>
              </a:rPr>
              <a:t>Mines, ships, rural clinics and secure facilities - sites with no connectivity, where the phone is the only computer allowed in.</a:t>
            </a:r>
          </a:p>
        </p:txBody>
      </p:sp>
      <p:sp>
        <p:nvSpPr>
          <p:cNvPr id="46" name="Rectangle 45"/>
          <p:cNvSpPr/>
          <p:nvPr/>
        </p:nvSpPr>
        <p:spPr>
          <a:xfrm>
            <a:off x="9665208" y="4462272"/>
            <a:ext cx="1691640"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7" name="TextBox 46"/>
          <p:cNvSpPr txBox="1"/>
          <p:nvPr/>
        </p:nvSpPr>
        <p:spPr>
          <a:xfrm>
            <a:off x="9665208" y="4590288"/>
            <a:ext cx="1691640" cy="566928"/>
          </a:xfrm>
          <a:prstGeom prst="rect">
            <a:avLst/>
          </a:prstGeom>
          <a:noFill/>
        </p:spPr>
        <p:txBody>
          <a:bodyPr wrap="square" lIns="0" rIns="0" tIns="0" bIns="0" anchor="t">
            <a:spAutoFit/>
          </a:bodyPr>
          <a:lstStyle/>
          <a:p>
            <a:pPr algn="l">
              <a:lnSpc>
                <a:spcPct val="126000"/>
              </a:lnSpc>
            </a:pPr>
            <a:r>
              <a:rPr sz="800" b="0" i="1">
                <a:solidFill>
                  <a:srgbClr val="64748B"/>
                </a:solidFill>
                <a:latin typeface="Aptos"/>
              </a:rPr>
              <a:t>There is no server to upload to in the first place.</a:t>
            </a:r>
          </a:p>
        </p:txBody>
      </p:sp>
      <p:sp>
        <p:nvSpPr>
          <p:cNvPr id="48" name="Rounded Rectangle 47"/>
          <p:cNvSpPr/>
          <p:nvPr/>
        </p:nvSpPr>
        <p:spPr>
          <a:xfrm>
            <a:off x="594360" y="5413248"/>
            <a:ext cx="11000232" cy="603504"/>
          </a:xfrm>
          <a:prstGeom prst="roundRect">
            <a:avLst>
              <a:gd name="adj" fmla="val 9090"/>
            </a:avLst>
          </a:prstGeom>
          <a:solidFill>
            <a:srgbClr val="10262E"/>
          </a:solidFill>
          <a:ln w="8890">
            <a:solidFill>
              <a:srgbClr val="144B3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9" name="TextBox 48"/>
          <p:cNvSpPr txBox="1"/>
          <p:nvPr/>
        </p:nvSpPr>
        <p:spPr>
          <a:xfrm>
            <a:off x="832104" y="5559552"/>
            <a:ext cx="10524744" cy="329184"/>
          </a:xfrm>
          <a:prstGeom prst="rect">
            <a:avLst/>
          </a:prstGeom>
          <a:noFill/>
        </p:spPr>
        <p:txBody>
          <a:bodyPr wrap="square" lIns="0" rIns="0" tIns="0" bIns="0">
            <a:spAutoFit/>
          </a:bodyPr>
          <a:lstStyle/>
          <a:p>
            <a:pPr algn="l">
              <a:lnSpc>
                <a:spcPct val="125000"/>
              </a:lnSpc>
            </a:pPr>
            <a:r>
              <a:rPr sz="960" b="1" i="0">
                <a:solidFill>
                  <a:srgbClr val="22C55E"/>
                </a:solidFill>
                <a:latin typeface="Aptos"/>
              </a:rPr>
              <a:t>The shape they share: </a:t>
            </a:r>
            <a:r>
              <a:rPr sz="960" b="0" i="0">
                <a:solidFill>
                  <a:srgbClr val="FFFFFF"/>
                </a:solidFill>
                <a:latin typeface="Aptos"/>
              </a:rPr>
              <a:t>the corpus is small, personal, and legally attached to one individual - exactly the workload a phone can hold entirely, and exactly the workload a shared server should never hold at 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TextBox 2"/>
          <p:cNvSpPr txBox="1"/>
          <p:nvPr/>
        </p:nvSpPr>
        <p:spPr>
          <a:xfrm>
            <a:off x="594360" y="347472"/>
            <a:ext cx="8778240" cy="219456"/>
          </a:xfrm>
          <a:prstGeom prst="rect">
            <a:avLst/>
          </a:prstGeom>
          <a:noFill/>
        </p:spPr>
        <p:txBody>
          <a:bodyPr wrap="square" lIns="0" rIns="0" tIns="0" bIns="0" anchor="t">
            <a:spAutoFit/>
          </a:bodyPr>
          <a:lstStyle/>
          <a:p>
            <a:pPr algn="l"/>
            <a:r>
              <a:rPr sz="850" b="1" i="0" spc="150">
                <a:solidFill>
                  <a:srgbClr val="64748B"/>
                </a:solidFill>
                <a:latin typeface="Aptos"/>
              </a:rPr>
              <a:t>09 · EVIDENCE</a:t>
            </a:r>
          </a:p>
        </p:txBody>
      </p:sp>
      <p:sp>
        <p:nvSpPr>
          <p:cNvPr id="4" name="TextBox 3"/>
          <p:cNvSpPr txBox="1"/>
          <p:nvPr/>
        </p:nvSpPr>
        <p:spPr>
          <a:xfrm>
            <a:off x="594360" y="731520"/>
            <a:ext cx="11000232" cy="731520"/>
          </a:xfrm>
          <a:prstGeom prst="rect">
            <a:avLst/>
          </a:prstGeom>
          <a:noFill/>
        </p:spPr>
        <p:txBody>
          <a:bodyPr wrap="square" lIns="0" rIns="0" tIns="0" bIns="0" anchor="t">
            <a:spAutoFit/>
          </a:bodyPr>
          <a:lstStyle/>
          <a:p>
            <a:pPr algn="l">
              <a:lnSpc>
                <a:spcPct val="102000"/>
              </a:lnSpc>
            </a:pPr>
            <a:r>
              <a:rPr sz="2700" b="0" i="0">
                <a:solidFill>
                  <a:srgbClr val="FFFFFF"/>
                </a:solidFill>
                <a:latin typeface="Aptos Display"/>
              </a:rPr>
              <a:t>What is measured today, and what is still a target.</a:t>
            </a:r>
          </a:p>
        </p:txBody>
      </p:sp>
      <p:sp>
        <p:nvSpPr>
          <p:cNvPr id="5" name="TextBox 4"/>
          <p:cNvSpPr txBox="1"/>
          <p:nvPr/>
        </p:nvSpPr>
        <p:spPr>
          <a:xfrm>
            <a:off x="594360" y="1481328"/>
            <a:ext cx="10332720" cy="457200"/>
          </a:xfrm>
          <a:prstGeom prst="rect">
            <a:avLst/>
          </a:prstGeom>
          <a:noFill/>
        </p:spPr>
        <p:txBody>
          <a:bodyPr wrap="square" lIns="0" rIns="0" tIns="0" bIns="0" anchor="t">
            <a:spAutoFit/>
          </a:bodyPr>
          <a:lstStyle/>
          <a:p>
            <a:pPr algn="l">
              <a:lnSpc>
                <a:spcPct val="125000"/>
              </a:lnSpc>
            </a:pPr>
            <a:r>
              <a:rPr sz="1150" b="0" i="0">
                <a:solidFill>
                  <a:srgbClr val="94A3B8"/>
                </a:solidFill>
                <a:latin typeface="Aptos"/>
              </a:rPr>
              <a:t>A bench prototype already runs the retrieval half of this on a mid-range handset. These are its numbers, not projections.</a:t>
            </a:r>
          </a:p>
        </p:txBody>
      </p:sp>
      <p:sp>
        <p:nvSpPr>
          <p:cNvPr id="6" name="Rectangle 5"/>
          <p:cNvSpPr/>
          <p:nvPr/>
        </p:nvSpPr>
        <p:spPr>
          <a:xfrm>
            <a:off x="594360" y="6291072"/>
            <a:ext cx="11000232"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TextBox 6"/>
          <p:cNvSpPr txBox="1"/>
          <p:nvPr/>
        </p:nvSpPr>
        <p:spPr>
          <a:xfrm>
            <a:off x="10881360" y="6419088"/>
            <a:ext cx="713232" cy="201168"/>
          </a:xfrm>
          <a:prstGeom prst="rect">
            <a:avLst/>
          </a:prstGeom>
          <a:noFill/>
        </p:spPr>
        <p:txBody>
          <a:bodyPr wrap="square" lIns="0" rIns="0" tIns="0" bIns="0" anchor="t">
            <a:spAutoFit/>
          </a:bodyPr>
          <a:lstStyle/>
          <a:p>
            <a:pPr algn="r"/>
            <a:r>
              <a:rPr sz="850" b="1" i="0" spc="80">
                <a:solidFill>
                  <a:srgbClr val="64748B"/>
                </a:solidFill>
                <a:latin typeface="Aptos"/>
              </a:rPr>
              <a:t>09</a:t>
            </a:r>
          </a:p>
        </p:txBody>
      </p:sp>
      <p:sp>
        <p:nvSpPr>
          <p:cNvPr id="8" name="TextBox 7"/>
          <p:cNvSpPr txBox="1"/>
          <p:nvPr/>
        </p:nvSpPr>
        <p:spPr>
          <a:xfrm>
            <a:off x="594360" y="2139696"/>
            <a:ext cx="3840480" cy="201168"/>
          </a:xfrm>
          <a:prstGeom prst="rect">
            <a:avLst/>
          </a:prstGeom>
          <a:noFill/>
        </p:spPr>
        <p:txBody>
          <a:bodyPr wrap="square" lIns="0" rIns="0" tIns="0" bIns="0" anchor="t">
            <a:spAutoFit/>
          </a:bodyPr>
          <a:lstStyle/>
          <a:p>
            <a:pPr algn="l"/>
            <a:r>
              <a:rPr sz="800" b="1" i="0" spc="140">
                <a:solidFill>
                  <a:srgbClr val="22C55E"/>
                </a:solidFill>
                <a:latin typeface="Aptos"/>
              </a:rPr>
              <a:t>MEASURED ON A REAL HANDSET</a:t>
            </a:r>
          </a:p>
        </p:txBody>
      </p:sp>
      <p:sp>
        <p:nvSpPr>
          <p:cNvPr id="9" name="Rounded Rectangle 8"/>
          <p:cNvSpPr/>
          <p:nvPr/>
        </p:nvSpPr>
        <p:spPr>
          <a:xfrm>
            <a:off x="3429000" y="2103120"/>
            <a:ext cx="1258214" cy="169164"/>
          </a:xfrm>
          <a:prstGeom prst="roundRect">
            <a:avLst>
              <a:gd name="adj" fmla="val 16216"/>
            </a:avLst>
          </a:prstGeom>
          <a:solidFill>
            <a:srgbClr val="112F31"/>
          </a:solidFill>
          <a:ln w="7620">
            <a:solidFill>
              <a:srgbClr val="16603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TextBox 9"/>
          <p:cNvSpPr txBox="1"/>
          <p:nvPr/>
        </p:nvSpPr>
        <p:spPr>
          <a:xfrm>
            <a:off x="3429000" y="2128723"/>
            <a:ext cx="1258214" cy="146304"/>
          </a:xfrm>
          <a:prstGeom prst="rect">
            <a:avLst/>
          </a:prstGeom>
          <a:noFill/>
        </p:spPr>
        <p:txBody>
          <a:bodyPr wrap="square" lIns="0" rIns="0" tIns="0" bIns="0" anchor="t">
            <a:spAutoFit/>
          </a:bodyPr>
          <a:lstStyle/>
          <a:p>
            <a:pPr algn="ctr"/>
            <a:r>
              <a:rPr sz="650" b="1" i="0" spc="55">
                <a:solidFill>
                  <a:srgbClr val="22C55E"/>
                </a:solidFill>
                <a:latin typeface="Aptos"/>
              </a:rPr>
              <a:t>MEASURED ON DEVICE</a:t>
            </a:r>
          </a:p>
        </p:txBody>
      </p:sp>
      <p:sp>
        <p:nvSpPr>
          <p:cNvPr id="11" name="TextBox 10"/>
          <p:cNvSpPr txBox="1"/>
          <p:nvPr/>
        </p:nvSpPr>
        <p:spPr>
          <a:xfrm>
            <a:off x="594360" y="2377440"/>
            <a:ext cx="5394960" cy="182880"/>
          </a:xfrm>
          <a:prstGeom prst="rect">
            <a:avLst/>
          </a:prstGeom>
          <a:noFill/>
        </p:spPr>
        <p:txBody>
          <a:bodyPr wrap="square" lIns="0" rIns="0" tIns="0" bIns="0" anchor="t">
            <a:spAutoFit/>
          </a:bodyPr>
          <a:lstStyle/>
          <a:p>
            <a:pPr algn="l"/>
            <a:r>
              <a:rPr sz="800" b="0" i="0">
                <a:solidFill>
                  <a:srgbClr val="64748B"/>
                </a:solidFill>
                <a:latin typeface="Aptos"/>
              </a:rPr>
              <a:t>realme RMX3660 · Snapdragon 695 · Android 14 · release build</a:t>
            </a:r>
          </a:p>
        </p:txBody>
      </p:sp>
      <p:sp>
        <p:nvSpPr>
          <p:cNvPr id="12" name="TextBox 11"/>
          <p:cNvSpPr txBox="1"/>
          <p:nvPr/>
        </p:nvSpPr>
        <p:spPr>
          <a:xfrm>
            <a:off x="594360" y="2688336"/>
            <a:ext cx="2651760" cy="420624"/>
          </a:xfrm>
          <a:prstGeom prst="rect">
            <a:avLst/>
          </a:prstGeom>
          <a:noFill/>
        </p:spPr>
        <p:txBody>
          <a:bodyPr wrap="square" lIns="0" rIns="0" tIns="0" bIns="0" anchor="t">
            <a:spAutoFit/>
          </a:bodyPr>
          <a:lstStyle/>
          <a:p>
            <a:pPr algn="l"/>
            <a:r>
              <a:rPr sz="2500" b="0" i="0">
                <a:solidFill>
                  <a:srgbClr val="22C55E"/>
                </a:solidFill>
                <a:latin typeface="Aptos Display"/>
              </a:rPr>
              <a:t>233 ms</a:t>
            </a:r>
          </a:p>
        </p:txBody>
      </p:sp>
      <p:sp>
        <p:nvSpPr>
          <p:cNvPr id="13" name="TextBox 12"/>
          <p:cNvSpPr txBox="1"/>
          <p:nvPr/>
        </p:nvSpPr>
        <p:spPr>
          <a:xfrm>
            <a:off x="594360" y="3108960"/>
            <a:ext cx="2651760" cy="329184"/>
          </a:xfrm>
          <a:prstGeom prst="rect">
            <a:avLst/>
          </a:prstGeom>
          <a:noFill/>
        </p:spPr>
        <p:txBody>
          <a:bodyPr wrap="square" lIns="0" rIns="0" tIns="0" bIns="0" anchor="t">
            <a:spAutoFit/>
          </a:bodyPr>
          <a:lstStyle/>
          <a:p>
            <a:pPr algn="l"/>
            <a:r>
              <a:rPr sz="700" b="1" i="0" spc="90">
                <a:solidFill>
                  <a:srgbClr val="64748B"/>
                </a:solidFill>
                <a:latin typeface="Aptos"/>
              </a:rPr>
              <a:t>QUERY EMBEDDING · 256 TOKENS</a:t>
            </a:r>
          </a:p>
        </p:txBody>
      </p:sp>
      <p:sp>
        <p:nvSpPr>
          <p:cNvPr id="14" name="TextBox 13"/>
          <p:cNvSpPr txBox="1"/>
          <p:nvPr/>
        </p:nvSpPr>
        <p:spPr>
          <a:xfrm>
            <a:off x="3383279" y="2688336"/>
            <a:ext cx="2651760" cy="420624"/>
          </a:xfrm>
          <a:prstGeom prst="rect">
            <a:avLst/>
          </a:prstGeom>
          <a:noFill/>
        </p:spPr>
        <p:txBody>
          <a:bodyPr wrap="square" lIns="0" rIns="0" tIns="0" bIns="0" anchor="t">
            <a:spAutoFit/>
          </a:bodyPr>
          <a:lstStyle/>
          <a:p>
            <a:pPr algn="l"/>
            <a:r>
              <a:rPr sz="2500" b="0" i="0">
                <a:solidFill>
                  <a:srgbClr val="FFFFFF"/>
                </a:solidFill>
                <a:latin typeface="Aptos Display"/>
              </a:rPr>
              <a:t>567 ms</a:t>
            </a:r>
          </a:p>
        </p:txBody>
      </p:sp>
      <p:sp>
        <p:nvSpPr>
          <p:cNvPr id="15" name="TextBox 14"/>
          <p:cNvSpPr txBox="1"/>
          <p:nvPr/>
        </p:nvSpPr>
        <p:spPr>
          <a:xfrm>
            <a:off x="3383279" y="3108960"/>
            <a:ext cx="2651760" cy="329184"/>
          </a:xfrm>
          <a:prstGeom prst="rect">
            <a:avLst/>
          </a:prstGeom>
          <a:noFill/>
        </p:spPr>
        <p:txBody>
          <a:bodyPr wrap="square" lIns="0" rIns="0" tIns="0" bIns="0" anchor="t">
            <a:spAutoFit/>
          </a:bodyPr>
          <a:lstStyle/>
          <a:p>
            <a:pPr algn="l"/>
            <a:r>
              <a:rPr sz="700" b="1" i="0" spc="90">
                <a:solidFill>
                  <a:srgbClr val="64748B"/>
                </a:solidFill>
                <a:latin typeface="Aptos"/>
              </a:rPr>
              <a:t>MODEL LOAD, ONCE PER SESSION</a:t>
            </a:r>
          </a:p>
        </p:txBody>
      </p:sp>
      <p:sp>
        <p:nvSpPr>
          <p:cNvPr id="16" name="TextBox 15"/>
          <p:cNvSpPr txBox="1"/>
          <p:nvPr/>
        </p:nvSpPr>
        <p:spPr>
          <a:xfrm>
            <a:off x="594360" y="3547872"/>
            <a:ext cx="2651760" cy="420624"/>
          </a:xfrm>
          <a:prstGeom prst="rect">
            <a:avLst/>
          </a:prstGeom>
          <a:noFill/>
        </p:spPr>
        <p:txBody>
          <a:bodyPr wrap="square" lIns="0" rIns="0" tIns="0" bIns="0" anchor="t">
            <a:spAutoFit/>
          </a:bodyPr>
          <a:lstStyle/>
          <a:p>
            <a:pPr algn="l"/>
            <a:r>
              <a:rPr sz="2500" b="0" i="0">
                <a:solidFill>
                  <a:srgbClr val="22C55E"/>
                </a:solidFill>
                <a:latin typeface="Aptos Display"/>
              </a:rPr>
              <a:t>12x</a:t>
            </a:r>
          </a:p>
        </p:txBody>
      </p:sp>
      <p:sp>
        <p:nvSpPr>
          <p:cNvPr id="17" name="TextBox 16"/>
          <p:cNvSpPr txBox="1"/>
          <p:nvPr/>
        </p:nvSpPr>
        <p:spPr>
          <a:xfrm>
            <a:off x="594360" y="3968496"/>
            <a:ext cx="2651760" cy="329184"/>
          </a:xfrm>
          <a:prstGeom prst="rect">
            <a:avLst/>
          </a:prstGeom>
          <a:noFill/>
        </p:spPr>
        <p:txBody>
          <a:bodyPr wrap="square" lIns="0" rIns="0" tIns="0" bIns="0" anchor="t">
            <a:spAutoFit/>
          </a:bodyPr>
          <a:lstStyle/>
          <a:p>
            <a:pPr algn="l"/>
            <a:r>
              <a:rPr sz="700" b="1" i="0" spc="90">
                <a:solidFill>
                  <a:srgbClr val="64748B"/>
                </a:solidFill>
                <a:latin typeface="Aptos"/>
              </a:rPr>
              <a:t>XNNPACK OVER CPU KERNELS</a:t>
            </a:r>
          </a:p>
        </p:txBody>
      </p:sp>
      <p:sp>
        <p:nvSpPr>
          <p:cNvPr id="18" name="TextBox 17"/>
          <p:cNvSpPr txBox="1"/>
          <p:nvPr/>
        </p:nvSpPr>
        <p:spPr>
          <a:xfrm>
            <a:off x="3383279" y="3547872"/>
            <a:ext cx="2651760" cy="420624"/>
          </a:xfrm>
          <a:prstGeom prst="rect">
            <a:avLst/>
          </a:prstGeom>
          <a:noFill/>
        </p:spPr>
        <p:txBody>
          <a:bodyPr wrap="square" lIns="0" rIns="0" tIns="0" bIns="0" anchor="t">
            <a:spAutoFit/>
          </a:bodyPr>
          <a:lstStyle/>
          <a:p>
            <a:pPr algn="l"/>
            <a:r>
              <a:rPr sz="2500" b="0" i="0">
                <a:solidFill>
                  <a:srgbClr val="22C55E"/>
                </a:solidFill>
                <a:latin typeface="Aptos Display"/>
              </a:rPr>
              <a:t>0</a:t>
            </a:r>
          </a:p>
        </p:txBody>
      </p:sp>
      <p:sp>
        <p:nvSpPr>
          <p:cNvPr id="19" name="TextBox 18"/>
          <p:cNvSpPr txBox="1"/>
          <p:nvPr/>
        </p:nvSpPr>
        <p:spPr>
          <a:xfrm>
            <a:off x="3383279" y="3968496"/>
            <a:ext cx="2651760" cy="329184"/>
          </a:xfrm>
          <a:prstGeom prst="rect">
            <a:avLst/>
          </a:prstGeom>
          <a:noFill/>
        </p:spPr>
        <p:txBody>
          <a:bodyPr wrap="square" lIns="0" rIns="0" tIns="0" bIns="0" anchor="t">
            <a:spAutoFit/>
          </a:bodyPr>
          <a:lstStyle/>
          <a:p>
            <a:pPr algn="l"/>
            <a:r>
              <a:rPr sz="700" b="1" i="0" spc="90">
                <a:solidFill>
                  <a:srgbClr val="64748B"/>
                </a:solidFill>
                <a:latin typeface="Aptos"/>
              </a:rPr>
              <a:t>PERMISSIONS IN THE APK</a:t>
            </a:r>
          </a:p>
        </p:txBody>
      </p:sp>
      <p:sp>
        <p:nvSpPr>
          <p:cNvPr id="20" name="TextBox 19"/>
          <p:cNvSpPr txBox="1"/>
          <p:nvPr/>
        </p:nvSpPr>
        <p:spPr>
          <a:xfrm>
            <a:off x="594360" y="4443984"/>
            <a:ext cx="5394960" cy="457200"/>
          </a:xfrm>
          <a:prstGeom prst="rect">
            <a:avLst/>
          </a:prstGeom>
          <a:noFill/>
        </p:spPr>
        <p:txBody>
          <a:bodyPr wrap="square" lIns="0" rIns="0" tIns="0" bIns="0" anchor="t">
            <a:spAutoFit/>
          </a:bodyPr>
          <a:lstStyle/>
          <a:p>
            <a:pPr algn="l">
              <a:lnSpc>
                <a:spcPct val="128000"/>
              </a:lnSpc>
            </a:pPr>
            <a:r>
              <a:rPr sz="860" b="0" i="0">
                <a:solidFill>
                  <a:srgbClr val="94A3B8"/>
                </a:solidFill>
                <a:latin typeface="Aptos"/>
              </a:rPr>
              <a:t>2,782 ms fell to 224 ms once XNNPACK was enabled. Retrieval quality was checked by hand against known-answer queries, and 13 of 13 unit tests pass on chunking and tokenisation.</a:t>
            </a:r>
          </a:p>
        </p:txBody>
      </p:sp>
      <p:sp>
        <p:nvSpPr>
          <p:cNvPr id="21" name="Rounded Rectangle 20"/>
          <p:cNvSpPr/>
          <p:nvPr/>
        </p:nvSpPr>
        <p:spPr>
          <a:xfrm>
            <a:off x="594360" y="5047488"/>
            <a:ext cx="5394960" cy="1060704"/>
          </a:xfrm>
          <a:prstGeom prst="roundRect">
            <a:avLst>
              <a:gd name="adj" fmla="val 5172"/>
            </a:avLst>
          </a:prstGeom>
          <a:solidFill>
            <a:srgbClr val="10192E"/>
          </a:solidFill>
          <a:ln w="10160">
            <a:solidFill>
              <a:srgbClr val="493F2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TextBox 21"/>
          <p:cNvSpPr txBox="1"/>
          <p:nvPr/>
        </p:nvSpPr>
        <p:spPr>
          <a:xfrm>
            <a:off x="813816" y="5212080"/>
            <a:ext cx="4956048" cy="182880"/>
          </a:xfrm>
          <a:prstGeom prst="rect">
            <a:avLst/>
          </a:prstGeom>
          <a:noFill/>
        </p:spPr>
        <p:txBody>
          <a:bodyPr wrap="square" lIns="0" rIns="0" tIns="0" bIns="0" anchor="t">
            <a:spAutoFit/>
          </a:bodyPr>
          <a:lstStyle/>
          <a:p>
            <a:pPr algn="l"/>
            <a:r>
              <a:rPr sz="750" b="1" i="0" spc="120">
                <a:solidFill>
                  <a:srgbClr val="F0B429"/>
                </a:solidFill>
                <a:latin typeface="Aptos"/>
              </a:rPr>
              <a:t>THE HONEST GAP - WHAT WE WILL NOT CLAIM ON STAGE</a:t>
            </a:r>
          </a:p>
        </p:txBody>
      </p:sp>
      <p:sp>
        <p:nvSpPr>
          <p:cNvPr id="23" name="TextBox 22"/>
          <p:cNvSpPr txBox="1"/>
          <p:nvPr/>
        </p:nvSpPr>
        <p:spPr>
          <a:xfrm>
            <a:off x="813816" y="5431536"/>
            <a:ext cx="4956048" cy="566928"/>
          </a:xfrm>
          <a:prstGeom prst="rect">
            <a:avLst/>
          </a:prstGeom>
          <a:noFill/>
        </p:spPr>
        <p:txBody>
          <a:bodyPr wrap="square" lIns="0" rIns="0" tIns="0" bIns="0" anchor="t">
            <a:spAutoFit/>
          </a:bodyPr>
          <a:lstStyle/>
          <a:p>
            <a:pPr algn="l">
              <a:lnSpc>
                <a:spcPct val="128000"/>
              </a:lnSpc>
            </a:pPr>
            <a:r>
              <a:rPr sz="840" b="0" i="0">
                <a:solidFill>
                  <a:srgbClr val="94A3B8"/>
                </a:solidFill>
                <a:latin typeface="Aptos"/>
              </a:rPr>
              <a:t>That the NPU path is proven. On a Snapdragon 695 it never materialised, so the hackathon hardware has to be measured rather than assumed. The security story is scoped, not yet shipped.</a:t>
            </a:r>
          </a:p>
        </p:txBody>
      </p:sp>
      <p:sp>
        <p:nvSpPr>
          <p:cNvPr id="24" name="TextBox 23"/>
          <p:cNvSpPr txBox="1"/>
          <p:nvPr/>
        </p:nvSpPr>
        <p:spPr>
          <a:xfrm>
            <a:off x="6446520" y="2139696"/>
            <a:ext cx="1574231" cy="201168"/>
          </a:xfrm>
          <a:prstGeom prst="rect">
            <a:avLst/>
          </a:prstGeom>
          <a:noFill/>
        </p:spPr>
        <p:txBody>
          <a:bodyPr wrap="square" lIns="0" rIns="0" tIns="0" bIns="0" anchor="t">
            <a:spAutoFit/>
          </a:bodyPr>
          <a:lstStyle/>
          <a:p>
            <a:pPr algn="l"/>
            <a:r>
              <a:rPr sz="750" b="1" i="0" spc="100">
                <a:solidFill>
                  <a:srgbClr val="64748B"/>
                </a:solidFill>
                <a:latin typeface="Aptos"/>
              </a:rPr>
              <a:t>CAPABILITY</a:t>
            </a:r>
          </a:p>
        </p:txBody>
      </p:sp>
      <p:sp>
        <p:nvSpPr>
          <p:cNvPr id="25" name="TextBox 24"/>
          <p:cNvSpPr txBox="1"/>
          <p:nvPr/>
        </p:nvSpPr>
        <p:spPr>
          <a:xfrm>
            <a:off x="8093903" y="2139696"/>
            <a:ext cx="1883115" cy="201168"/>
          </a:xfrm>
          <a:prstGeom prst="rect">
            <a:avLst/>
          </a:prstGeom>
          <a:noFill/>
        </p:spPr>
        <p:txBody>
          <a:bodyPr wrap="square" lIns="0" rIns="0" tIns="0" bIns="0" anchor="t">
            <a:spAutoFit/>
          </a:bodyPr>
          <a:lstStyle/>
          <a:p>
            <a:pPr algn="l"/>
            <a:r>
              <a:rPr sz="750" b="1" i="0" spc="100">
                <a:solidFill>
                  <a:srgbClr val="64748B"/>
                </a:solidFill>
                <a:latin typeface="Aptos"/>
              </a:rPr>
              <a:t>TARGET BUILD</a:t>
            </a:r>
          </a:p>
        </p:txBody>
      </p:sp>
      <p:sp>
        <p:nvSpPr>
          <p:cNvPr id="26" name="TextBox 25"/>
          <p:cNvSpPr txBox="1"/>
          <p:nvPr/>
        </p:nvSpPr>
        <p:spPr>
          <a:xfrm>
            <a:off x="10050170" y="2139696"/>
            <a:ext cx="1471269" cy="201168"/>
          </a:xfrm>
          <a:prstGeom prst="rect">
            <a:avLst/>
          </a:prstGeom>
          <a:noFill/>
        </p:spPr>
        <p:txBody>
          <a:bodyPr wrap="square" lIns="0" rIns="0" tIns="0" bIns="0" anchor="t">
            <a:spAutoFit/>
          </a:bodyPr>
          <a:lstStyle/>
          <a:p>
            <a:pPr algn="l"/>
            <a:r>
              <a:rPr sz="750" b="1" i="0" spc="100">
                <a:solidFill>
                  <a:srgbClr val="64748B"/>
                </a:solidFill>
                <a:latin typeface="Aptos"/>
              </a:rPr>
              <a:t>TODAY</a:t>
            </a:r>
          </a:p>
        </p:txBody>
      </p:sp>
      <p:sp>
        <p:nvSpPr>
          <p:cNvPr id="27" name="Rectangle 26"/>
          <p:cNvSpPr/>
          <p:nvPr/>
        </p:nvSpPr>
        <p:spPr>
          <a:xfrm>
            <a:off x="6446520" y="2414015"/>
            <a:ext cx="5148072" cy="10058"/>
          </a:xfrm>
          <a:prstGeom prst="rect">
            <a:avLst/>
          </a:prstGeom>
          <a:solidFill>
            <a:srgbClr val="2A38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TextBox 27"/>
          <p:cNvSpPr txBox="1"/>
          <p:nvPr/>
        </p:nvSpPr>
        <p:spPr>
          <a:xfrm>
            <a:off x="6446520" y="2505456"/>
            <a:ext cx="1555943" cy="365760"/>
          </a:xfrm>
          <a:prstGeom prst="rect">
            <a:avLst/>
          </a:prstGeom>
          <a:noFill/>
        </p:spPr>
        <p:txBody>
          <a:bodyPr wrap="square" lIns="0" rIns="0" tIns="0" bIns="0" anchor="t">
            <a:spAutoFit/>
          </a:bodyPr>
          <a:lstStyle/>
          <a:p>
            <a:pPr algn="l">
              <a:lnSpc>
                <a:spcPct val="114000"/>
              </a:lnSpc>
            </a:pPr>
            <a:r>
              <a:rPr sz="860" b="1" i="0">
                <a:solidFill>
                  <a:srgbClr val="FFFFFF"/>
                </a:solidFill>
                <a:latin typeface="Aptos"/>
              </a:rPr>
              <a:t>Embedding</a:t>
            </a:r>
          </a:p>
        </p:txBody>
      </p:sp>
      <p:sp>
        <p:nvSpPr>
          <p:cNvPr id="29" name="TextBox 28"/>
          <p:cNvSpPr txBox="1"/>
          <p:nvPr/>
        </p:nvSpPr>
        <p:spPr>
          <a:xfrm>
            <a:off x="8093903" y="2505456"/>
            <a:ext cx="1864827" cy="365760"/>
          </a:xfrm>
          <a:prstGeom prst="rect">
            <a:avLst/>
          </a:prstGeom>
          <a:noFill/>
        </p:spPr>
        <p:txBody>
          <a:bodyPr wrap="square" lIns="0" rIns="0" tIns="0" bIns="0" anchor="t">
            <a:spAutoFit/>
          </a:bodyPr>
          <a:lstStyle/>
          <a:p>
            <a:pPr algn="l">
              <a:lnSpc>
                <a:spcPct val="114000"/>
              </a:lnSpc>
            </a:pPr>
            <a:r>
              <a:rPr sz="860" b="0" i="0">
                <a:solidFill>
                  <a:srgbClr val="94A3B8"/>
                </a:solidFill>
                <a:latin typeface="Aptos"/>
              </a:rPr>
              <a:t>NPU vendor delegate</a:t>
            </a:r>
          </a:p>
        </p:txBody>
      </p:sp>
      <p:sp>
        <p:nvSpPr>
          <p:cNvPr id="30" name="TextBox 29"/>
          <p:cNvSpPr txBox="1"/>
          <p:nvPr/>
        </p:nvSpPr>
        <p:spPr>
          <a:xfrm>
            <a:off x="10050170" y="2505456"/>
            <a:ext cx="1452981" cy="365760"/>
          </a:xfrm>
          <a:prstGeom prst="rect">
            <a:avLst/>
          </a:prstGeom>
          <a:noFill/>
        </p:spPr>
        <p:txBody>
          <a:bodyPr wrap="square" lIns="0" rIns="0" tIns="0" bIns="0" anchor="t">
            <a:spAutoFit/>
          </a:bodyPr>
          <a:lstStyle/>
          <a:p>
            <a:pPr algn="l">
              <a:lnSpc>
                <a:spcPct val="114000"/>
              </a:lnSpc>
            </a:pPr>
            <a:r>
              <a:rPr sz="860" b="1" i="0">
                <a:solidFill>
                  <a:srgbClr val="F0B429"/>
                </a:solidFill>
                <a:latin typeface="Aptos"/>
              </a:rPr>
              <a:t>XNNPACK CPU</a:t>
            </a:r>
          </a:p>
        </p:txBody>
      </p:sp>
      <p:sp>
        <p:nvSpPr>
          <p:cNvPr id="31" name="Rectangle 30"/>
          <p:cNvSpPr/>
          <p:nvPr/>
        </p:nvSpPr>
        <p:spPr>
          <a:xfrm>
            <a:off x="6446520" y="2839211"/>
            <a:ext cx="5148072"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TextBox 31"/>
          <p:cNvSpPr txBox="1"/>
          <p:nvPr/>
        </p:nvSpPr>
        <p:spPr>
          <a:xfrm>
            <a:off x="6446520" y="2907791"/>
            <a:ext cx="1555943" cy="365760"/>
          </a:xfrm>
          <a:prstGeom prst="rect">
            <a:avLst/>
          </a:prstGeom>
          <a:noFill/>
        </p:spPr>
        <p:txBody>
          <a:bodyPr wrap="square" lIns="0" rIns="0" tIns="0" bIns="0" anchor="t">
            <a:spAutoFit/>
          </a:bodyPr>
          <a:lstStyle/>
          <a:p>
            <a:pPr algn="l">
              <a:lnSpc>
                <a:spcPct val="114000"/>
              </a:lnSpc>
            </a:pPr>
            <a:r>
              <a:rPr sz="860" b="1" i="0">
                <a:solidFill>
                  <a:srgbClr val="FFFFFF"/>
                </a:solidFill>
                <a:latin typeface="Aptos"/>
              </a:rPr>
              <a:t>Vector index</a:t>
            </a:r>
          </a:p>
        </p:txBody>
      </p:sp>
      <p:sp>
        <p:nvSpPr>
          <p:cNvPr id="33" name="TextBox 32"/>
          <p:cNvSpPr txBox="1"/>
          <p:nvPr/>
        </p:nvSpPr>
        <p:spPr>
          <a:xfrm>
            <a:off x="8093903" y="2907791"/>
            <a:ext cx="1864827" cy="365760"/>
          </a:xfrm>
          <a:prstGeom prst="rect">
            <a:avLst/>
          </a:prstGeom>
          <a:noFill/>
        </p:spPr>
        <p:txBody>
          <a:bodyPr wrap="square" lIns="0" rIns="0" tIns="0" bIns="0" anchor="t">
            <a:spAutoFit/>
          </a:bodyPr>
          <a:lstStyle/>
          <a:p>
            <a:pPr algn="l">
              <a:lnSpc>
                <a:spcPct val="114000"/>
              </a:lnSpc>
            </a:pPr>
            <a:r>
              <a:rPr sz="860" b="0" i="0">
                <a:solidFill>
                  <a:srgbClr val="94A3B8"/>
                </a:solidFill>
                <a:latin typeface="Aptos"/>
              </a:rPr>
              <a:t>sqlite-vec ANN</a:t>
            </a:r>
          </a:p>
        </p:txBody>
      </p:sp>
      <p:sp>
        <p:nvSpPr>
          <p:cNvPr id="34" name="TextBox 33"/>
          <p:cNvSpPr txBox="1"/>
          <p:nvPr/>
        </p:nvSpPr>
        <p:spPr>
          <a:xfrm>
            <a:off x="10050170" y="2907791"/>
            <a:ext cx="1452981" cy="365760"/>
          </a:xfrm>
          <a:prstGeom prst="rect">
            <a:avLst/>
          </a:prstGeom>
          <a:noFill/>
        </p:spPr>
        <p:txBody>
          <a:bodyPr wrap="square" lIns="0" rIns="0" tIns="0" bIns="0" anchor="t">
            <a:spAutoFit/>
          </a:bodyPr>
          <a:lstStyle/>
          <a:p>
            <a:pPr algn="l">
              <a:lnSpc>
                <a:spcPct val="114000"/>
              </a:lnSpc>
            </a:pPr>
            <a:r>
              <a:rPr sz="860" b="1" i="0">
                <a:solidFill>
                  <a:srgbClr val="F0B429"/>
                </a:solidFill>
                <a:latin typeface="Aptos"/>
              </a:rPr>
              <a:t>brute-force cosine</a:t>
            </a:r>
          </a:p>
        </p:txBody>
      </p:sp>
      <p:sp>
        <p:nvSpPr>
          <p:cNvPr id="35" name="Rectangle 34"/>
          <p:cNvSpPr/>
          <p:nvPr/>
        </p:nvSpPr>
        <p:spPr>
          <a:xfrm>
            <a:off x="6446520" y="3241547"/>
            <a:ext cx="5148072"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TextBox 35"/>
          <p:cNvSpPr txBox="1"/>
          <p:nvPr/>
        </p:nvSpPr>
        <p:spPr>
          <a:xfrm>
            <a:off x="6446520" y="3310127"/>
            <a:ext cx="1555943" cy="365760"/>
          </a:xfrm>
          <a:prstGeom prst="rect">
            <a:avLst/>
          </a:prstGeom>
          <a:noFill/>
        </p:spPr>
        <p:txBody>
          <a:bodyPr wrap="square" lIns="0" rIns="0" tIns="0" bIns="0" anchor="t">
            <a:spAutoFit/>
          </a:bodyPr>
          <a:lstStyle/>
          <a:p>
            <a:pPr algn="l">
              <a:lnSpc>
                <a:spcPct val="114000"/>
              </a:lnSpc>
            </a:pPr>
            <a:r>
              <a:rPr sz="860" b="1" i="0">
                <a:solidFill>
                  <a:srgbClr val="FFFFFF"/>
                </a:solidFill>
                <a:latin typeface="Aptos"/>
              </a:rPr>
              <a:t>At rest</a:t>
            </a:r>
          </a:p>
        </p:txBody>
      </p:sp>
      <p:sp>
        <p:nvSpPr>
          <p:cNvPr id="37" name="TextBox 36"/>
          <p:cNvSpPr txBox="1"/>
          <p:nvPr/>
        </p:nvSpPr>
        <p:spPr>
          <a:xfrm>
            <a:off x="8093903" y="3310127"/>
            <a:ext cx="1864827" cy="365760"/>
          </a:xfrm>
          <a:prstGeom prst="rect">
            <a:avLst/>
          </a:prstGeom>
          <a:noFill/>
        </p:spPr>
        <p:txBody>
          <a:bodyPr wrap="square" lIns="0" rIns="0" tIns="0" bIns="0" anchor="t">
            <a:spAutoFit/>
          </a:bodyPr>
          <a:lstStyle/>
          <a:p>
            <a:pPr algn="l">
              <a:lnSpc>
                <a:spcPct val="114000"/>
              </a:lnSpc>
            </a:pPr>
            <a:r>
              <a:rPr sz="860" b="0" i="0">
                <a:solidFill>
                  <a:srgbClr val="94A3B8"/>
                </a:solidFill>
                <a:latin typeface="Aptos"/>
              </a:rPr>
              <a:t>SQLCipher + Keystore</a:t>
            </a:r>
          </a:p>
        </p:txBody>
      </p:sp>
      <p:sp>
        <p:nvSpPr>
          <p:cNvPr id="38" name="TextBox 37"/>
          <p:cNvSpPr txBox="1"/>
          <p:nvPr/>
        </p:nvSpPr>
        <p:spPr>
          <a:xfrm>
            <a:off x="10050170" y="3310127"/>
            <a:ext cx="1452981" cy="365760"/>
          </a:xfrm>
          <a:prstGeom prst="rect">
            <a:avLst/>
          </a:prstGeom>
          <a:noFill/>
        </p:spPr>
        <p:txBody>
          <a:bodyPr wrap="square" lIns="0" rIns="0" tIns="0" bIns="0" anchor="t">
            <a:spAutoFit/>
          </a:bodyPr>
          <a:lstStyle/>
          <a:p>
            <a:pPr algn="l">
              <a:lnSpc>
                <a:spcPct val="114000"/>
              </a:lnSpc>
            </a:pPr>
            <a:r>
              <a:rPr sz="860" b="1" i="0">
                <a:solidFill>
                  <a:srgbClr val="DC2626"/>
                </a:solidFill>
                <a:latin typeface="Aptos"/>
              </a:rPr>
              <a:t>not yet</a:t>
            </a:r>
          </a:p>
        </p:txBody>
      </p:sp>
      <p:sp>
        <p:nvSpPr>
          <p:cNvPr id="39" name="Rectangle 38"/>
          <p:cNvSpPr/>
          <p:nvPr/>
        </p:nvSpPr>
        <p:spPr>
          <a:xfrm>
            <a:off x="6446520" y="3643883"/>
            <a:ext cx="5148072"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TextBox 39"/>
          <p:cNvSpPr txBox="1"/>
          <p:nvPr/>
        </p:nvSpPr>
        <p:spPr>
          <a:xfrm>
            <a:off x="6446520" y="3712463"/>
            <a:ext cx="1555943" cy="365760"/>
          </a:xfrm>
          <a:prstGeom prst="rect">
            <a:avLst/>
          </a:prstGeom>
          <a:noFill/>
        </p:spPr>
        <p:txBody>
          <a:bodyPr wrap="square" lIns="0" rIns="0" tIns="0" bIns="0" anchor="t">
            <a:spAutoFit/>
          </a:bodyPr>
          <a:lstStyle/>
          <a:p>
            <a:pPr algn="l">
              <a:lnSpc>
                <a:spcPct val="114000"/>
              </a:lnSpc>
            </a:pPr>
            <a:r>
              <a:rPr sz="860" b="1" i="0">
                <a:solidFill>
                  <a:srgbClr val="FFFFFF"/>
                </a:solidFill>
                <a:latin typeface="Aptos"/>
              </a:rPr>
              <a:t>Bridge</a:t>
            </a:r>
          </a:p>
        </p:txBody>
      </p:sp>
      <p:sp>
        <p:nvSpPr>
          <p:cNvPr id="41" name="TextBox 40"/>
          <p:cNvSpPr txBox="1"/>
          <p:nvPr/>
        </p:nvSpPr>
        <p:spPr>
          <a:xfrm>
            <a:off x="8093903" y="3712463"/>
            <a:ext cx="1864827" cy="365760"/>
          </a:xfrm>
          <a:prstGeom prst="rect">
            <a:avLst/>
          </a:prstGeom>
          <a:noFill/>
        </p:spPr>
        <p:txBody>
          <a:bodyPr wrap="square" lIns="0" rIns="0" tIns="0" bIns="0" anchor="t">
            <a:spAutoFit/>
          </a:bodyPr>
          <a:lstStyle/>
          <a:p>
            <a:pPr algn="l">
              <a:lnSpc>
                <a:spcPct val="114000"/>
              </a:lnSpc>
            </a:pPr>
            <a:r>
              <a:rPr sz="860" b="0" i="0">
                <a:solidFill>
                  <a:srgbClr val="94A3B8"/>
                </a:solidFill>
                <a:latin typeface="Aptos"/>
              </a:rPr>
              <a:t>Office Kit transport</a:t>
            </a:r>
          </a:p>
        </p:txBody>
      </p:sp>
      <p:sp>
        <p:nvSpPr>
          <p:cNvPr id="42" name="TextBox 41"/>
          <p:cNvSpPr txBox="1"/>
          <p:nvPr/>
        </p:nvSpPr>
        <p:spPr>
          <a:xfrm>
            <a:off x="10050170" y="3712463"/>
            <a:ext cx="1452981" cy="365760"/>
          </a:xfrm>
          <a:prstGeom prst="rect">
            <a:avLst/>
          </a:prstGeom>
          <a:noFill/>
        </p:spPr>
        <p:txBody>
          <a:bodyPr wrap="square" lIns="0" rIns="0" tIns="0" bIns="0" anchor="t">
            <a:spAutoFit/>
          </a:bodyPr>
          <a:lstStyle/>
          <a:p>
            <a:pPr algn="l">
              <a:lnSpc>
                <a:spcPct val="114000"/>
              </a:lnSpc>
            </a:pPr>
            <a:r>
              <a:rPr sz="860" b="1" i="0">
                <a:solidFill>
                  <a:srgbClr val="F0B429"/>
                </a:solidFill>
                <a:latin typeface="Aptos"/>
              </a:rPr>
              <a:t>USB / clipboard</a:t>
            </a:r>
          </a:p>
        </p:txBody>
      </p:sp>
      <p:sp>
        <p:nvSpPr>
          <p:cNvPr id="43" name="Rectangle 42"/>
          <p:cNvSpPr/>
          <p:nvPr/>
        </p:nvSpPr>
        <p:spPr>
          <a:xfrm>
            <a:off x="6446520" y="4046220"/>
            <a:ext cx="5148072"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TextBox 43"/>
          <p:cNvSpPr txBox="1"/>
          <p:nvPr/>
        </p:nvSpPr>
        <p:spPr>
          <a:xfrm>
            <a:off x="6446520" y="4114800"/>
            <a:ext cx="1555943" cy="365760"/>
          </a:xfrm>
          <a:prstGeom prst="rect">
            <a:avLst/>
          </a:prstGeom>
          <a:noFill/>
        </p:spPr>
        <p:txBody>
          <a:bodyPr wrap="square" lIns="0" rIns="0" tIns="0" bIns="0" anchor="t">
            <a:spAutoFit/>
          </a:bodyPr>
          <a:lstStyle/>
          <a:p>
            <a:pPr algn="l">
              <a:lnSpc>
                <a:spcPct val="114000"/>
              </a:lnSpc>
            </a:pPr>
            <a:r>
              <a:rPr sz="860" b="1" i="0">
                <a:solidFill>
                  <a:srgbClr val="FFFFFF"/>
                </a:solidFill>
                <a:latin typeface="Aptos"/>
              </a:rPr>
              <a:t>Generation</a:t>
            </a:r>
          </a:p>
        </p:txBody>
      </p:sp>
      <p:sp>
        <p:nvSpPr>
          <p:cNvPr id="45" name="TextBox 44"/>
          <p:cNvSpPr txBox="1"/>
          <p:nvPr/>
        </p:nvSpPr>
        <p:spPr>
          <a:xfrm>
            <a:off x="8093903" y="4114800"/>
            <a:ext cx="1864827" cy="365760"/>
          </a:xfrm>
          <a:prstGeom prst="rect">
            <a:avLst/>
          </a:prstGeom>
          <a:noFill/>
        </p:spPr>
        <p:txBody>
          <a:bodyPr wrap="square" lIns="0" rIns="0" tIns="0" bIns="0" anchor="t">
            <a:spAutoFit/>
          </a:bodyPr>
          <a:lstStyle/>
          <a:p>
            <a:pPr algn="l">
              <a:lnSpc>
                <a:spcPct val="114000"/>
              </a:lnSpc>
            </a:pPr>
            <a:r>
              <a:rPr sz="860" b="0" i="0">
                <a:solidFill>
                  <a:srgbClr val="94A3B8"/>
                </a:solidFill>
                <a:latin typeface="Aptos"/>
              </a:rPr>
              <a:t>on-device SLM</a:t>
            </a:r>
          </a:p>
        </p:txBody>
      </p:sp>
      <p:sp>
        <p:nvSpPr>
          <p:cNvPr id="46" name="TextBox 45"/>
          <p:cNvSpPr txBox="1"/>
          <p:nvPr/>
        </p:nvSpPr>
        <p:spPr>
          <a:xfrm>
            <a:off x="10050170" y="4114800"/>
            <a:ext cx="1452981" cy="365760"/>
          </a:xfrm>
          <a:prstGeom prst="rect">
            <a:avLst/>
          </a:prstGeom>
          <a:noFill/>
        </p:spPr>
        <p:txBody>
          <a:bodyPr wrap="square" lIns="0" rIns="0" tIns="0" bIns="0" anchor="t">
            <a:spAutoFit/>
          </a:bodyPr>
          <a:lstStyle/>
          <a:p>
            <a:pPr algn="l">
              <a:lnSpc>
                <a:spcPct val="114000"/>
              </a:lnSpc>
            </a:pPr>
            <a:r>
              <a:rPr sz="860" b="1" i="0">
                <a:solidFill>
                  <a:srgbClr val="F0B429"/>
                </a:solidFill>
                <a:latin typeface="Aptos"/>
              </a:rPr>
              <a:t>laptop model</a:t>
            </a:r>
          </a:p>
        </p:txBody>
      </p:sp>
      <p:sp>
        <p:nvSpPr>
          <p:cNvPr id="47" name="Rectangle 46"/>
          <p:cNvSpPr/>
          <p:nvPr/>
        </p:nvSpPr>
        <p:spPr>
          <a:xfrm>
            <a:off x="6446520" y="4448556"/>
            <a:ext cx="5148072"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8" name="TextBox 47"/>
          <p:cNvSpPr txBox="1"/>
          <p:nvPr/>
        </p:nvSpPr>
        <p:spPr>
          <a:xfrm>
            <a:off x="6446520" y="4517136"/>
            <a:ext cx="1555943" cy="365760"/>
          </a:xfrm>
          <a:prstGeom prst="rect">
            <a:avLst/>
          </a:prstGeom>
          <a:noFill/>
        </p:spPr>
        <p:txBody>
          <a:bodyPr wrap="square" lIns="0" rIns="0" tIns="0" bIns="0" anchor="t">
            <a:spAutoFit/>
          </a:bodyPr>
          <a:lstStyle/>
          <a:p>
            <a:pPr algn="l">
              <a:lnSpc>
                <a:spcPct val="114000"/>
              </a:lnSpc>
            </a:pPr>
            <a:r>
              <a:rPr sz="860" b="1" i="0">
                <a:solidFill>
                  <a:srgbClr val="FFFFFF"/>
                </a:solidFill>
                <a:latin typeface="Aptos"/>
              </a:rPr>
              <a:t>Network perms</a:t>
            </a:r>
          </a:p>
        </p:txBody>
      </p:sp>
      <p:sp>
        <p:nvSpPr>
          <p:cNvPr id="49" name="TextBox 48"/>
          <p:cNvSpPr txBox="1"/>
          <p:nvPr/>
        </p:nvSpPr>
        <p:spPr>
          <a:xfrm>
            <a:off x="8093903" y="4517136"/>
            <a:ext cx="1864827" cy="365760"/>
          </a:xfrm>
          <a:prstGeom prst="rect">
            <a:avLst/>
          </a:prstGeom>
          <a:noFill/>
        </p:spPr>
        <p:txBody>
          <a:bodyPr wrap="square" lIns="0" rIns="0" tIns="0" bIns="0" anchor="t">
            <a:spAutoFit/>
          </a:bodyPr>
          <a:lstStyle/>
          <a:p>
            <a:pPr algn="l">
              <a:lnSpc>
                <a:spcPct val="114000"/>
              </a:lnSpc>
            </a:pPr>
            <a:r>
              <a:rPr sz="860" b="0" i="0">
                <a:solidFill>
                  <a:srgbClr val="94A3B8"/>
                </a:solidFill>
                <a:latin typeface="Aptos"/>
              </a:rPr>
              <a:t>none</a:t>
            </a:r>
          </a:p>
        </p:txBody>
      </p:sp>
      <p:sp>
        <p:nvSpPr>
          <p:cNvPr id="50" name="TextBox 49"/>
          <p:cNvSpPr txBox="1"/>
          <p:nvPr/>
        </p:nvSpPr>
        <p:spPr>
          <a:xfrm>
            <a:off x="10050170" y="4517136"/>
            <a:ext cx="1452981" cy="365760"/>
          </a:xfrm>
          <a:prstGeom prst="rect">
            <a:avLst/>
          </a:prstGeom>
          <a:noFill/>
        </p:spPr>
        <p:txBody>
          <a:bodyPr wrap="square" lIns="0" rIns="0" tIns="0" bIns="0" anchor="t">
            <a:spAutoFit/>
          </a:bodyPr>
          <a:lstStyle/>
          <a:p>
            <a:pPr algn="l">
              <a:lnSpc>
                <a:spcPct val="114000"/>
              </a:lnSpc>
            </a:pPr>
            <a:r>
              <a:rPr sz="860" b="1" i="0">
                <a:solidFill>
                  <a:srgbClr val="22C55E"/>
                </a:solidFill>
                <a:latin typeface="Aptos"/>
              </a:rPr>
              <a:t>none</a:t>
            </a:r>
          </a:p>
        </p:txBody>
      </p:sp>
      <p:sp>
        <p:nvSpPr>
          <p:cNvPr id="51" name="TextBox 50"/>
          <p:cNvSpPr txBox="1"/>
          <p:nvPr/>
        </p:nvSpPr>
        <p:spPr>
          <a:xfrm>
            <a:off x="6446520" y="5047488"/>
            <a:ext cx="5148072" cy="731520"/>
          </a:xfrm>
          <a:prstGeom prst="rect">
            <a:avLst/>
          </a:prstGeom>
          <a:noFill/>
        </p:spPr>
        <p:txBody>
          <a:bodyPr wrap="square" lIns="0" rIns="0" tIns="0" bIns="0" anchor="t">
            <a:spAutoFit/>
          </a:bodyPr>
          <a:lstStyle/>
          <a:p>
            <a:pPr algn="l">
              <a:lnSpc>
                <a:spcPct val="130000"/>
              </a:lnSpc>
            </a:pPr>
            <a:r>
              <a:rPr sz="880" b="0" i="0">
                <a:solidFill>
                  <a:srgbClr val="94A3B8"/>
                </a:solidFill>
                <a:latin typeface="Aptos"/>
              </a:rPr>
              <a:t>Only the last row is already where it needs to be - and it is the row the whole argument rests on. Everything above it is engineering with known answers, not research.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TextBox 2"/>
          <p:cNvSpPr txBox="1"/>
          <p:nvPr/>
        </p:nvSpPr>
        <p:spPr>
          <a:xfrm>
            <a:off x="594360" y="347472"/>
            <a:ext cx="8778240" cy="219456"/>
          </a:xfrm>
          <a:prstGeom prst="rect">
            <a:avLst/>
          </a:prstGeom>
          <a:noFill/>
        </p:spPr>
        <p:txBody>
          <a:bodyPr wrap="square" lIns="0" rIns="0" tIns="0" bIns="0" anchor="t">
            <a:spAutoFit/>
          </a:bodyPr>
          <a:lstStyle/>
          <a:p>
            <a:pPr algn="l"/>
            <a:r>
              <a:rPr sz="850" b="1" i="0" spc="150">
                <a:solidFill>
                  <a:srgbClr val="64748B"/>
                </a:solidFill>
                <a:latin typeface="Aptos"/>
              </a:rPr>
              <a:t>10 · WHERE IT GOES</a:t>
            </a:r>
          </a:p>
        </p:txBody>
      </p:sp>
      <p:sp>
        <p:nvSpPr>
          <p:cNvPr id="4" name="TextBox 3"/>
          <p:cNvSpPr txBox="1"/>
          <p:nvPr/>
        </p:nvSpPr>
        <p:spPr>
          <a:xfrm>
            <a:off x="594360" y="731520"/>
            <a:ext cx="11000232" cy="731520"/>
          </a:xfrm>
          <a:prstGeom prst="rect">
            <a:avLst/>
          </a:prstGeom>
          <a:noFill/>
        </p:spPr>
        <p:txBody>
          <a:bodyPr wrap="square" lIns="0" rIns="0" tIns="0" bIns="0" anchor="t">
            <a:spAutoFit/>
          </a:bodyPr>
          <a:lstStyle/>
          <a:p>
            <a:pPr algn="l">
              <a:lnSpc>
                <a:spcPct val="102000"/>
              </a:lnSpc>
            </a:pPr>
            <a:r>
              <a:rPr sz="2700" b="0" i="0">
                <a:solidFill>
                  <a:srgbClr val="FFFFFF"/>
                </a:solidFill>
                <a:latin typeface="Aptos Display"/>
              </a:rPr>
              <a:t>Close the loop, then federate, then make it ambient.</a:t>
            </a:r>
          </a:p>
        </p:txBody>
      </p:sp>
      <p:sp>
        <p:nvSpPr>
          <p:cNvPr id="5" name="TextBox 4"/>
          <p:cNvSpPr txBox="1"/>
          <p:nvPr/>
        </p:nvSpPr>
        <p:spPr>
          <a:xfrm>
            <a:off x="594360" y="1481328"/>
            <a:ext cx="10332720" cy="457200"/>
          </a:xfrm>
          <a:prstGeom prst="rect">
            <a:avLst/>
          </a:prstGeom>
          <a:noFill/>
        </p:spPr>
        <p:txBody>
          <a:bodyPr wrap="square" lIns="0" rIns="0" tIns="0" bIns="0" anchor="t">
            <a:spAutoFit/>
          </a:bodyPr>
          <a:lstStyle/>
          <a:p>
            <a:pPr algn="l">
              <a:lnSpc>
                <a:spcPct val="125000"/>
              </a:lnSpc>
            </a:pPr>
            <a:r>
              <a:rPr sz="1150" b="0" i="0">
                <a:solidFill>
                  <a:srgbClr val="94A3B8"/>
                </a:solidFill>
                <a:latin typeface="Aptos"/>
              </a:rPr>
              <a:t>Each step removes one more reason to send anything anywhere.</a:t>
            </a:r>
          </a:p>
        </p:txBody>
      </p:sp>
      <p:sp>
        <p:nvSpPr>
          <p:cNvPr id="6" name="Rectangle 5"/>
          <p:cNvSpPr/>
          <p:nvPr/>
        </p:nvSpPr>
        <p:spPr>
          <a:xfrm>
            <a:off x="594360" y="6291072"/>
            <a:ext cx="11000232"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TextBox 6"/>
          <p:cNvSpPr txBox="1"/>
          <p:nvPr/>
        </p:nvSpPr>
        <p:spPr>
          <a:xfrm>
            <a:off x="10881360" y="6419088"/>
            <a:ext cx="713232" cy="201168"/>
          </a:xfrm>
          <a:prstGeom prst="rect">
            <a:avLst/>
          </a:prstGeom>
          <a:noFill/>
        </p:spPr>
        <p:txBody>
          <a:bodyPr wrap="square" lIns="0" rIns="0" tIns="0" bIns="0" anchor="t">
            <a:spAutoFit/>
          </a:bodyPr>
          <a:lstStyle/>
          <a:p>
            <a:pPr algn="r"/>
            <a:r>
              <a:rPr sz="850" b="1" i="0" spc="80">
                <a:solidFill>
                  <a:srgbClr val="64748B"/>
                </a:solidFill>
                <a:latin typeface="Aptos"/>
              </a:rPr>
              <a:t>10</a:t>
            </a:r>
          </a:p>
        </p:txBody>
      </p:sp>
      <p:sp>
        <p:nvSpPr>
          <p:cNvPr id="8" name="Rounded Rectangle 7"/>
          <p:cNvSpPr/>
          <p:nvPr/>
        </p:nvSpPr>
        <p:spPr>
          <a:xfrm>
            <a:off x="594360" y="2157984"/>
            <a:ext cx="3566160" cy="2487168"/>
          </a:xfrm>
          <a:prstGeom prst="roundRect">
            <a:avLst>
              <a:gd name="adj" fmla="val 2205"/>
            </a:avLst>
          </a:prstGeom>
          <a:solidFill>
            <a:srgbClr val="10192E"/>
          </a:solidFill>
          <a:ln w="889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Rectangle 8"/>
          <p:cNvSpPr/>
          <p:nvPr/>
        </p:nvSpPr>
        <p:spPr>
          <a:xfrm>
            <a:off x="594360" y="2157984"/>
            <a:ext cx="3566160" cy="32918"/>
          </a:xfrm>
          <a:prstGeom prst="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TextBox 9"/>
          <p:cNvSpPr txBox="1"/>
          <p:nvPr/>
        </p:nvSpPr>
        <p:spPr>
          <a:xfrm>
            <a:off x="813816" y="2359152"/>
            <a:ext cx="1280160" cy="182880"/>
          </a:xfrm>
          <a:prstGeom prst="rect">
            <a:avLst/>
          </a:prstGeom>
          <a:noFill/>
        </p:spPr>
        <p:txBody>
          <a:bodyPr wrap="square" lIns="0" rIns="0" tIns="0" bIns="0" anchor="t">
            <a:spAutoFit/>
          </a:bodyPr>
          <a:lstStyle/>
          <a:p>
            <a:pPr algn="l"/>
            <a:r>
              <a:rPr sz="750" b="1" i="0" spc="140">
                <a:solidFill>
                  <a:srgbClr val="22C55E"/>
                </a:solidFill>
                <a:latin typeface="Aptos"/>
              </a:rPr>
              <a:t>NEAR</a:t>
            </a:r>
          </a:p>
        </p:txBody>
      </p:sp>
      <p:sp>
        <p:nvSpPr>
          <p:cNvPr id="11" name="TextBox 10"/>
          <p:cNvSpPr txBox="1"/>
          <p:nvPr/>
        </p:nvSpPr>
        <p:spPr>
          <a:xfrm>
            <a:off x="813816" y="2596896"/>
            <a:ext cx="3127248" cy="402336"/>
          </a:xfrm>
          <a:prstGeom prst="rect">
            <a:avLst/>
          </a:prstGeom>
          <a:noFill/>
        </p:spPr>
        <p:txBody>
          <a:bodyPr wrap="square" lIns="0" rIns="0" tIns="0" bIns="0" anchor="t">
            <a:spAutoFit/>
          </a:bodyPr>
          <a:lstStyle/>
          <a:p>
            <a:pPr algn="l">
              <a:lnSpc>
                <a:spcPct val="112000"/>
              </a:lnSpc>
            </a:pPr>
            <a:r>
              <a:rPr sz="1250" b="0" i="0">
                <a:solidFill>
                  <a:srgbClr val="FFFFFF"/>
                </a:solidFill>
                <a:latin typeface="Aptos Display"/>
              </a:rPr>
              <a:t>Generation moves on-device</a:t>
            </a:r>
          </a:p>
        </p:txBody>
      </p:sp>
      <p:sp>
        <p:nvSpPr>
          <p:cNvPr id="12" name="TextBox 11"/>
          <p:cNvSpPr txBox="1"/>
          <p:nvPr/>
        </p:nvSpPr>
        <p:spPr>
          <a:xfrm>
            <a:off x="813816" y="3108960"/>
            <a:ext cx="3127248" cy="914400"/>
          </a:xfrm>
          <a:prstGeom prst="rect">
            <a:avLst/>
          </a:prstGeom>
          <a:noFill/>
        </p:spPr>
        <p:txBody>
          <a:bodyPr wrap="square" lIns="0" rIns="0" tIns="0" bIns="0" anchor="t">
            <a:spAutoFit/>
          </a:bodyPr>
          <a:lstStyle/>
          <a:p>
            <a:pPr algn="l">
              <a:lnSpc>
                <a:spcPct val="130000"/>
              </a:lnSpc>
            </a:pPr>
            <a:r>
              <a:rPr sz="880" b="0" i="0">
                <a:solidFill>
                  <a:srgbClr val="94A3B8"/>
                </a:solidFill>
                <a:latin typeface="Aptos"/>
              </a:rPr>
              <a:t>A small language model reads the retrieved passages on the phone itself. The loop closes entirely inside the vault, and the bridge becomes optional rather than load-bearing.</a:t>
            </a:r>
          </a:p>
        </p:txBody>
      </p:sp>
      <p:sp>
        <p:nvSpPr>
          <p:cNvPr id="13" name="Rectangle 12"/>
          <p:cNvSpPr/>
          <p:nvPr/>
        </p:nvSpPr>
        <p:spPr>
          <a:xfrm>
            <a:off x="813816" y="4059936"/>
            <a:ext cx="3127248"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4" name="TextBox 13"/>
          <p:cNvSpPr txBox="1"/>
          <p:nvPr/>
        </p:nvSpPr>
        <p:spPr>
          <a:xfrm>
            <a:off x="813816" y="4206240"/>
            <a:ext cx="3127248" cy="365760"/>
          </a:xfrm>
          <a:prstGeom prst="rect">
            <a:avLst/>
          </a:prstGeom>
          <a:noFill/>
        </p:spPr>
        <p:txBody>
          <a:bodyPr wrap="square" lIns="0" rIns="0" tIns="0" bIns="0" anchor="t">
            <a:spAutoFit/>
          </a:bodyPr>
          <a:lstStyle/>
          <a:p>
            <a:pPr algn="l">
              <a:lnSpc>
                <a:spcPct val="124000"/>
              </a:lnSpc>
            </a:pPr>
            <a:r>
              <a:rPr sz="840" b="0" i="0">
                <a:solidFill>
                  <a:srgbClr val="22C55E"/>
                </a:solidFill>
                <a:latin typeface="Aptos"/>
              </a:rPr>
              <a:t>The laptop stops being part of the threat model.</a:t>
            </a:r>
          </a:p>
        </p:txBody>
      </p:sp>
      <p:sp>
        <p:nvSpPr>
          <p:cNvPr id="15" name="Rounded Rectangle 14"/>
          <p:cNvSpPr/>
          <p:nvPr/>
        </p:nvSpPr>
        <p:spPr>
          <a:xfrm>
            <a:off x="813816" y="4443984"/>
            <a:ext cx="3127248" cy="50292"/>
          </a:xfrm>
          <a:prstGeom prst="roundRect">
            <a:avLst>
              <a:gd name="adj" fmla="val 50000"/>
            </a:avLst>
          </a:prstGeom>
          <a:solidFill>
            <a:srgbClr val="242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Rounded Rectangle 15"/>
          <p:cNvSpPr/>
          <p:nvPr/>
        </p:nvSpPr>
        <p:spPr>
          <a:xfrm>
            <a:off x="813816" y="4443984"/>
            <a:ext cx="1063264" cy="50292"/>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Rounded Rectangle 16"/>
          <p:cNvSpPr/>
          <p:nvPr/>
        </p:nvSpPr>
        <p:spPr>
          <a:xfrm>
            <a:off x="4315968" y="2157984"/>
            <a:ext cx="3566160" cy="2487168"/>
          </a:xfrm>
          <a:prstGeom prst="roundRect">
            <a:avLst>
              <a:gd name="adj" fmla="val 2205"/>
            </a:avLst>
          </a:prstGeom>
          <a:solidFill>
            <a:srgbClr val="10192E"/>
          </a:solidFill>
          <a:ln w="889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Rectangle 17"/>
          <p:cNvSpPr/>
          <p:nvPr/>
        </p:nvSpPr>
        <p:spPr>
          <a:xfrm>
            <a:off x="4315968" y="2157984"/>
            <a:ext cx="3566160" cy="32918"/>
          </a:xfrm>
          <a:prstGeom prst="rect">
            <a:avLst/>
          </a:prstGeom>
          <a:solidFill>
            <a:srgbClr val="7C8C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TextBox 18"/>
          <p:cNvSpPr txBox="1"/>
          <p:nvPr/>
        </p:nvSpPr>
        <p:spPr>
          <a:xfrm>
            <a:off x="4535424" y="2359152"/>
            <a:ext cx="1280160" cy="182880"/>
          </a:xfrm>
          <a:prstGeom prst="rect">
            <a:avLst/>
          </a:prstGeom>
          <a:noFill/>
        </p:spPr>
        <p:txBody>
          <a:bodyPr wrap="square" lIns="0" rIns="0" tIns="0" bIns="0" anchor="t">
            <a:spAutoFit/>
          </a:bodyPr>
          <a:lstStyle/>
          <a:p>
            <a:pPr algn="l"/>
            <a:r>
              <a:rPr sz="750" b="1" i="0" spc="140">
                <a:solidFill>
                  <a:srgbClr val="7C8CF8"/>
                </a:solidFill>
                <a:latin typeface="Aptos"/>
              </a:rPr>
              <a:t>NEXT</a:t>
            </a:r>
          </a:p>
        </p:txBody>
      </p:sp>
      <p:sp>
        <p:nvSpPr>
          <p:cNvPr id="20" name="TextBox 19"/>
          <p:cNvSpPr txBox="1"/>
          <p:nvPr/>
        </p:nvSpPr>
        <p:spPr>
          <a:xfrm>
            <a:off x="4535424" y="2596896"/>
            <a:ext cx="3127248" cy="402336"/>
          </a:xfrm>
          <a:prstGeom prst="rect">
            <a:avLst/>
          </a:prstGeom>
          <a:noFill/>
        </p:spPr>
        <p:txBody>
          <a:bodyPr wrap="square" lIns="0" rIns="0" tIns="0" bIns="0" anchor="t">
            <a:spAutoFit/>
          </a:bodyPr>
          <a:lstStyle/>
          <a:p>
            <a:pPr algn="l">
              <a:lnSpc>
                <a:spcPct val="112000"/>
              </a:lnSpc>
            </a:pPr>
            <a:r>
              <a:rPr sz="1250" b="0" i="0">
                <a:solidFill>
                  <a:srgbClr val="FFFFFF"/>
                </a:solidFill>
                <a:latin typeface="Aptos Display"/>
              </a:rPr>
              <a:t>Vaults federate, peer to peer</a:t>
            </a:r>
          </a:p>
        </p:txBody>
      </p:sp>
      <p:sp>
        <p:nvSpPr>
          <p:cNvPr id="21" name="TextBox 20"/>
          <p:cNvSpPr txBox="1"/>
          <p:nvPr/>
        </p:nvSpPr>
        <p:spPr>
          <a:xfrm>
            <a:off x="4535424" y="3108960"/>
            <a:ext cx="3127248" cy="914400"/>
          </a:xfrm>
          <a:prstGeom prst="rect">
            <a:avLst/>
          </a:prstGeom>
          <a:noFill/>
        </p:spPr>
        <p:txBody>
          <a:bodyPr wrap="square" lIns="0" rIns="0" tIns="0" bIns="0" anchor="t">
            <a:spAutoFit/>
          </a:bodyPr>
          <a:lstStyle/>
          <a:p>
            <a:pPr algn="l">
              <a:lnSpc>
                <a:spcPct val="130000"/>
              </a:lnSpc>
            </a:pPr>
            <a:r>
              <a:rPr sz="880" b="0" i="0">
                <a:solidFill>
                  <a:srgbClr val="94A3B8"/>
                </a:solidFill>
                <a:latin typeface="Aptos"/>
              </a:rPr>
              <a:t>Phone, laptop and workstation hold one personal index, synchronised directly between devices you own, with no server in the middle holding a key or a copy.</a:t>
            </a:r>
          </a:p>
        </p:txBody>
      </p:sp>
      <p:sp>
        <p:nvSpPr>
          <p:cNvPr id="22" name="Rectangle 21"/>
          <p:cNvSpPr/>
          <p:nvPr/>
        </p:nvSpPr>
        <p:spPr>
          <a:xfrm>
            <a:off x="4535424" y="4059936"/>
            <a:ext cx="3127248"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TextBox 22"/>
          <p:cNvSpPr txBox="1"/>
          <p:nvPr/>
        </p:nvSpPr>
        <p:spPr>
          <a:xfrm>
            <a:off x="4535424" y="4206240"/>
            <a:ext cx="3127248" cy="365760"/>
          </a:xfrm>
          <a:prstGeom prst="rect">
            <a:avLst/>
          </a:prstGeom>
          <a:noFill/>
        </p:spPr>
        <p:txBody>
          <a:bodyPr wrap="square" lIns="0" rIns="0" tIns="0" bIns="0" anchor="t">
            <a:spAutoFit/>
          </a:bodyPr>
          <a:lstStyle/>
          <a:p>
            <a:pPr algn="l">
              <a:lnSpc>
                <a:spcPct val="124000"/>
              </a:lnSpc>
            </a:pPr>
            <a:r>
              <a:rPr sz="840" b="0" i="0">
                <a:solidFill>
                  <a:srgbClr val="7C8CF8"/>
                </a:solidFill>
                <a:latin typeface="Aptos"/>
              </a:rPr>
              <a:t>One corpus, many devices, still no third party.</a:t>
            </a:r>
          </a:p>
        </p:txBody>
      </p:sp>
      <p:sp>
        <p:nvSpPr>
          <p:cNvPr id="24" name="Rounded Rectangle 23"/>
          <p:cNvSpPr/>
          <p:nvPr/>
        </p:nvSpPr>
        <p:spPr>
          <a:xfrm>
            <a:off x="4535424" y="4443984"/>
            <a:ext cx="3127248" cy="50292"/>
          </a:xfrm>
          <a:prstGeom prst="roundRect">
            <a:avLst>
              <a:gd name="adj" fmla="val 50000"/>
            </a:avLst>
          </a:prstGeom>
          <a:solidFill>
            <a:srgbClr val="242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Rounded Rectangle 24"/>
          <p:cNvSpPr/>
          <p:nvPr/>
        </p:nvSpPr>
        <p:spPr>
          <a:xfrm>
            <a:off x="4535424" y="4443984"/>
            <a:ext cx="1938893" cy="50292"/>
          </a:xfrm>
          <a:prstGeom prst="roundRect">
            <a:avLst>
              <a:gd name="adj" fmla="val 50000"/>
            </a:avLst>
          </a:prstGeom>
          <a:solidFill>
            <a:srgbClr val="7C8C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Rounded Rectangle 25"/>
          <p:cNvSpPr/>
          <p:nvPr/>
        </p:nvSpPr>
        <p:spPr>
          <a:xfrm>
            <a:off x="8037576" y="2157984"/>
            <a:ext cx="3566160" cy="2487168"/>
          </a:xfrm>
          <a:prstGeom prst="roundRect">
            <a:avLst>
              <a:gd name="adj" fmla="val 2205"/>
            </a:avLst>
          </a:prstGeom>
          <a:solidFill>
            <a:srgbClr val="10192E"/>
          </a:solidFill>
          <a:ln w="889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Rectangle 26"/>
          <p:cNvSpPr/>
          <p:nvPr/>
        </p:nvSpPr>
        <p:spPr>
          <a:xfrm>
            <a:off x="8037576" y="2157984"/>
            <a:ext cx="3566160" cy="32918"/>
          </a:xfrm>
          <a:prstGeom prst="rect">
            <a:avLst/>
          </a:prstGeom>
          <a:solidFill>
            <a:srgbClr val="7C8C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TextBox 27"/>
          <p:cNvSpPr txBox="1"/>
          <p:nvPr/>
        </p:nvSpPr>
        <p:spPr>
          <a:xfrm>
            <a:off x="8257032" y="2359152"/>
            <a:ext cx="1280160" cy="182880"/>
          </a:xfrm>
          <a:prstGeom prst="rect">
            <a:avLst/>
          </a:prstGeom>
          <a:noFill/>
        </p:spPr>
        <p:txBody>
          <a:bodyPr wrap="square" lIns="0" rIns="0" tIns="0" bIns="0" anchor="t">
            <a:spAutoFit/>
          </a:bodyPr>
          <a:lstStyle/>
          <a:p>
            <a:pPr algn="l"/>
            <a:r>
              <a:rPr sz="750" b="1" i="0" spc="140">
                <a:solidFill>
                  <a:srgbClr val="7C8CF8"/>
                </a:solidFill>
                <a:latin typeface="Aptos"/>
              </a:rPr>
              <a:t>LATER</a:t>
            </a:r>
          </a:p>
        </p:txBody>
      </p:sp>
      <p:sp>
        <p:nvSpPr>
          <p:cNvPr id="29" name="TextBox 28"/>
          <p:cNvSpPr txBox="1"/>
          <p:nvPr/>
        </p:nvSpPr>
        <p:spPr>
          <a:xfrm>
            <a:off x="8257032" y="2596896"/>
            <a:ext cx="3127248" cy="402336"/>
          </a:xfrm>
          <a:prstGeom prst="rect">
            <a:avLst/>
          </a:prstGeom>
          <a:noFill/>
        </p:spPr>
        <p:txBody>
          <a:bodyPr wrap="square" lIns="0" rIns="0" tIns="0" bIns="0" anchor="t">
            <a:spAutoFit/>
          </a:bodyPr>
          <a:lstStyle/>
          <a:p>
            <a:pPr algn="l">
              <a:lnSpc>
                <a:spcPct val="112000"/>
              </a:lnSpc>
            </a:pPr>
            <a:r>
              <a:rPr sz="1250" b="0" i="0">
                <a:solidFill>
                  <a:srgbClr val="FFFFFF"/>
                </a:solidFill>
                <a:latin typeface="Aptos Display"/>
              </a:rPr>
              <a:t>Ingestion becomes ambient</a:t>
            </a:r>
          </a:p>
        </p:txBody>
      </p:sp>
      <p:sp>
        <p:nvSpPr>
          <p:cNvPr id="30" name="TextBox 29"/>
          <p:cNvSpPr txBox="1"/>
          <p:nvPr/>
        </p:nvSpPr>
        <p:spPr>
          <a:xfrm>
            <a:off x="8257032" y="3108960"/>
            <a:ext cx="3127248" cy="914400"/>
          </a:xfrm>
          <a:prstGeom prst="rect">
            <a:avLst/>
          </a:prstGeom>
          <a:noFill/>
        </p:spPr>
        <p:txBody>
          <a:bodyPr wrap="square" lIns="0" rIns="0" tIns="0" bIns="0" anchor="t">
            <a:spAutoFit/>
          </a:bodyPr>
          <a:lstStyle/>
          <a:p>
            <a:pPr algn="l">
              <a:lnSpc>
                <a:spcPct val="130000"/>
              </a:lnSpc>
            </a:pPr>
            <a:r>
              <a:rPr sz="880" b="0" i="0">
                <a:solidFill>
                  <a:srgbClr val="94A3B8"/>
                </a:solidFill>
                <a:latin typeface="Aptos"/>
              </a:rPr>
              <a:t>Meetings, screenshots and notes are indexed continuously and locally. Capture stops being a deliberate act and the vault fills itself as you work.</a:t>
            </a:r>
          </a:p>
        </p:txBody>
      </p:sp>
      <p:sp>
        <p:nvSpPr>
          <p:cNvPr id="31" name="Rectangle 30"/>
          <p:cNvSpPr/>
          <p:nvPr/>
        </p:nvSpPr>
        <p:spPr>
          <a:xfrm>
            <a:off x="8257032" y="4059936"/>
            <a:ext cx="3127248"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TextBox 31"/>
          <p:cNvSpPr txBox="1"/>
          <p:nvPr/>
        </p:nvSpPr>
        <p:spPr>
          <a:xfrm>
            <a:off x="8257032" y="4206240"/>
            <a:ext cx="3127248" cy="365760"/>
          </a:xfrm>
          <a:prstGeom prst="rect">
            <a:avLst/>
          </a:prstGeom>
          <a:noFill/>
        </p:spPr>
        <p:txBody>
          <a:bodyPr wrap="square" lIns="0" rIns="0" tIns="0" bIns="0" anchor="t">
            <a:spAutoFit/>
          </a:bodyPr>
          <a:lstStyle/>
          <a:p>
            <a:pPr algn="l">
              <a:lnSpc>
                <a:spcPct val="124000"/>
              </a:lnSpc>
            </a:pPr>
            <a:r>
              <a:rPr sz="840" b="0" i="0">
                <a:solidFill>
                  <a:srgbClr val="7C8CF8"/>
                </a:solidFill>
                <a:latin typeface="Aptos"/>
              </a:rPr>
              <a:t>Personal memory that was never uploadable to begin with.</a:t>
            </a:r>
          </a:p>
        </p:txBody>
      </p:sp>
      <p:sp>
        <p:nvSpPr>
          <p:cNvPr id="33" name="Rounded Rectangle 32"/>
          <p:cNvSpPr/>
          <p:nvPr/>
        </p:nvSpPr>
        <p:spPr>
          <a:xfrm>
            <a:off x="8257032" y="4443984"/>
            <a:ext cx="3127248" cy="50292"/>
          </a:xfrm>
          <a:prstGeom prst="roundRect">
            <a:avLst>
              <a:gd name="adj" fmla="val 50000"/>
            </a:avLst>
          </a:prstGeom>
          <a:solidFill>
            <a:srgbClr val="242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Rounded Rectangle 33"/>
          <p:cNvSpPr/>
          <p:nvPr/>
        </p:nvSpPr>
        <p:spPr>
          <a:xfrm>
            <a:off x="8257032" y="4443984"/>
            <a:ext cx="2689433" cy="50292"/>
          </a:xfrm>
          <a:prstGeom prst="roundRect">
            <a:avLst>
              <a:gd name="adj" fmla="val 50000"/>
            </a:avLst>
          </a:prstGeom>
          <a:solidFill>
            <a:srgbClr val="7C8C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Rectangle 34"/>
          <p:cNvSpPr/>
          <p:nvPr/>
        </p:nvSpPr>
        <p:spPr>
          <a:xfrm>
            <a:off x="594360" y="4956048"/>
            <a:ext cx="11000232" cy="10058"/>
          </a:xfrm>
          <a:prstGeom prst="rect">
            <a:avLst/>
          </a:prstGeom>
          <a:solidFill>
            <a:srgbClr val="2A38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TextBox 35"/>
          <p:cNvSpPr txBox="1"/>
          <p:nvPr/>
        </p:nvSpPr>
        <p:spPr>
          <a:xfrm>
            <a:off x="594360" y="5138928"/>
            <a:ext cx="5486400" cy="201168"/>
          </a:xfrm>
          <a:prstGeom prst="rect">
            <a:avLst/>
          </a:prstGeom>
          <a:noFill/>
        </p:spPr>
        <p:txBody>
          <a:bodyPr wrap="square" lIns="0" rIns="0" tIns="0" bIns="0" anchor="t">
            <a:spAutoFit/>
          </a:bodyPr>
          <a:lstStyle/>
          <a:p>
            <a:pPr algn="l"/>
            <a:r>
              <a:rPr sz="800" b="1" i="0" spc="140">
                <a:solidFill>
                  <a:srgbClr val="64748B"/>
                </a:solidFill>
                <a:latin typeface="Aptos"/>
              </a:rPr>
              <a:t>THE LONGER ARC</a:t>
            </a:r>
          </a:p>
        </p:txBody>
      </p:sp>
      <p:sp>
        <p:nvSpPr>
          <p:cNvPr id="37" name="TextBox 36"/>
          <p:cNvSpPr txBox="1"/>
          <p:nvPr/>
        </p:nvSpPr>
        <p:spPr>
          <a:xfrm>
            <a:off x="594360" y="5413248"/>
            <a:ext cx="7863840" cy="640080"/>
          </a:xfrm>
          <a:prstGeom prst="rect">
            <a:avLst/>
          </a:prstGeom>
          <a:noFill/>
        </p:spPr>
        <p:txBody>
          <a:bodyPr wrap="square" lIns="0" rIns="0" tIns="0" bIns="0" anchor="t">
            <a:spAutoFit/>
          </a:bodyPr>
          <a:lstStyle/>
          <a:p>
            <a:pPr algn="l">
              <a:lnSpc>
                <a:spcPct val="130000"/>
              </a:lnSpc>
            </a:pPr>
            <a:r>
              <a:rPr sz="1150" b="0" i="0">
                <a:solidFill>
                  <a:srgbClr val="FFFFFF"/>
                </a:solidFill>
                <a:latin typeface="Aptos"/>
              </a:rPr>
              <a:t>Every year more neural silicon ships inside devices people already carry. The data is already there. The compute is already there. The only thing still missing is the assumption that it has to leave.</a:t>
            </a:r>
          </a:p>
        </p:txBody>
      </p:sp>
      <p:sp>
        <p:nvSpPr>
          <p:cNvPr id="38" name="TextBox 37"/>
          <p:cNvSpPr txBox="1"/>
          <p:nvPr/>
        </p:nvSpPr>
        <p:spPr>
          <a:xfrm>
            <a:off x="8595360" y="5449824"/>
            <a:ext cx="2999232" cy="256032"/>
          </a:xfrm>
          <a:prstGeom prst="rect">
            <a:avLst/>
          </a:prstGeom>
          <a:noFill/>
        </p:spPr>
        <p:txBody>
          <a:bodyPr wrap="square" lIns="0" rIns="0" tIns="0" bIns="0" anchor="t">
            <a:spAutoFit/>
          </a:bodyPr>
          <a:lstStyle/>
          <a:p>
            <a:pPr algn="r"/>
            <a:r>
              <a:rPr sz="1200" b="1" i="0">
                <a:solidFill>
                  <a:srgbClr val="22C55E"/>
                </a:solidFill>
                <a:latin typeface="Aptos Display"/>
              </a:rPr>
              <a:t>BUILD THE VAULT.</a:t>
            </a:r>
          </a:p>
        </p:txBody>
      </p:sp>
      <p:sp>
        <p:nvSpPr>
          <p:cNvPr id="39" name="TextBox 38"/>
          <p:cNvSpPr txBox="1"/>
          <p:nvPr/>
        </p:nvSpPr>
        <p:spPr>
          <a:xfrm>
            <a:off x="8595360" y="5742432"/>
            <a:ext cx="2999232" cy="256032"/>
          </a:xfrm>
          <a:prstGeom prst="rect">
            <a:avLst/>
          </a:prstGeom>
          <a:noFill/>
        </p:spPr>
        <p:txBody>
          <a:bodyPr wrap="square" lIns="0" rIns="0" tIns="0" bIns="0" anchor="t">
            <a:spAutoFit/>
          </a:bodyPr>
          <a:lstStyle/>
          <a:p>
            <a:pPr algn="r"/>
            <a:r>
              <a:rPr sz="1200" b="1" i="0">
                <a:solidFill>
                  <a:srgbClr val="22C55E"/>
                </a:solidFill>
                <a:latin typeface="Aptos Display"/>
              </a:rPr>
              <a:t>KEEP THE CORPUS.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TextBox 2"/>
          <p:cNvSpPr txBox="1"/>
          <p:nvPr/>
        </p:nvSpPr>
        <p:spPr>
          <a:xfrm>
            <a:off x="594360" y="347472"/>
            <a:ext cx="8778240" cy="219456"/>
          </a:xfrm>
          <a:prstGeom prst="rect">
            <a:avLst/>
          </a:prstGeom>
          <a:noFill/>
        </p:spPr>
        <p:txBody>
          <a:bodyPr wrap="square" lIns="0" rIns="0" tIns="0" bIns="0" anchor="t">
            <a:spAutoFit/>
          </a:bodyPr>
          <a:lstStyle/>
          <a:p>
            <a:pPr algn="l"/>
            <a:r>
              <a:rPr sz="850" b="1" i="0" spc="150">
                <a:solidFill>
                  <a:srgbClr val="64748B"/>
                </a:solidFill>
                <a:latin typeface="Aptos"/>
              </a:rPr>
              <a:t>11 · LIMITS AND RISKS</a:t>
            </a:r>
          </a:p>
        </p:txBody>
      </p:sp>
      <p:sp>
        <p:nvSpPr>
          <p:cNvPr id="4" name="TextBox 3"/>
          <p:cNvSpPr txBox="1"/>
          <p:nvPr/>
        </p:nvSpPr>
        <p:spPr>
          <a:xfrm>
            <a:off x="594360" y="731520"/>
            <a:ext cx="11000232" cy="731520"/>
          </a:xfrm>
          <a:prstGeom prst="rect">
            <a:avLst/>
          </a:prstGeom>
          <a:noFill/>
        </p:spPr>
        <p:txBody>
          <a:bodyPr wrap="square" lIns="0" rIns="0" tIns="0" bIns="0" anchor="t">
            <a:spAutoFit/>
          </a:bodyPr>
          <a:lstStyle/>
          <a:p>
            <a:pPr algn="l">
              <a:lnSpc>
                <a:spcPct val="102000"/>
              </a:lnSpc>
            </a:pPr>
            <a:r>
              <a:rPr sz="2700" b="0" i="0">
                <a:solidFill>
                  <a:srgbClr val="FFFFFF"/>
                </a:solidFill>
                <a:latin typeface="Aptos Display"/>
              </a:rPr>
              <a:t>Where this is hard, and what we do about it.</a:t>
            </a:r>
          </a:p>
        </p:txBody>
      </p:sp>
      <p:sp>
        <p:nvSpPr>
          <p:cNvPr id="5" name="TextBox 4"/>
          <p:cNvSpPr txBox="1"/>
          <p:nvPr/>
        </p:nvSpPr>
        <p:spPr>
          <a:xfrm>
            <a:off x="594360" y="1481328"/>
            <a:ext cx="10332720" cy="457200"/>
          </a:xfrm>
          <a:prstGeom prst="rect">
            <a:avLst/>
          </a:prstGeom>
          <a:noFill/>
        </p:spPr>
        <p:txBody>
          <a:bodyPr wrap="square" lIns="0" rIns="0" tIns="0" bIns="0" anchor="t">
            <a:spAutoFit/>
          </a:bodyPr>
          <a:lstStyle/>
          <a:p>
            <a:pPr algn="l">
              <a:lnSpc>
                <a:spcPct val="125000"/>
              </a:lnSpc>
            </a:pPr>
            <a:r>
              <a:rPr sz="1150" b="0" i="0">
                <a:solidFill>
                  <a:srgbClr val="94A3B8"/>
                </a:solidFill>
                <a:latin typeface="Aptos"/>
              </a:rPr>
              <a:t>Stated plainly, because every one of these is a question a reviewer will ask.</a:t>
            </a:r>
          </a:p>
        </p:txBody>
      </p:sp>
      <p:sp>
        <p:nvSpPr>
          <p:cNvPr id="6" name="Rectangle 5"/>
          <p:cNvSpPr/>
          <p:nvPr/>
        </p:nvSpPr>
        <p:spPr>
          <a:xfrm>
            <a:off x="594360" y="6291072"/>
            <a:ext cx="11000232"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TextBox 6"/>
          <p:cNvSpPr txBox="1"/>
          <p:nvPr/>
        </p:nvSpPr>
        <p:spPr>
          <a:xfrm>
            <a:off x="10881360" y="6419088"/>
            <a:ext cx="713232" cy="201168"/>
          </a:xfrm>
          <a:prstGeom prst="rect">
            <a:avLst/>
          </a:prstGeom>
          <a:noFill/>
        </p:spPr>
        <p:txBody>
          <a:bodyPr wrap="square" lIns="0" rIns="0" tIns="0" bIns="0" anchor="t">
            <a:spAutoFit/>
          </a:bodyPr>
          <a:lstStyle/>
          <a:p>
            <a:pPr algn="r"/>
            <a:r>
              <a:rPr sz="850" b="1" i="0" spc="80">
                <a:solidFill>
                  <a:srgbClr val="64748B"/>
                </a:solidFill>
                <a:latin typeface="Aptos"/>
              </a:rPr>
              <a:t>11</a:t>
            </a:r>
          </a:p>
        </p:txBody>
      </p:sp>
      <p:sp>
        <p:nvSpPr>
          <p:cNvPr id="8" name="TextBox 7"/>
          <p:cNvSpPr txBox="1"/>
          <p:nvPr/>
        </p:nvSpPr>
        <p:spPr>
          <a:xfrm>
            <a:off x="4023360" y="1975104"/>
            <a:ext cx="3794760" cy="182880"/>
          </a:xfrm>
          <a:prstGeom prst="rect">
            <a:avLst/>
          </a:prstGeom>
          <a:noFill/>
        </p:spPr>
        <p:txBody>
          <a:bodyPr wrap="square" lIns="0" rIns="0" tIns="0" bIns="0" anchor="t">
            <a:spAutoFit/>
          </a:bodyPr>
          <a:lstStyle/>
          <a:p>
            <a:pPr algn="l"/>
            <a:r>
              <a:rPr sz="750" b="1" i="0" spc="130">
                <a:solidFill>
                  <a:srgbClr val="64748B"/>
                </a:solidFill>
                <a:latin typeface="Aptos"/>
              </a:rPr>
              <a:t>THE RISK</a:t>
            </a:r>
          </a:p>
        </p:txBody>
      </p:sp>
      <p:sp>
        <p:nvSpPr>
          <p:cNvPr id="9" name="TextBox 8"/>
          <p:cNvSpPr txBox="1"/>
          <p:nvPr/>
        </p:nvSpPr>
        <p:spPr>
          <a:xfrm>
            <a:off x="8092440" y="1975104"/>
            <a:ext cx="4096512" cy="182880"/>
          </a:xfrm>
          <a:prstGeom prst="rect">
            <a:avLst/>
          </a:prstGeom>
          <a:noFill/>
        </p:spPr>
        <p:txBody>
          <a:bodyPr wrap="square" lIns="0" rIns="0" tIns="0" bIns="0" anchor="t">
            <a:spAutoFit/>
          </a:bodyPr>
          <a:lstStyle/>
          <a:p>
            <a:pPr algn="l"/>
            <a:r>
              <a:rPr sz="750" b="1" i="0" spc="130">
                <a:solidFill>
                  <a:srgbClr val="22C55E"/>
                </a:solidFill>
                <a:latin typeface="Aptos"/>
              </a:rPr>
              <a:t>THE MITIGATION</a:t>
            </a:r>
          </a:p>
        </p:txBody>
      </p:sp>
      <p:sp>
        <p:nvSpPr>
          <p:cNvPr id="10" name="Rectangle 9"/>
          <p:cNvSpPr/>
          <p:nvPr/>
        </p:nvSpPr>
        <p:spPr>
          <a:xfrm>
            <a:off x="594360" y="2249424"/>
            <a:ext cx="32918" cy="566928"/>
          </a:xfrm>
          <a:prstGeom prst="rect">
            <a:avLst/>
          </a:prstGeom>
          <a:solidFill>
            <a:srgbClr val="F0B42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TextBox 10"/>
          <p:cNvSpPr txBox="1"/>
          <p:nvPr/>
        </p:nvSpPr>
        <p:spPr>
          <a:xfrm>
            <a:off x="777240" y="2231136"/>
            <a:ext cx="3063240" cy="438912"/>
          </a:xfrm>
          <a:prstGeom prst="rect">
            <a:avLst/>
          </a:prstGeom>
          <a:noFill/>
        </p:spPr>
        <p:txBody>
          <a:bodyPr wrap="square" lIns="0" rIns="0" tIns="0" bIns="0" anchor="t">
            <a:spAutoFit/>
          </a:bodyPr>
          <a:lstStyle/>
          <a:p>
            <a:pPr algn="l">
              <a:lnSpc>
                <a:spcPct val="118000"/>
              </a:lnSpc>
            </a:pPr>
            <a:r>
              <a:rPr sz="960" b="1" i="0">
                <a:solidFill>
                  <a:srgbClr val="FFFFFF"/>
                </a:solidFill>
                <a:latin typeface="Aptos"/>
              </a:rPr>
              <a:t>The NPU may not be reachable</a:t>
            </a:r>
          </a:p>
        </p:txBody>
      </p:sp>
      <p:sp>
        <p:nvSpPr>
          <p:cNvPr id="12" name="TextBox 11"/>
          <p:cNvSpPr txBox="1"/>
          <p:nvPr/>
        </p:nvSpPr>
        <p:spPr>
          <a:xfrm>
            <a:off x="4023360" y="2249424"/>
            <a:ext cx="3794760" cy="603504"/>
          </a:xfrm>
          <a:prstGeom prst="rect">
            <a:avLst/>
          </a:prstGeom>
          <a:noFill/>
        </p:spPr>
        <p:txBody>
          <a:bodyPr wrap="square" lIns="0" rIns="0" tIns="0" bIns="0" anchor="t">
            <a:spAutoFit/>
          </a:bodyPr>
          <a:lstStyle/>
          <a:p>
            <a:pPr algn="l">
              <a:lnSpc>
                <a:spcPct val="126000"/>
              </a:lnSpc>
            </a:pPr>
            <a:r>
              <a:rPr sz="850" b="0" i="0">
                <a:solidFill>
                  <a:srgbClr val="94A3B8"/>
                </a:solidFill>
                <a:latin typeface="Aptos"/>
              </a:rPr>
              <a:t>Vendor delegates vary by chipset and OS build. On our test handset NNAPI never materialised at all.</a:t>
            </a:r>
          </a:p>
        </p:txBody>
      </p:sp>
      <p:sp>
        <p:nvSpPr>
          <p:cNvPr id="13" name="TextBox 12"/>
          <p:cNvSpPr txBox="1"/>
          <p:nvPr/>
        </p:nvSpPr>
        <p:spPr>
          <a:xfrm>
            <a:off x="8092440" y="2249424"/>
            <a:ext cx="4096512" cy="603504"/>
          </a:xfrm>
          <a:prstGeom prst="rect">
            <a:avLst/>
          </a:prstGeom>
          <a:noFill/>
        </p:spPr>
        <p:txBody>
          <a:bodyPr wrap="square" lIns="0" rIns="0" tIns="0" bIns="0" anchor="t">
            <a:spAutoFit/>
          </a:bodyPr>
          <a:lstStyle/>
          <a:p>
            <a:pPr algn="l">
              <a:lnSpc>
                <a:spcPct val="126000"/>
              </a:lnSpc>
            </a:pPr>
            <a:r>
              <a:rPr sz="850" b="0" i="0">
                <a:solidFill>
                  <a:srgbClr val="22C55E"/>
                </a:solidFill>
                <a:latin typeface="Aptos"/>
              </a:rPr>
              <a:t>XNNPACK on CPU is already fast enough at 233 ms. The NPU is upside, not a dependency.</a:t>
            </a:r>
          </a:p>
        </p:txBody>
      </p:sp>
      <p:sp>
        <p:nvSpPr>
          <p:cNvPr id="14" name="Rectangle 13"/>
          <p:cNvSpPr/>
          <p:nvPr/>
        </p:nvSpPr>
        <p:spPr>
          <a:xfrm>
            <a:off x="594360" y="2907791"/>
            <a:ext cx="11000232"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Rectangle 14"/>
          <p:cNvSpPr/>
          <p:nvPr/>
        </p:nvSpPr>
        <p:spPr>
          <a:xfrm>
            <a:off x="594360" y="3035808"/>
            <a:ext cx="32918" cy="566928"/>
          </a:xfrm>
          <a:prstGeom prst="rect">
            <a:avLst/>
          </a:prstGeom>
          <a:solidFill>
            <a:srgbClr val="F0B42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TextBox 15"/>
          <p:cNvSpPr txBox="1"/>
          <p:nvPr/>
        </p:nvSpPr>
        <p:spPr>
          <a:xfrm>
            <a:off x="777240" y="3017520"/>
            <a:ext cx="3063240" cy="438912"/>
          </a:xfrm>
          <a:prstGeom prst="rect">
            <a:avLst/>
          </a:prstGeom>
          <a:noFill/>
        </p:spPr>
        <p:txBody>
          <a:bodyPr wrap="square" lIns="0" rIns="0" tIns="0" bIns="0" anchor="t">
            <a:spAutoFit/>
          </a:bodyPr>
          <a:lstStyle/>
          <a:p>
            <a:pPr algn="l">
              <a:lnSpc>
                <a:spcPct val="118000"/>
              </a:lnSpc>
            </a:pPr>
            <a:r>
              <a:rPr sz="960" b="1" i="0">
                <a:solidFill>
                  <a:srgbClr val="FFFFFF"/>
                </a:solidFill>
                <a:latin typeface="Aptos"/>
              </a:rPr>
              <a:t>Retrieval quality is the real ceiling</a:t>
            </a:r>
          </a:p>
        </p:txBody>
      </p:sp>
      <p:sp>
        <p:nvSpPr>
          <p:cNvPr id="17" name="TextBox 16"/>
          <p:cNvSpPr txBox="1"/>
          <p:nvPr/>
        </p:nvSpPr>
        <p:spPr>
          <a:xfrm>
            <a:off x="4023360" y="3035808"/>
            <a:ext cx="3794760" cy="603504"/>
          </a:xfrm>
          <a:prstGeom prst="rect">
            <a:avLst/>
          </a:prstGeom>
          <a:noFill/>
        </p:spPr>
        <p:txBody>
          <a:bodyPr wrap="square" lIns="0" rIns="0" tIns="0" bIns="0" anchor="t">
            <a:spAutoFit/>
          </a:bodyPr>
          <a:lstStyle/>
          <a:p>
            <a:pPr algn="l">
              <a:lnSpc>
                <a:spcPct val="126000"/>
              </a:lnSpc>
            </a:pPr>
            <a:r>
              <a:rPr sz="850" b="0" i="0">
                <a:solidFill>
                  <a:srgbClr val="94A3B8"/>
                </a:solidFill>
                <a:latin typeface="Aptos"/>
              </a:rPr>
              <a:t>A 384-dimension model on a small corpus will miss paraphrase and cross-document reasoning a large model would catch.</a:t>
            </a:r>
          </a:p>
        </p:txBody>
      </p:sp>
      <p:sp>
        <p:nvSpPr>
          <p:cNvPr id="18" name="TextBox 17"/>
          <p:cNvSpPr txBox="1"/>
          <p:nvPr/>
        </p:nvSpPr>
        <p:spPr>
          <a:xfrm>
            <a:off x="8092440" y="3035808"/>
            <a:ext cx="4096512" cy="603504"/>
          </a:xfrm>
          <a:prstGeom prst="rect">
            <a:avLst/>
          </a:prstGeom>
          <a:noFill/>
        </p:spPr>
        <p:txBody>
          <a:bodyPr wrap="square" lIns="0" rIns="0" tIns="0" bIns="0" anchor="t">
            <a:spAutoFit/>
          </a:bodyPr>
          <a:lstStyle/>
          <a:p>
            <a:pPr algn="l">
              <a:lnSpc>
                <a:spcPct val="126000"/>
              </a:lnSpc>
            </a:pPr>
            <a:r>
              <a:rPr sz="850" b="0" i="0">
                <a:solidFill>
                  <a:srgbClr val="22C55E"/>
                </a:solidFill>
                <a:latin typeface="Aptos"/>
              </a:rPr>
              <a:t>Hybrid BM25 plus vector ranking, and a reranker small enough to run on the same NPU.</a:t>
            </a:r>
          </a:p>
        </p:txBody>
      </p:sp>
      <p:sp>
        <p:nvSpPr>
          <p:cNvPr id="19" name="Rectangle 18"/>
          <p:cNvSpPr/>
          <p:nvPr/>
        </p:nvSpPr>
        <p:spPr>
          <a:xfrm>
            <a:off x="594360" y="3694176"/>
            <a:ext cx="11000232"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Rectangle 19"/>
          <p:cNvSpPr/>
          <p:nvPr/>
        </p:nvSpPr>
        <p:spPr>
          <a:xfrm>
            <a:off x="594360" y="3822191"/>
            <a:ext cx="32918" cy="56692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TextBox 20"/>
          <p:cNvSpPr txBox="1"/>
          <p:nvPr/>
        </p:nvSpPr>
        <p:spPr>
          <a:xfrm>
            <a:off x="777240" y="3803904"/>
            <a:ext cx="3063240" cy="438912"/>
          </a:xfrm>
          <a:prstGeom prst="rect">
            <a:avLst/>
          </a:prstGeom>
          <a:noFill/>
        </p:spPr>
        <p:txBody>
          <a:bodyPr wrap="square" lIns="0" rIns="0" tIns="0" bIns="0" anchor="t">
            <a:spAutoFit/>
          </a:bodyPr>
          <a:lstStyle/>
          <a:p>
            <a:pPr algn="l">
              <a:lnSpc>
                <a:spcPct val="118000"/>
              </a:lnSpc>
            </a:pPr>
            <a:r>
              <a:rPr sz="960" b="1" i="0">
                <a:solidFill>
                  <a:srgbClr val="FFFFFF"/>
                </a:solidFill>
                <a:latin typeface="Aptos"/>
              </a:rPr>
              <a:t>Corpus size has a hard limit</a:t>
            </a:r>
          </a:p>
        </p:txBody>
      </p:sp>
      <p:sp>
        <p:nvSpPr>
          <p:cNvPr id="22" name="TextBox 21"/>
          <p:cNvSpPr txBox="1"/>
          <p:nvPr/>
        </p:nvSpPr>
        <p:spPr>
          <a:xfrm>
            <a:off x="4023360" y="3822191"/>
            <a:ext cx="3794760" cy="603504"/>
          </a:xfrm>
          <a:prstGeom prst="rect">
            <a:avLst/>
          </a:prstGeom>
          <a:noFill/>
        </p:spPr>
        <p:txBody>
          <a:bodyPr wrap="square" lIns="0" rIns="0" tIns="0" bIns="0" anchor="t">
            <a:spAutoFit/>
          </a:bodyPr>
          <a:lstStyle/>
          <a:p>
            <a:pPr algn="l">
              <a:lnSpc>
                <a:spcPct val="126000"/>
              </a:lnSpc>
            </a:pPr>
            <a:r>
              <a:rPr sz="850" b="0" i="0">
                <a:solidFill>
                  <a:srgbClr val="94A3B8"/>
                </a:solidFill>
                <a:latin typeface="Aptos"/>
              </a:rPr>
              <a:t>Brute-force cosine stops being acceptable somewhere in the tens of thousands of chunks.</a:t>
            </a:r>
          </a:p>
        </p:txBody>
      </p:sp>
      <p:sp>
        <p:nvSpPr>
          <p:cNvPr id="23" name="TextBox 22"/>
          <p:cNvSpPr txBox="1"/>
          <p:nvPr/>
        </p:nvSpPr>
        <p:spPr>
          <a:xfrm>
            <a:off x="8092440" y="3822191"/>
            <a:ext cx="4096512" cy="603504"/>
          </a:xfrm>
          <a:prstGeom prst="rect">
            <a:avLst/>
          </a:prstGeom>
          <a:noFill/>
        </p:spPr>
        <p:txBody>
          <a:bodyPr wrap="square" lIns="0" rIns="0" tIns="0" bIns="0" anchor="t">
            <a:spAutoFit/>
          </a:bodyPr>
          <a:lstStyle/>
          <a:p>
            <a:pPr algn="l">
              <a:lnSpc>
                <a:spcPct val="126000"/>
              </a:lnSpc>
            </a:pPr>
            <a:r>
              <a:rPr sz="850" b="0" i="0">
                <a:solidFill>
                  <a:srgbClr val="22C55E"/>
                </a:solidFill>
                <a:latin typeface="Aptos"/>
              </a:rPr>
              <a:t>sqlite-vec gives approximate search in the same file, with no daemon and no new trust boundary.</a:t>
            </a:r>
          </a:p>
        </p:txBody>
      </p:sp>
      <p:sp>
        <p:nvSpPr>
          <p:cNvPr id="24" name="Rectangle 23"/>
          <p:cNvSpPr/>
          <p:nvPr/>
        </p:nvSpPr>
        <p:spPr>
          <a:xfrm>
            <a:off x="594360" y="4480560"/>
            <a:ext cx="11000232"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Rectangle 24"/>
          <p:cNvSpPr/>
          <p:nvPr/>
        </p:nvSpPr>
        <p:spPr>
          <a:xfrm>
            <a:off x="594360" y="4608576"/>
            <a:ext cx="32918" cy="56692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TextBox 25"/>
          <p:cNvSpPr txBox="1"/>
          <p:nvPr/>
        </p:nvSpPr>
        <p:spPr>
          <a:xfrm>
            <a:off x="777240" y="4590288"/>
            <a:ext cx="3063240" cy="438912"/>
          </a:xfrm>
          <a:prstGeom prst="rect">
            <a:avLst/>
          </a:prstGeom>
          <a:noFill/>
        </p:spPr>
        <p:txBody>
          <a:bodyPr wrap="square" lIns="0" rIns="0" tIns="0" bIns="0" anchor="t">
            <a:spAutoFit/>
          </a:bodyPr>
          <a:lstStyle/>
          <a:p>
            <a:pPr algn="l">
              <a:lnSpc>
                <a:spcPct val="118000"/>
              </a:lnSpc>
            </a:pPr>
            <a:r>
              <a:rPr sz="960" b="1" i="0">
                <a:solidFill>
                  <a:srgbClr val="FFFFFF"/>
                </a:solidFill>
                <a:latin typeface="Aptos"/>
              </a:rPr>
              <a:t>The bridge is a new attack surface</a:t>
            </a:r>
          </a:p>
        </p:txBody>
      </p:sp>
      <p:sp>
        <p:nvSpPr>
          <p:cNvPr id="27" name="TextBox 26"/>
          <p:cNvSpPr txBox="1"/>
          <p:nvPr/>
        </p:nvSpPr>
        <p:spPr>
          <a:xfrm>
            <a:off x="4023360" y="4608576"/>
            <a:ext cx="3794760" cy="603504"/>
          </a:xfrm>
          <a:prstGeom prst="rect">
            <a:avLst/>
          </a:prstGeom>
          <a:noFill/>
        </p:spPr>
        <p:txBody>
          <a:bodyPr wrap="square" lIns="0" rIns="0" tIns="0" bIns="0" anchor="t">
            <a:spAutoFit/>
          </a:bodyPr>
          <a:lstStyle/>
          <a:p>
            <a:pPr algn="l">
              <a:lnSpc>
                <a:spcPct val="126000"/>
              </a:lnSpc>
            </a:pPr>
            <a:r>
              <a:rPr sz="850" b="0" i="0">
                <a:solidFill>
                  <a:srgbClr val="94A3B8"/>
                </a:solidFill>
                <a:latin typeface="Aptos"/>
              </a:rPr>
              <a:t>Anything that carries passages off the phone is, by definition, the one place data can leak.</a:t>
            </a:r>
          </a:p>
        </p:txBody>
      </p:sp>
      <p:sp>
        <p:nvSpPr>
          <p:cNvPr id="28" name="TextBox 27"/>
          <p:cNvSpPr txBox="1"/>
          <p:nvPr/>
        </p:nvSpPr>
        <p:spPr>
          <a:xfrm>
            <a:off x="8092440" y="4608576"/>
            <a:ext cx="4096512" cy="603504"/>
          </a:xfrm>
          <a:prstGeom prst="rect">
            <a:avLst/>
          </a:prstGeom>
          <a:noFill/>
        </p:spPr>
        <p:txBody>
          <a:bodyPr wrap="square" lIns="0" rIns="0" tIns="0" bIns="0" anchor="t">
            <a:spAutoFit/>
          </a:bodyPr>
          <a:lstStyle/>
          <a:p>
            <a:pPr algn="l">
              <a:lnSpc>
                <a:spcPct val="126000"/>
              </a:lnSpc>
            </a:pPr>
            <a:r>
              <a:rPr sz="850" b="0" i="0">
                <a:solidFill>
                  <a:srgbClr val="22C55E"/>
                </a:solidFill>
                <a:latin typeface="Aptos"/>
              </a:rPr>
              <a:t>Pairing is explicit and per-session, the payload is passages only, and it is a direct link with no server to intercept.</a:t>
            </a:r>
          </a:p>
        </p:txBody>
      </p:sp>
      <p:sp>
        <p:nvSpPr>
          <p:cNvPr id="29" name="Rectangle 28"/>
          <p:cNvSpPr/>
          <p:nvPr/>
        </p:nvSpPr>
        <p:spPr>
          <a:xfrm>
            <a:off x="594360" y="5266944"/>
            <a:ext cx="11000232"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Rectangle 29"/>
          <p:cNvSpPr/>
          <p:nvPr/>
        </p:nvSpPr>
        <p:spPr>
          <a:xfrm>
            <a:off x="594360" y="5394960"/>
            <a:ext cx="32918" cy="56692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TextBox 30"/>
          <p:cNvSpPr txBox="1"/>
          <p:nvPr/>
        </p:nvSpPr>
        <p:spPr>
          <a:xfrm>
            <a:off x="777240" y="5376672"/>
            <a:ext cx="3063240" cy="438912"/>
          </a:xfrm>
          <a:prstGeom prst="rect">
            <a:avLst/>
          </a:prstGeom>
          <a:noFill/>
        </p:spPr>
        <p:txBody>
          <a:bodyPr wrap="square" lIns="0" rIns="0" tIns="0" bIns="0" anchor="t">
            <a:spAutoFit/>
          </a:bodyPr>
          <a:lstStyle/>
          <a:p>
            <a:pPr algn="l">
              <a:lnSpc>
                <a:spcPct val="118000"/>
              </a:lnSpc>
            </a:pPr>
            <a:r>
              <a:rPr sz="960" b="1" i="0">
                <a:solidFill>
                  <a:srgbClr val="FFFFFF"/>
                </a:solidFill>
                <a:latin typeface="Aptos"/>
              </a:rPr>
              <a:t>On-device generation is not free</a:t>
            </a:r>
          </a:p>
        </p:txBody>
      </p:sp>
      <p:sp>
        <p:nvSpPr>
          <p:cNvPr id="32" name="TextBox 31"/>
          <p:cNvSpPr txBox="1"/>
          <p:nvPr/>
        </p:nvSpPr>
        <p:spPr>
          <a:xfrm>
            <a:off x="4023360" y="5394960"/>
            <a:ext cx="3794760" cy="603504"/>
          </a:xfrm>
          <a:prstGeom prst="rect">
            <a:avLst/>
          </a:prstGeom>
          <a:noFill/>
        </p:spPr>
        <p:txBody>
          <a:bodyPr wrap="square" lIns="0" rIns="0" tIns="0" bIns="0" anchor="t">
            <a:spAutoFit/>
          </a:bodyPr>
          <a:lstStyle/>
          <a:p>
            <a:pPr algn="l">
              <a:lnSpc>
                <a:spcPct val="126000"/>
              </a:lnSpc>
            </a:pPr>
            <a:r>
              <a:rPr sz="850" b="0" i="0">
                <a:solidFill>
                  <a:srgbClr val="94A3B8"/>
                </a:solidFill>
                <a:latin typeface="Aptos"/>
              </a:rPr>
              <a:t>A model small enough for phone memory is meaningfully weaker than the frontier model a user would otherwise pick.</a:t>
            </a:r>
          </a:p>
        </p:txBody>
      </p:sp>
      <p:sp>
        <p:nvSpPr>
          <p:cNvPr id="33" name="TextBox 32"/>
          <p:cNvSpPr txBox="1"/>
          <p:nvPr/>
        </p:nvSpPr>
        <p:spPr>
          <a:xfrm>
            <a:off x="8092440" y="5394960"/>
            <a:ext cx="4096512" cy="603504"/>
          </a:xfrm>
          <a:prstGeom prst="rect">
            <a:avLst/>
          </a:prstGeom>
          <a:noFill/>
        </p:spPr>
        <p:txBody>
          <a:bodyPr wrap="square" lIns="0" rIns="0" tIns="0" bIns="0" anchor="t">
            <a:spAutoFit/>
          </a:bodyPr>
          <a:lstStyle/>
          <a:p>
            <a:pPr algn="l">
              <a:lnSpc>
                <a:spcPct val="126000"/>
              </a:lnSpc>
            </a:pPr>
            <a:r>
              <a:rPr sz="850" b="0" i="0">
                <a:solidFill>
                  <a:srgbClr val="22C55E"/>
                </a:solidFill>
                <a:latin typeface="Aptos"/>
              </a:rPr>
              <a:t>Generation stays pluggable. Privacy is guaranteed at the retrieval layer, so the model is the user's trade to make.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Rectangle 2"/>
          <p:cNvSpPr/>
          <p:nvPr/>
        </p:nvSpPr>
        <p:spPr>
          <a:xfrm>
            <a:off x="0" y="0"/>
            <a:ext cx="12191695" cy="6858000"/>
          </a:xfrm>
          <a:prstGeom prst="rect">
            <a:avLst/>
          </a:prstGeom>
          <a:solidFill>
            <a:srgbClr val="0B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 name="Oval 3"/>
          <p:cNvSpPr/>
          <p:nvPr/>
        </p:nvSpPr>
        <p:spPr>
          <a:xfrm>
            <a:off x="974675" y="6563286"/>
            <a:ext cx="31089" cy="31089"/>
          </a:xfrm>
          <a:prstGeom prst="ellipse">
            <a:avLst/>
          </a:prstGeom>
          <a:solidFill>
            <a:srgbClr val="1234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 name="Oval 4"/>
          <p:cNvSpPr/>
          <p:nvPr/>
        </p:nvSpPr>
        <p:spPr>
          <a:xfrm>
            <a:off x="10989520" y="3930857"/>
            <a:ext cx="31089" cy="31089"/>
          </a:xfrm>
          <a:prstGeom prst="ellipse">
            <a:avLst/>
          </a:prstGeom>
          <a:solidFill>
            <a:srgbClr val="1237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Oval 5"/>
          <p:cNvSpPr/>
          <p:nvPr/>
        </p:nvSpPr>
        <p:spPr>
          <a:xfrm>
            <a:off x="2583393" y="1424555"/>
            <a:ext cx="31089" cy="31089"/>
          </a:xfrm>
          <a:prstGeom prst="ellipse">
            <a:avLst/>
          </a:prstGeom>
          <a:solidFill>
            <a:srgbClr val="1233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Oval 6"/>
          <p:cNvSpPr/>
          <p:nvPr/>
        </p:nvSpPr>
        <p:spPr>
          <a:xfrm>
            <a:off x="10156583" y="3240343"/>
            <a:ext cx="31089" cy="31089"/>
          </a:xfrm>
          <a:prstGeom prst="ellipse">
            <a:avLst/>
          </a:prstGeom>
          <a:solidFill>
            <a:srgbClr val="0F1F2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Oval 7"/>
          <p:cNvSpPr/>
          <p:nvPr/>
        </p:nvSpPr>
        <p:spPr>
          <a:xfrm>
            <a:off x="5563435" y="1384525"/>
            <a:ext cx="31089" cy="31089"/>
          </a:xfrm>
          <a:prstGeom prst="ellipse">
            <a:avLst/>
          </a:prstGeom>
          <a:solidFill>
            <a:srgbClr val="112F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Oval 8"/>
          <p:cNvSpPr/>
          <p:nvPr/>
        </p:nvSpPr>
        <p:spPr>
          <a:xfrm>
            <a:off x="4474210" y="5814208"/>
            <a:ext cx="31089" cy="31089"/>
          </a:xfrm>
          <a:prstGeom prst="ellipse">
            <a:avLst/>
          </a:prstGeom>
          <a:solidFill>
            <a:srgbClr val="1233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Oval 9"/>
          <p:cNvSpPr/>
          <p:nvPr/>
        </p:nvSpPr>
        <p:spPr>
          <a:xfrm>
            <a:off x="10576000" y="2970335"/>
            <a:ext cx="31089" cy="31089"/>
          </a:xfrm>
          <a:prstGeom prst="ellipse">
            <a:avLst/>
          </a:prstGeom>
          <a:solidFill>
            <a:srgbClr val="112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Oval 10"/>
          <p:cNvSpPr/>
          <p:nvPr/>
        </p:nvSpPr>
        <p:spPr>
          <a:xfrm>
            <a:off x="2875018" y="3344206"/>
            <a:ext cx="31089" cy="31089"/>
          </a:xfrm>
          <a:prstGeom prst="ellipse">
            <a:avLst/>
          </a:prstGeom>
          <a:solidFill>
            <a:srgbClr val="133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Oval 11"/>
          <p:cNvSpPr/>
          <p:nvPr/>
        </p:nvSpPr>
        <p:spPr>
          <a:xfrm>
            <a:off x="665608" y="3063384"/>
            <a:ext cx="31089" cy="31089"/>
          </a:xfrm>
          <a:prstGeom prst="ellipse">
            <a:avLst/>
          </a:prstGeom>
          <a:solidFill>
            <a:srgbClr val="1233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3" name="Oval 12"/>
          <p:cNvSpPr/>
          <p:nvPr/>
        </p:nvSpPr>
        <p:spPr>
          <a:xfrm>
            <a:off x="1479735" y="2033648"/>
            <a:ext cx="31089" cy="31089"/>
          </a:xfrm>
          <a:prstGeom prst="ellipse">
            <a:avLst/>
          </a:prstGeom>
          <a:solidFill>
            <a:srgbClr val="123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4" name="Oval 13"/>
          <p:cNvSpPr/>
          <p:nvPr/>
        </p:nvSpPr>
        <p:spPr>
          <a:xfrm>
            <a:off x="6822766" y="2553307"/>
            <a:ext cx="31089" cy="31089"/>
          </a:xfrm>
          <a:prstGeom prst="ellipse">
            <a:avLst/>
          </a:prstGeom>
          <a:solidFill>
            <a:srgbClr val="10232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Oval 14"/>
          <p:cNvSpPr/>
          <p:nvPr/>
        </p:nvSpPr>
        <p:spPr>
          <a:xfrm>
            <a:off x="9108878" y="1940184"/>
            <a:ext cx="31089" cy="31089"/>
          </a:xfrm>
          <a:prstGeom prst="ellipse">
            <a:avLst/>
          </a:prstGeom>
          <a:solidFill>
            <a:srgbClr val="112E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Oval 15"/>
          <p:cNvSpPr/>
          <p:nvPr/>
        </p:nvSpPr>
        <p:spPr>
          <a:xfrm>
            <a:off x="4300439" y="4568110"/>
            <a:ext cx="31089" cy="31089"/>
          </a:xfrm>
          <a:prstGeom prst="ellipse">
            <a:avLst/>
          </a:prstGeom>
          <a:solidFill>
            <a:srgbClr val="10212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Oval 16"/>
          <p:cNvSpPr/>
          <p:nvPr/>
        </p:nvSpPr>
        <p:spPr>
          <a:xfrm>
            <a:off x="942477" y="2721118"/>
            <a:ext cx="31089" cy="31089"/>
          </a:xfrm>
          <a:prstGeom prst="ellipse">
            <a:avLst/>
          </a:prstGeom>
          <a:solidFill>
            <a:srgbClr val="1026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Oval 17"/>
          <p:cNvSpPr/>
          <p:nvPr/>
        </p:nvSpPr>
        <p:spPr>
          <a:xfrm>
            <a:off x="3547247" y="5322659"/>
            <a:ext cx="31089" cy="31089"/>
          </a:xfrm>
          <a:prstGeom prst="ellipse">
            <a:avLst/>
          </a:prstGeom>
          <a:solidFill>
            <a:srgbClr val="1342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Oval 18"/>
          <p:cNvSpPr/>
          <p:nvPr/>
        </p:nvSpPr>
        <p:spPr>
          <a:xfrm>
            <a:off x="1365455" y="1617380"/>
            <a:ext cx="31089" cy="31089"/>
          </a:xfrm>
          <a:prstGeom prst="ellipse">
            <a:avLst/>
          </a:prstGeom>
          <a:solidFill>
            <a:srgbClr val="1234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Oval 19"/>
          <p:cNvSpPr/>
          <p:nvPr/>
        </p:nvSpPr>
        <p:spPr>
          <a:xfrm>
            <a:off x="422005" y="754237"/>
            <a:ext cx="31089" cy="31089"/>
          </a:xfrm>
          <a:prstGeom prst="ellipse">
            <a:avLst/>
          </a:prstGeom>
          <a:solidFill>
            <a:srgbClr val="1344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Oval 20"/>
          <p:cNvSpPr/>
          <p:nvPr/>
        </p:nvSpPr>
        <p:spPr>
          <a:xfrm>
            <a:off x="3434472" y="5150452"/>
            <a:ext cx="31089" cy="31089"/>
          </a:xfrm>
          <a:prstGeom prst="ellipse">
            <a:avLst/>
          </a:prstGeom>
          <a:solidFill>
            <a:srgbClr val="123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Oval 21"/>
          <p:cNvSpPr/>
          <p:nvPr/>
        </p:nvSpPr>
        <p:spPr>
          <a:xfrm>
            <a:off x="3902540" y="1343444"/>
            <a:ext cx="31089" cy="31089"/>
          </a:xfrm>
          <a:prstGeom prst="ellipse">
            <a:avLst/>
          </a:prstGeom>
          <a:solidFill>
            <a:srgbClr val="1237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Oval 22"/>
          <p:cNvSpPr/>
          <p:nvPr/>
        </p:nvSpPr>
        <p:spPr>
          <a:xfrm>
            <a:off x="9449652" y="2007143"/>
            <a:ext cx="31089" cy="31089"/>
          </a:xfrm>
          <a:prstGeom prst="ellipse">
            <a:avLst/>
          </a:prstGeom>
          <a:solidFill>
            <a:srgbClr val="1235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Oval 23"/>
          <p:cNvSpPr/>
          <p:nvPr/>
        </p:nvSpPr>
        <p:spPr>
          <a:xfrm>
            <a:off x="11595892" y="4228107"/>
            <a:ext cx="31089" cy="31089"/>
          </a:xfrm>
          <a:prstGeom prst="ellipse">
            <a:avLst/>
          </a:prstGeom>
          <a:solidFill>
            <a:srgbClr val="1446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Oval 24"/>
          <p:cNvSpPr/>
          <p:nvPr/>
        </p:nvSpPr>
        <p:spPr>
          <a:xfrm>
            <a:off x="11896316" y="2949570"/>
            <a:ext cx="31089" cy="31089"/>
          </a:xfrm>
          <a:prstGeom prst="ellipse">
            <a:avLst/>
          </a:prstGeom>
          <a:solidFill>
            <a:srgbClr val="1238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Oval 25"/>
          <p:cNvSpPr/>
          <p:nvPr/>
        </p:nvSpPr>
        <p:spPr>
          <a:xfrm>
            <a:off x="9299001" y="4399304"/>
            <a:ext cx="31089" cy="31089"/>
          </a:xfrm>
          <a:prstGeom prst="ellipse">
            <a:avLst/>
          </a:prstGeom>
          <a:solidFill>
            <a:srgbClr val="1130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Oval 26"/>
          <p:cNvSpPr/>
          <p:nvPr/>
        </p:nvSpPr>
        <p:spPr>
          <a:xfrm>
            <a:off x="6222800" y="3123362"/>
            <a:ext cx="31089" cy="31089"/>
          </a:xfrm>
          <a:prstGeom prst="ellipse">
            <a:avLst/>
          </a:prstGeom>
          <a:solidFill>
            <a:srgbClr val="1236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Oval 27"/>
          <p:cNvSpPr/>
          <p:nvPr/>
        </p:nvSpPr>
        <p:spPr>
          <a:xfrm>
            <a:off x="9368994" y="5596816"/>
            <a:ext cx="31089" cy="31089"/>
          </a:xfrm>
          <a:prstGeom prst="ellipse">
            <a:avLst/>
          </a:prstGeom>
          <a:solidFill>
            <a:srgbClr val="1343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Oval 28"/>
          <p:cNvSpPr/>
          <p:nvPr/>
        </p:nvSpPr>
        <p:spPr>
          <a:xfrm>
            <a:off x="2673342" y="5306598"/>
            <a:ext cx="31089" cy="31089"/>
          </a:xfrm>
          <a:prstGeom prst="ellipse">
            <a:avLst/>
          </a:prstGeom>
          <a:solidFill>
            <a:srgbClr val="112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Oval 29"/>
          <p:cNvSpPr/>
          <p:nvPr/>
        </p:nvSpPr>
        <p:spPr>
          <a:xfrm>
            <a:off x="6895723" y="578729"/>
            <a:ext cx="31089" cy="31089"/>
          </a:xfrm>
          <a:prstGeom prst="ellipse">
            <a:avLst/>
          </a:prstGeom>
          <a:solidFill>
            <a:srgbClr val="1028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Oval 30"/>
          <p:cNvSpPr/>
          <p:nvPr/>
        </p:nvSpPr>
        <p:spPr>
          <a:xfrm>
            <a:off x="1238697" y="1838872"/>
            <a:ext cx="31089" cy="31089"/>
          </a:xfrm>
          <a:prstGeom prst="ellipse">
            <a:avLst/>
          </a:prstGeom>
          <a:solidFill>
            <a:srgbClr val="1341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Oval 31"/>
          <p:cNvSpPr/>
          <p:nvPr/>
        </p:nvSpPr>
        <p:spPr>
          <a:xfrm>
            <a:off x="10675941" y="3700311"/>
            <a:ext cx="31089" cy="31089"/>
          </a:xfrm>
          <a:prstGeom prst="ellipse">
            <a:avLst/>
          </a:prstGeom>
          <a:solidFill>
            <a:srgbClr val="133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Oval 32"/>
          <p:cNvSpPr/>
          <p:nvPr/>
        </p:nvSpPr>
        <p:spPr>
          <a:xfrm>
            <a:off x="10247243" y="3273473"/>
            <a:ext cx="31089" cy="31089"/>
          </a:xfrm>
          <a:prstGeom prst="ellipse">
            <a:avLst/>
          </a:prstGeom>
          <a:solidFill>
            <a:srgbClr val="10202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Oval 33"/>
          <p:cNvSpPr/>
          <p:nvPr/>
        </p:nvSpPr>
        <p:spPr>
          <a:xfrm>
            <a:off x="11347912" y="6375547"/>
            <a:ext cx="31089" cy="31089"/>
          </a:xfrm>
          <a:prstGeom prst="ellipse">
            <a:avLst/>
          </a:prstGeom>
          <a:solidFill>
            <a:srgbClr val="10222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Oval 34"/>
          <p:cNvSpPr/>
          <p:nvPr/>
        </p:nvSpPr>
        <p:spPr>
          <a:xfrm>
            <a:off x="10869758" y="5355222"/>
            <a:ext cx="31089" cy="31089"/>
          </a:xfrm>
          <a:prstGeom prst="ellipse">
            <a:avLst/>
          </a:prstGeom>
          <a:solidFill>
            <a:srgbClr val="1239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Oval 35"/>
          <p:cNvSpPr/>
          <p:nvPr/>
        </p:nvSpPr>
        <p:spPr>
          <a:xfrm>
            <a:off x="6778005" y="1129679"/>
            <a:ext cx="31089" cy="31089"/>
          </a:xfrm>
          <a:prstGeom prst="ellipse">
            <a:avLst/>
          </a:prstGeom>
          <a:solidFill>
            <a:srgbClr val="1341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Oval 36"/>
          <p:cNvSpPr/>
          <p:nvPr/>
        </p:nvSpPr>
        <p:spPr>
          <a:xfrm>
            <a:off x="3122851" y="6396746"/>
            <a:ext cx="31089" cy="31089"/>
          </a:xfrm>
          <a:prstGeom prst="ellipse">
            <a:avLst/>
          </a:prstGeom>
          <a:solidFill>
            <a:srgbClr val="133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Oval 37"/>
          <p:cNvSpPr/>
          <p:nvPr/>
        </p:nvSpPr>
        <p:spPr>
          <a:xfrm>
            <a:off x="4884945" y="3843149"/>
            <a:ext cx="31089" cy="31089"/>
          </a:xfrm>
          <a:prstGeom prst="ellipse">
            <a:avLst/>
          </a:prstGeom>
          <a:solidFill>
            <a:srgbClr val="1446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Oval 38"/>
          <p:cNvSpPr/>
          <p:nvPr/>
        </p:nvSpPr>
        <p:spPr>
          <a:xfrm>
            <a:off x="4081360" y="346739"/>
            <a:ext cx="31089" cy="31089"/>
          </a:xfrm>
          <a:prstGeom prst="ellipse">
            <a:avLst/>
          </a:prstGeom>
          <a:solidFill>
            <a:srgbClr val="1344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Oval 39"/>
          <p:cNvSpPr/>
          <p:nvPr/>
        </p:nvSpPr>
        <p:spPr>
          <a:xfrm>
            <a:off x="2303426" y="2296295"/>
            <a:ext cx="31089" cy="31089"/>
          </a:xfrm>
          <a:prstGeom prst="ellipse">
            <a:avLst/>
          </a:prstGeom>
          <a:solidFill>
            <a:srgbClr val="1131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Oval 40"/>
          <p:cNvSpPr/>
          <p:nvPr/>
        </p:nvSpPr>
        <p:spPr>
          <a:xfrm>
            <a:off x="952022" y="4757441"/>
            <a:ext cx="31089" cy="31089"/>
          </a:xfrm>
          <a:prstGeom prst="ellipse">
            <a:avLst/>
          </a:prstGeom>
          <a:solidFill>
            <a:srgbClr val="112A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2" name="Oval 41"/>
          <p:cNvSpPr/>
          <p:nvPr/>
        </p:nvSpPr>
        <p:spPr>
          <a:xfrm>
            <a:off x="3156106" y="3008019"/>
            <a:ext cx="31089" cy="31089"/>
          </a:xfrm>
          <a:prstGeom prst="ellipse">
            <a:avLst/>
          </a:prstGeom>
          <a:solidFill>
            <a:srgbClr val="1237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3" name="Oval 42"/>
          <p:cNvSpPr/>
          <p:nvPr/>
        </p:nvSpPr>
        <p:spPr>
          <a:xfrm>
            <a:off x="11480709" y="2585885"/>
            <a:ext cx="31089" cy="31089"/>
          </a:xfrm>
          <a:prstGeom prst="ellipse">
            <a:avLst/>
          </a:prstGeom>
          <a:solidFill>
            <a:srgbClr val="112E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Oval 43"/>
          <p:cNvSpPr/>
          <p:nvPr/>
        </p:nvSpPr>
        <p:spPr>
          <a:xfrm>
            <a:off x="11412938" y="3996273"/>
            <a:ext cx="31089" cy="31089"/>
          </a:xfrm>
          <a:prstGeom prst="ellipse">
            <a:avLst/>
          </a:prstGeom>
          <a:solidFill>
            <a:srgbClr val="1026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Oval 44"/>
          <p:cNvSpPr/>
          <p:nvPr/>
        </p:nvSpPr>
        <p:spPr>
          <a:xfrm>
            <a:off x="4192499" y="4887118"/>
            <a:ext cx="31089" cy="31089"/>
          </a:xfrm>
          <a:prstGeom prst="ellipse">
            <a:avLst/>
          </a:prstGeom>
          <a:solidFill>
            <a:srgbClr val="1131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Oval 45"/>
          <p:cNvSpPr/>
          <p:nvPr/>
        </p:nvSpPr>
        <p:spPr>
          <a:xfrm>
            <a:off x="8348492" y="5391432"/>
            <a:ext cx="31089" cy="31089"/>
          </a:xfrm>
          <a:prstGeom prst="ellipse">
            <a:avLst/>
          </a:prstGeom>
          <a:solidFill>
            <a:srgbClr val="112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7" name="Oval 46"/>
          <p:cNvSpPr/>
          <p:nvPr/>
        </p:nvSpPr>
        <p:spPr>
          <a:xfrm>
            <a:off x="1376401" y="5853007"/>
            <a:ext cx="31089" cy="31089"/>
          </a:xfrm>
          <a:prstGeom prst="ellipse">
            <a:avLst/>
          </a:prstGeom>
          <a:solidFill>
            <a:srgbClr val="1447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8" name="Oval 47"/>
          <p:cNvSpPr/>
          <p:nvPr/>
        </p:nvSpPr>
        <p:spPr>
          <a:xfrm>
            <a:off x="5561187" y="3116177"/>
            <a:ext cx="31089" cy="31089"/>
          </a:xfrm>
          <a:prstGeom prst="ellipse">
            <a:avLst/>
          </a:prstGeom>
          <a:solidFill>
            <a:srgbClr val="1342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9" name="Oval 48"/>
          <p:cNvSpPr/>
          <p:nvPr/>
        </p:nvSpPr>
        <p:spPr>
          <a:xfrm>
            <a:off x="9447285" y="951385"/>
            <a:ext cx="31089" cy="31089"/>
          </a:xfrm>
          <a:prstGeom prst="ellipse">
            <a:avLst/>
          </a:prstGeom>
          <a:solidFill>
            <a:srgbClr val="1239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0" name="Oval 49"/>
          <p:cNvSpPr/>
          <p:nvPr/>
        </p:nvSpPr>
        <p:spPr>
          <a:xfrm>
            <a:off x="6239513" y="5276413"/>
            <a:ext cx="31089" cy="31089"/>
          </a:xfrm>
          <a:prstGeom prst="ellipse">
            <a:avLst/>
          </a:prstGeom>
          <a:solidFill>
            <a:srgbClr val="1446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Oval 50"/>
          <p:cNvSpPr/>
          <p:nvPr/>
        </p:nvSpPr>
        <p:spPr>
          <a:xfrm>
            <a:off x="5369001" y="5412357"/>
            <a:ext cx="31089" cy="31089"/>
          </a:xfrm>
          <a:prstGeom prst="ellipse">
            <a:avLst/>
          </a:prstGeom>
          <a:solidFill>
            <a:srgbClr val="1236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Oval 51"/>
          <p:cNvSpPr/>
          <p:nvPr/>
        </p:nvSpPr>
        <p:spPr>
          <a:xfrm>
            <a:off x="1954859" y="5115074"/>
            <a:ext cx="31089" cy="31089"/>
          </a:xfrm>
          <a:prstGeom prst="ellipse">
            <a:avLst/>
          </a:prstGeom>
          <a:solidFill>
            <a:srgbClr val="133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3" name="Oval 52"/>
          <p:cNvSpPr/>
          <p:nvPr/>
        </p:nvSpPr>
        <p:spPr>
          <a:xfrm>
            <a:off x="267934" y="4430534"/>
            <a:ext cx="31089" cy="31089"/>
          </a:xfrm>
          <a:prstGeom prst="ellipse">
            <a:avLst/>
          </a:prstGeom>
          <a:solidFill>
            <a:srgbClr val="102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4" name="Oval 53"/>
          <p:cNvSpPr/>
          <p:nvPr/>
        </p:nvSpPr>
        <p:spPr>
          <a:xfrm>
            <a:off x="4603664" y="4468340"/>
            <a:ext cx="31089" cy="31089"/>
          </a:xfrm>
          <a:prstGeom prst="ellipse">
            <a:avLst/>
          </a:prstGeom>
          <a:solidFill>
            <a:srgbClr val="1344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5" name="Oval 54"/>
          <p:cNvSpPr/>
          <p:nvPr/>
        </p:nvSpPr>
        <p:spPr>
          <a:xfrm>
            <a:off x="2842730" y="3188512"/>
            <a:ext cx="31089" cy="31089"/>
          </a:xfrm>
          <a:prstGeom prst="ellipse">
            <a:avLst/>
          </a:prstGeom>
          <a:solidFill>
            <a:srgbClr val="112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6" name="Oval 55"/>
          <p:cNvSpPr/>
          <p:nvPr/>
        </p:nvSpPr>
        <p:spPr>
          <a:xfrm>
            <a:off x="4079987" y="1144630"/>
            <a:ext cx="31089" cy="31089"/>
          </a:xfrm>
          <a:prstGeom prst="ellipse">
            <a:avLst/>
          </a:prstGeom>
          <a:solidFill>
            <a:srgbClr val="1239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Oval 56"/>
          <p:cNvSpPr/>
          <p:nvPr/>
        </p:nvSpPr>
        <p:spPr>
          <a:xfrm>
            <a:off x="9630891" y="6307284"/>
            <a:ext cx="31089" cy="31089"/>
          </a:xfrm>
          <a:prstGeom prst="ellipse">
            <a:avLst/>
          </a:prstGeom>
          <a:solidFill>
            <a:srgbClr val="1447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Oval 57"/>
          <p:cNvSpPr/>
          <p:nvPr/>
        </p:nvSpPr>
        <p:spPr>
          <a:xfrm>
            <a:off x="10129297" y="524199"/>
            <a:ext cx="31089" cy="31089"/>
          </a:xfrm>
          <a:prstGeom prst="ellipse">
            <a:avLst/>
          </a:prstGeom>
          <a:solidFill>
            <a:srgbClr val="0F1F2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9" name="Oval 58"/>
          <p:cNvSpPr/>
          <p:nvPr/>
        </p:nvSpPr>
        <p:spPr>
          <a:xfrm>
            <a:off x="11491302" y="5881727"/>
            <a:ext cx="31089" cy="31089"/>
          </a:xfrm>
          <a:prstGeom prst="ellipse">
            <a:avLst/>
          </a:prstGeom>
          <a:solidFill>
            <a:srgbClr val="1239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0" name="Oval 59"/>
          <p:cNvSpPr/>
          <p:nvPr/>
        </p:nvSpPr>
        <p:spPr>
          <a:xfrm>
            <a:off x="6990748" y="4701470"/>
            <a:ext cx="31089" cy="31089"/>
          </a:xfrm>
          <a:prstGeom prst="ellipse">
            <a:avLst/>
          </a:prstGeom>
          <a:solidFill>
            <a:srgbClr val="1236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1" name="Oval 60"/>
          <p:cNvSpPr/>
          <p:nvPr/>
        </p:nvSpPr>
        <p:spPr>
          <a:xfrm>
            <a:off x="2321152" y="1300669"/>
            <a:ext cx="31089" cy="31089"/>
          </a:xfrm>
          <a:prstGeom prst="ellipse">
            <a:avLst/>
          </a:prstGeom>
          <a:solidFill>
            <a:srgbClr val="1025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2" name="Oval 61"/>
          <p:cNvSpPr/>
          <p:nvPr/>
        </p:nvSpPr>
        <p:spPr>
          <a:xfrm>
            <a:off x="243862" y="6220564"/>
            <a:ext cx="31089" cy="31089"/>
          </a:xfrm>
          <a:prstGeom prst="ellipse">
            <a:avLst/>
          </a:prstGeom>
          <a:solidFill>
            <a:srgbClr val="10222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Oval 62"/>
          <p:cNvSpPr/>
          <p:nvPr/>
        </p:nvSpPr>
        <p:spPr>
          <a:xfrm>
            <a:off x="11205608" y="5178021"/>
            <a:ext cx="31089" cy="31089"/>
          </a:xfrm>
          <a:prstGeom prst="ellipse">
            <a:avLst/>
          </a:prstGeom>
          <a:solidFill>
            <a:srgbClr val="133F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Oval 63"/>
          <p:cNvSpPr/>
          <p:nvPr/>
        </p:nvSpPr>
        <p:spPr>
          <a:xfrm>
            <a:off x="2851687" y="2105021"/>
            <a:ext cx="31089" cy="31089"/>
          </a:xfrm>
          <a:prstGeom prst="ellipse">
            <a:avLst/>
          </a:prstGeom>
          <a:solidFill>
            <a:srgbClr val="0F1F2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5" name="Oval 64"/>
          <p:cNvSpPr/>
          <p:nvPr/>
        </p:nvSpPr>
        <p:spPr>
          <a:xfrm>
            <a:off x="3713688" y="4940278"/>
            <a:ext cx="31089" cy="31089"/>
          </a:xfrm>
          <a:prstGeom prst="ellipse">
            <a:avLst/>
          </a:prstGeom>
          <a:solidFill>
            <a:srgbClr val="0F1E2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6" name="Oval 65"/>
          <p:cNvSpPr/>
          <p:nvPr/>
        </p:nvSpPr>
        <p:spPr>
          <a:xfrm>
            <a:off x="11122770" y="3451064"/>
            <a:ext cx="31089" cy="31089"/>
          </a:xfrm>
          <a:prstGeom prst="ellipse">
            <a:avLst/>
          </a:prstGeom>
          <a:solidFill>
            <a:srgbClr val="112F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7" name="Oval 66"/>
          <p:cNvSpPr/>
          <p:nvPr/>
        </p:nvSpPr>
        <p:spPr>
          <a:xfrm>
            <a:off x="6907159" y="1767412"/>
            <a:ext cx="31089" cy="31089"/>
          </a:xfrm>
          <a:prstGeom prst="ellipse">
            <a:avLst/>
          </a:prstGeom>
          <a:solidFill>
            <a:srgbClr val="112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8" name="Oval 67"/>
          <p:cNvSpPr/>
          <p:nvPr/>
        </p:nvSpPr>
        <p:spPr>
          <a:xfrm>
            <a:off x="10693497" y="2335445"/>
            <a:ext cx="31089" cy="31089"/>
          </a:xfrm>
          <a:prstGeom prst="ellipse">
            <a:avLst/>
          </a:prstGeom>
          <a:solidFill>
            <a:srgbClr val="133E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9" name="Oval 68"/>
          <p:cNvSpPr/>
          <p:nvPr/>
        </p:nvSpPr>
        <p:spPr>
          <a:xfrm>
            <a:off x="10863186" y="3739109"/>
            <a:ext cx="31089" cy="31089"/>
          </a:xfrm>
          <a:prstGeom prst="ellipse">
            <a:avLst/>
          </a:prstGeom>
          <a:solidFill>
            <a:srgbClr val="1026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0" name="Oval 69"/>
          <p:cNvSpPr/>
          <p:nvPr/>
        </p:nvSpPr>
        <p:spPr>
          <a:xfrm>
            <a:off x="9020293" y="2891880"/>
            <a:ext cx="31089" cy="31089"/>
          </a:xfrm>
          <a:prstGeom prst="ellipse">
            <a:avLst/>
          </a:prstGeom>
          <a:solidFill>
            <a:srgbClr val="112F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1" name="Oval 70"/>
          <p:cNvSpPr/>
          <p:nvPr/>
        </p:nvSpPr>
        <p:spPr>
          <a:xfrm>
            <a:off x="10999881" y="5541852"/>
            <a:ext cx="31089" cy="31089"/>
          </a:xfrm>
          <a:prstGeom prst="ellipse">
            <a:avLst/>
          </a:prstGeom>
          <a:solidFill>
            <a:srgbClr val="1130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2" name="Oval 71"/>
          <p:cNvSpPr/>
          <p:nvPr/>
        </p:nvSpPr>
        <p:spPr>
          <a:xfrm>
            <a:off x="6895506" y="2668731"/>
            <a:ext cx="31089" cy="31089"/>
          </a:xfrm>
          <a:prstGeom prst="ellipse">
            <a:avLst/>
          </a:prstGeom>
          <a:solidFill>
            <a:srgbClr val="1132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3" name="Oval 72"/>
          <p:cNvSpPr/>
          <p:nvPr/>
        </p:nvSpPr>
        <p:spPr>
          <a:xfrm>
            <a:off x="6230735" y="2705534"/>
            <a:ext cx="31089" cy="31089"/>
          </a:xfrm>
          <a:prstGeom prst="ellipse">
            <a:avLst/>
          </a:prstGeom>
          <a:solidFill>
            <a:srgbClr val="1132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4" name="Rectangle 73"/>
          <p:cNvSpPr/>
          <p:nvPr/>
        </p:nvSpPr>
        <p:spPr>
          <a:xfrm>
            <a:off x="0" y="0"/>
            <a:ext cx="12191695" cy="6858000"/>
          </a:xfrm>
          <a:prstGeom prst="rect">
            <a:avLst/>
          </a:prstGeom>
          <a:gradFill rotWithShape="1">
            <a:gsLst>
              <a:gs pos="0">
                <a:srgbClr val="0B1120">
                  <a:alpha val="90000"/>
                </a:srgbClr>
              </a:gs>
              <a:gs pos="50000">
                <a:srgbClr val="0B1120">
                  <a:alpha val="96000"/>
                </a:srgbClr>
              </a:gs>
              <a:gs pos="100000">
                <a:srgbClr val="0B1120">
                  <a:alpha val="90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5" name="Rectangle 74"/>
          <p:cNvSpPr/>
          <p:nvPr/>
        </p:nvSpPr>
        <p:spPr>
          <a:xfrm>
            <a:off x="0" y="0"/>
            <a:ext cx="2031796" cy="105156"/>
          </a:xfrm>
          <a:prstGeom prst="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6" name="Rectangle 75"/>
          <p:cNvSpPr/>
          <p:nvPr/>
        </p:nvSpPr>
        <p:spPr>
          <a:xfrm>
            <a:off x="2031796" y="0"/>
            <a:ext cx="2031796" cy="105156"/>
          </a:xfrm>
          <a:prstGeom prst="rect">
            <a:avLst/>
          </a:prstGeom>
          <a:solidFill>
            <a:srgbClr val="1EA6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7" name="Rectangle 76"/>
          <p:cNvSpPr/>
          <p:nvPr/>
        </p:nvSpPr>
        <p:spPr>
          <a:xfrm>
            <a:off x="4063593" y="0"/>
            <a:ext cx="2031796" cy="105156"/>
          </a:xfrm>
          <a:prstGeom prst="rect">
            <a:avLst/>
          </a:prstGeom>
          <a:solidFill>
            <a:srgbClr val="1A874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8" name="Rectangle 77"/>
          <p:cNvSpPr/>
          <p:nvPr/>
        </p:nvSpPr>
        <p:spPr>
          <a:xfrm>
            <a:off x="6095390" y="0"/>
            <a:ext cx="2031796" cy="105156"/>
          </a:xfrm>
          <a:prstGeom prst="rect">
            <a:avLst/>
          </a:prstGeom>
          <a:solidFill>
            <a:srgbClr val="1668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9" name="Rectangle 78"/>
          <p:cNvSpPr/>
          <p:nvPr/>
        </p:nvSpPr>
        <p:spPr>
          <a:xfrm>
            <a:off x="8127187" y="0"/>
            <a:ext cx="2031796" cy="105156"/>
          </a:xfrm>
          <a:prstGeom prst="rect">
            <a:avLst/>
          </a:prstGeom>
          <a:solidFill>
            <a:srgbClr val="1249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0" name="Rectangle 79"/>
          <p:cNvSpPr/>
          <p:nvPr/>
        </p:nvSpPr>
        <p:spPr>
          <a:xfrm>
            <a:off x="10158984" y="0"/>
            <a:ext cx="2031796" cy="105156"/>
          </a:xfrm>
          <a:prstGeom prst="rect">
            <a:avLst/>
          </a:prstGeom>
          <a:solidFill>
            <a:srgbClr val="0E2A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1" name="TextBox 80"/>
          <p:cNvSpPr txBox="1"/>
          <p:nvPr/>
        </p:nvSpPr>
        <p:spPr>
          <a:xfrm>
            <a:off x="594360" y="566928"/>
            <a:ext cx="8229600" cy="219456"/>
          </a:xfrm>
          <a:prstGeom prst="rect">
            <a:avLst/>
          </a:prstGeom>
          <a:noFill/>
        </p:spPr>
        <p:txBody>
          <a:bodyPr wrap="square" lIns="0" rIns="0" tIns="0" bIns="0" anchor="t">
            <a:spAutoFit/>
          </a:bodyPr>
          <a:lstStyle/>
          <a:p>
            <a:pPr algn="l"/>
            <a:r>
              <a:rPr sz="850" b="1" i="0" spc="160">
                <a:solidFill>
                  <a:srgbClr val="64748B"/>
                </a:solidFill>
                <a:latin typeface="Aptos"/>
              </a:rPr>
              <a:t>12 · IN ONE PAGE</a:t>
            </a:r>
          </a:p>
        </p:txBody>
      </p:sp>
      <p:sp>
        <p:nvSpPr>
          <p:cNvPr id="82" name="TextBox 81"/>
          <p:cNvSpPr txBox="1"/>
          <p:nvPr/>
        </p:nvSpPr>
        <p:spPr>
          <a:xfrm>
            <a:off x="594360" y="932688"/>
            <a:ext cx="10424160" cy="603504"/>
          </a:xfrm>
          <a:prstGeom prst="rect">
            <a:avLst/>
          </a:prstGeom>
          <a:noFill/>
        </p:spPr>
        <p:txBody>
          <a:bodyPr wrap="square" lIns="0" rIns="0" tIns="0" bIns="0" anchor="t">
            <a:spAutoFit/>
          </a:bodyPr>
          <a:lstStyle/>
          <a:p>
            <a:pPr algn="l">
              <a:lnSpc>
                <a:spcPct val="104000"/>
              </a:lnSpc>
            </a:pPr>
            <a:r>
              <a:rPr sz="3000" b="0" i="0">
                <a:solidFill>
                  <a:srgbClr val="FFFFFF"/>
                </a:solidFill>
                <a:latin typeface="Aptos Display"/>
              </a:rPr>
              <a:t>The data is already on the phone. So is the compute.</a:t>
            </a:r>
          </a:p>
        </p:txBody>
      </p:sp>
      <p:sp>
        <p:nvSpPr>
          <p:cNvPr id="83" name="TextBox 82"/>
          <p:cNvSpPr txBox="1"/>
          <p:nvPr/>
        </p:nvSpPr>
        <p:spPr>
          <a:xfrm>
            <a:off x="594360" y="1682496"/>
            <a:ext cx="9692640" cy="310896"/>
          </a:xfrm>
          <a:prstGeom prst="rect">
            <a:avLst/>
          </a:prstGeom>
          <a:noFill/>
        </p:spPr>
        <p:txBody>
          <a:bodyPr wrap="square" lIns="0" rIns="0" tIns="0" bIns="0" anchor="t">
            <a:spAutoFit/>
          </a:bodyPr>
          <a:lstStyle/>
          <a:p>
            <a:pPr algn="l">
              <a:lnSpc>
                <a:spcPct val="120000"/>
              </a:lnSpc>
            </a:pPr>
            <a:r>
              <a:rPr sz="1200" b="0" i="0">
                <a:solidFill>
                  <a:srgbClr val="22C55E"/>
                </a:solidFill>
                <a:latin typeface="Aptos"/>
              </a:rPr>
              <a:t>Vault makes retrieval a local operation, and disclosure an explicit, revocable, byte-countable act.</a:t>
            </a:r>
          </a:p>
        </p:txBody>
      </p:sp>
      <p:sp>
        <p:nvSpPr>
          <p:cNvPr id="84" name="Rectangle 83"/>
          <p:cNvSpPr/>
          <p:nvPr/>
        </p:nvSpPr>
        <p:spPr>
          <a:xfrm>
            <a:off x="594360" y="2432304"/>
            <a:ext cx="32918" cy="896112"/>
          </a:xfrm>
          <a:prstGeom prst="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5" name="TextBox 84"/>
          <p:cNvSpPr txBox="1"/>
          <p:nvPr/>
        </p:nvSpPr>
        <p:spPr>
          <a:xfrm>
            <a:off x="777240" y="2432304"/>
            <a:ext cx="5120640" cy="182880"/>
          </a:xfrm>
          <a:prstGeom prst="rect">
            <a:avLst/>
          </a:prstGeom>
          <a:noFill/>
        </p:spPr>
        <p:txBody>
          <a:bodyPr wrap="square" lIns="0" rIns="0" tIns="0" bIns="0" anchor="t">
            <a:spAutoFit/>
          </a:bodyPr>
          <a:lstStyle/>
          <a:p>
            <a:pPr algn="l"/>
            <a:r>
              <a:rPr sz="800" b="1" i="0" spc="130">
                <a:solidFill>
                  <a:srgbClr val="22C55E"/>
                </a:solidFill>
                <a:latin typeface="Aptos"/>
              </a:rPr>
              <a:t>THE PROBLEM</a:t>
            </a:r>
          </a:p>
        </p:txBody>
      </p:sp>
      <p:sp>
        <p:nvSpPr>
          <p:cNvPr id="86" name="TextBox 85"/>
          <p:cNvSpPr txBox="1"/>
          <p:nvPr/>
        </p:nvSpPr>
        <p:spPr>
          <a:xfrm>
            <a:off x="777240" y="2670048"/>
            <a:ext cx="5212080" cy="676656"/>
          </a:xfrm>
          <a:prstGeom prst="rect">
            <a:avLst/>
          </a:prstGeom>
          <a:noFill/>
        </p:spPr>
        <p:txBody>
          <a:bodyPr wrap="square" lIns="0" rIns="0" tIns="0" bIns="0" anchor="t">
            <a:spAutoFit/>
          </a:bodyPr>
          <a:lstStyle/>
          <a:p>
            <a:pPr algn="l">
              <a:lnSpc>
                <a:spcPct val="130000"/>
              </a:lnSpc>
            </a:pPr>
            <a:r>
              <a:rPr sz="980" b="0" i="0">
                <a:solidFill>
                  <a:srgbClr val="FFFFFF"/>
                </a:solidFill>
                <a:latin typeface="Aptos"/>
              </a:rPr>
              <a:t>Using AI on your own documents currently means uploading them, and the plaintext has to be readable on the far side to be embedded.</a:t>
            </a:r>
          </a:p>
        </p:txBody>
      </p:sp>
      <p:sp>
        <p:nvSpPr>
          <p:cNvPr id="87" name="Rectangle 86"/>
          <p:cNvSpPr/>
          <p:nvPr/>
        </p:nvSpPr>
        <p:spPr>
          <a:xfrm>
            <a:off x="6263640" y="2432304"/>
            <a:ext cx="32918" cy="896112"/>
          </a:xfrm>
          <a:prstGeom prst="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8" name="TextBox 87"/>
          <p:cNvSpPr txBox="1"/>
          <p:nvPr/>
        </p:nvSpPr>
        <p:spPr>
          <a:xfrm>
            <a:off x="6446520" y="2432304"/>
            <a:ext cx="5120640" cy="182880"/>
          </a:xfrm>
          <a:prstGeom prst="rect">
            <a:avLst/>
          </a:prstGeom>
          <a:noFill/>
        </p:spPr>
        <p:txBody>
          <a:bodyPr wrap="square" lIns="0" rIns="0" tIns="0" bIns="0" anchor="t">
            <a:spAutoFit/>
          </a:bodyPr>
          <a:lstStyle/>
          <a:p>
            <a:pPr algn="l"/>
            <a:r>
              <a:rPr sz="800" b="1" i="0" spc="130">
                <a:solidFill>
                  <a:srgbClr val="22C55E"/>
                </a:solidFill>
                <a:latin typeface="Aptos"/>
              </a:rPr>
              <a:t>THE INVERSION</a:t>
            </a:r>
          </a:p>
        </p:txBody>
      </p:sp>
      <p:sp>
        <p:nvSpPr>
          <p:cNvPr id="89" name="TextBox 88"/>
          <p:cNvSpPr txBox="1"/>
          <p:nvPr/>
        </p:nvSpPr>
        <p:spPr>
          <a:xfrm>
            <a:off x="6446520" y="2670048"/>
            <a:ext cx="5212080" cy="676656"/>
          </a:xfrm>
          <a:prstGeom prst="rect">
            <a:avLst/>
          </a:prstGeom>
          <a:noFill/>
        </p:spPr>
        <p:txBody>
          <a:bodyPr wrap="square" lIns="0" rIns="0" tIns="0" bIns="0" anchor="t">
            <a:spAutoFit/>
          </a:bodyPr>
          <a:lstStyle/>
          <a:p>
            <a:pPr algn="l">
              <a:lnSpc>
                <a:spcPct val="130000"/>
              </a:lnSpc>
            </a:pPr>
            <a:r>
              <a:rPr sz="980" b="0" i="0">
                <a:solidFill>
                  <a:srgbClr val="FFFFFF"/>
                </a:solidFill>
                <a:latin typeface="Aptos"/>
              </a:rPr>
              <a:t>The phone becomes the trusted core holding corpus, index and encoder. The laptop becomes the edge, and sees only passages.</a:t>
            </a:r>
          </a:p>
        </p:txBody>
      </p:sp>
      <p:sp>
        <p:nvSpPr>
          <p:cNvPr id="90" name="Rectangle 89"/>
          <p:cNvSpPr/>
          <p:nvPr/>
        </p:nvSpPr>
        <p:spPr>
          <a:xfrm>
            <a:off x="594360" y="3602736"/>
            <a:ext cx="32918" cy="896112"/>
          </a:xfrm>
          <a:prstGeom prst="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1" name="TextBox 90"/>
          <p:cNvSpPr txBox="1"/>
          <p:nvPr/>
        </p:nvSpPr>
        <p:spPr>
          <a:xfrm>
            <a:off x="777240" y="3602736"/>
            <a:ext cx="5120640" cy="182880"/>
          </a:xfrm>
          <a:prstGeom prst="rect">
            <a:avLst/>
          </a:prstGeom>
          <a:noFill/>
        </p:spPr>
        <p:txBody>
          <a:bodyPr wrap="square" lIns="0" rIns="0" tIns="0" bIns="0" anchor="t">
            <a:spAutoFit/>
          </a:bodyPr>
          <a:lstStyle/>
          <a:p>
            <a:pPr algn="l"/>
            <a:r>
              <a:rPr sz="800" b="1" i="0" spc="130">
                <a:solidFill>
                  <a:srgbClr val="22C55E"/>
                </a:solidFill>
                <a:latin typeface="Aptos"/>
              </a:rPr>
              <a:t>THE PROOF</a:t>
            </a:r>
          </a:p>
        </p:txBody>
      </p:sp>
      <p:sp>
        <p:nvSpPr>
          <p:cNvPr id="92" name="TextBox 91"/>
          <p:cNvSpPr txBox="1"/>
          <p:nvPr/>
        </p:nvSpPr>
        <p:spPr>
          <a:xfrm>
            <a:off x="777240" y="3840480"/>
            <a:ext cx="5212080" cy="676656"/>
          </a:xfrm>
          <a:prstGeom prst="rect">
            <a:avLst/>
          </a:prstGeom>
          <a:noFill/>
        </p:spPr>
        <p:txBody>
          <a:bodyPr wrap="square" lIns="0" rIns="0" tIns="0" bIns="0" anchor="t">
            <a:spAutoFit/>
          </a:bodyPr>
          <a:lstStyle/>
          <a:p>
            <a:pPr algn="l">
              <a:lnSpc>
                <a:spcPct val="130000"/>
              </a:lnSpc>
            </a:pPr>
            <a:r>
              <a:rPr sz="980" b="0" i="0">
                <a:solidFill>
                  <a:srgbClr val="FFFFFF"/>
                </a:solidFill>
                <a:latin typeface="Aptos"/>
              </a:rPr>
              <a:t>233 ms per query embedding on a mid-range handset, and a release build that requests zero permissions - verifiable in one command.</a:t>
            </a:r>
          </a:p>
        </p:txBody>
      </p:sp>
      <p:sp>
        <p:nvSpPr>
          <p:cNvPr id="93" name="Rectangle 92"/>
          <p:cNvSpPr/>
          <p:nvPr/>
        </p:nvSpPr>
        <p:spPr>
          <a:xfrm>
            <a:off x="6263640" y="3602736"/>
            <a:ext cx="32918" cy="896112"/>
          </a:xfrm>
          <a:prstGeom prst="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4" name="TextBox 93"/>
          <p:cNvSpPr txBox="1"/>
          <p:nvPr/>
        </p:nvSpPr>
        <p:spPr>
          <a:xfrm>
            <a:off x="6446520" y="3602736"/>
            <a:ext cx="5120640" cy="182880"/>
          </a:xfrm>
          <a:prstGeom prst="rect">
            <a:avLst/>
          </a:prstGeom>
          <a:noFill/>
        </p:spPr>
        <p:txBody>
          <a:bodyPr wrap="square" lIns="0" rIns="0" tIns="0" bIns="0" anchor="t">
            <a:spAutoFit/>
          </a:bodyPr>
          <a:lstStyle/>
          <a:p>
            <a:pPr algn="l"/>
            <a:r>
              <a:rPr sz="800" b="1" i="0" spc="130">
                <a:solidFill>
                  <a:srgbClr val="22C55E"/>
                </a:solidFill>
                <a:latin typeface="Aptos"/>
              </a:rPr>
              <a:t>THE MARKET</a:t>
            </a:r>
          </a:p>
        </p:txBody>
      </p:sp>
      <p:sp>
        <p:nvSpPr>
          <p:cNvPr id="95" name="TextBox 94"/>
          <p:cNvSpPr txBox="1"/>
          <p:nvPr/>
        </p:nvSpPr>
        <p:spPr>
          <a:xfrm>
            <a:off x="6446520" y="3840480"/>
            <a:ext cx="5212080" cy="676656"/>
          </a:xfrm>
          <a:prstGeom prst="rect">
            <a:avLst/>
          </a:prstGeom>
          <a:noFill/>
        </p:spPr>
        <p:txBody>
          <a:bodyPr wrap="square" lIns="0" rIns="0" tIns="0" bIns="0" anchor="t">
            <a:spAutoFit/>
          </a:bodyPr>
          <a:lstStyle/>
          <a:p>
            <a:pPr algn="l">
              <a:lnSpc>
                <a:spcPct val="130000"/>
              </a:lnSpc>
            </a:pPr>
            <a:r>
              <a:rPr sz="980" b="0" i="0">
                <a:solidFill>
                  <a:srgbClr val="FFFFFF"/>
                </a:solidFill>
                <a:latin typeface="Aptos"/>
              </a:rPr>
              <a:t>Legal, clinical, engineering, research and field work: corpora that are small, personal, and prohibited from being uploaded at all.</a:t>
            </a:r>
          </a:p>
        </p:txBody>
      </p:sp>
      <p:sp>
        <p:nvSpPr>
          <p:cNvPr id="96" name="Rectangle 95"/>
          <p:cNvSpPr/>
          <p:nvPr/>
        </p:nvSpPr>
        <p:spPr>
          <a:xfrm>
            <a:off x="594360" y="4956048"/>
            <a:ext cx="11000232" cy="10058"/>
          </a:xfrm>
          <a:prstGeom prst="rect">
            <a:avLst/>
          </a:prstGeom>
          <a:solidFill>
            <a:srgbClr val="2A38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7" name="TextBox 96"/>
          <p:cNvSpPr txBox="1"/>
          <p:nvPr/>
        </p:nvSpPr>
        <p:spPr>
          <a:xfrm>
            <a:off x="594360" y="5175504"/>
            <a:ext cx="2148840" cy="420624"/>
          </a:xfrm>
          <a:prstGeom prst="rect">
            <a:avLst/>
          </a:prstGeom>
          <a:noFill/>
        </p:spPr>
        <p:txBody>
          <a:bodyPr wrap="square" lIns="0" rIns="0" tIns="0" bIns="0" anchor="t">
            <a:spAutoFit/>
          </a:bodyPr>
          <a:lstStyle/>
          <a:p>
            <a:pPr algn="l"/>
            <a:r>
              <a:rPr sz="2600" b="0" i="0">
                <a:solidFill>
                  <a:srgbClr val="FFFFFF"/>
                </a:solidFill>
                <a:latin typeface="Aptos Display"/>
              </a:rPr>
              <a:t>1 GB</a:t>
            </a:r>
          </a:p>
        </p:txBody>
      </p:sp>
      <p:sp>
        <p:nvSpPr>
          <p:cNvPr id="98" name="TextBox 97"/>
          <p:cNvSpPr txBox="1"/>
          <p:nvPr/>
        </p:nvSpPr>
        <p:spPr>
          <a:xfrm>
            <a:off x="594360" y="5596128"/>
            <a:ext cx="2148840" cy="329184"/>
          </a:xfrm>
          <a:prstGeom prst="rect">
            <a:avLst/>
          </a:prstGeom>
          <a:noFill/>
        </p:spPr>
        <p:txBody>
          <a:bodyPr wrap="square" lIns="0" rIns="0" tIns="0" bIns="0" anchor="t">
            <a:spAutoFit/>
          </a:bodyPr>
          <a:lstStyle/>
          <a:p>
            <a:pPr algn="l"/>
            <a:r>
              <a:rPr sz="700" b="1" i="0" spc="90">
                <a:solidFill>
                  <a:srgbClr val="64748B"/>
                </a:solidFill>
                <a:latin typeface="Aptos"/>
              </a:rPr>
              <a:t>STAYS ON THE PHONE</a:t>
            </a:r>
          </a:p>
        </p:txBody>
      </p:sp>
      <p:sp>
        <p:nvSpPr>
          <p:cNvPr id="99" name="TextBox 98"/>
          <p:cNvSpPr txBox="1"/>
          <p:nvPr/>
        </p:nvSpPr>
        <p:spPr>
          <a:xfrm>
            <a:off x="2834640" y="5175504"/>
            <a:ext cx="2148840" cy="420624"/>
          </a:xfrm>
          <a:prstGeom prst="rect">
            <a:avLst/>
          </a:prstGeom>
          <a:noFill/>
        </p:spPr>
        <p:txBody>
          <a:bodyPr wrap="square" lIns="0" rIns="0" tIns="0" bIns="0" anchor="t">
            <a:spAutoFit/>
          </a:bodyPr>
          <a:lstStyle/>
          <a:p>
            <a:pPr algn="l"/>
            <a:r>
              <a:rPr sz="2600" b="0" i="0">
                <a:solidFill>
                  <a:srgbClr val="22C55E"/>
                </a:solidFill>
                <a:latin typeface="Aptos Display"/>
              </a:rPr>
              <a:t>~800</a:t>
            </a:r>
          </a:p>
        </p:txBody>
      </p:sp>
      <p:sp>
        <p:nvSpPr>
          <p:cNvPr id="100" name="TextBox 99"/>
          <p:cNvSpPr txBox="1"/>
          <p:nvPr/>
        </p:nvSpPr>
        <p:spPr>
          <a:xfrm>
            <a:off x="2834640" y="5596128"/>
            <a:ext cx="2148840" cy="329184"/>
          </a:xfrm>
          <a:prstGeom prst="rect">
            <a:avLst/>
          </a:prstGeom>
          <a:noFill/>
        </p:spPr>
        <p:txBody>
          <a:bodyPr wrap="square" lIns="0" rIns="0" tIns="0" bIns="0" anchor="t">
            <a:spAutoFit/>
          </a:bodyPr>
          <a:lstStyle/>
          <a:p>
            <a:pPr algn="l"/>
            <a:r>
              <a:rPr sz="700" b="1" i="0" spc="90">
                <a:solidFill>
                  <a:srgbClr val="64748B"/>
                </a:solidFill>
                <a:latin typeface="Aptos"/>
              </a:rPr>
              <a:t>TOKENS EVER LEAVE</a:t>
            </a:r>
          </a:p>
        </p:txBody>
      </p:sp>
      <p:sp>
        <p:nvSpPr>
          <p:cNvPr id="101" name="TextBox 100"/>
          <p:cNvSpPr txBox="1"/>
          <p:nvPr/>
        </p:nvSpPr>
        <p:spPr>
          <a:xfrm>
            <a:off x="5074920" y="5175504"/>
            <a:ext cx="2148840" cy="420624"/>
          </a:xfrm>
          <a:prstGeom prst="rect">
            <a:avLst/>
          </a:prstGeom>
          <a:noFill/>
        </p:spPr>
        <p:txBody>
          <a:bodyPr wrap="square" lIns="0" rIns="0" tIns="0" bIns="0" anchor="t">
            <a:spAutoFit/>
          </a:bodyPr>
          <a:lstStyle/>
          <a:p>
            <a:pPr algn="l"/>
            <a:r>
              <a:rPr sz="2600" b="0" i="0">
                <a:solidFill>
                  <a:srgbClr val="22C55E"/>
                </a:solidFill>
                <a:latin typeface="Aptos Display"/>
              </a:rPr>
              <a:t>233 ms</a:t>
            </a:r>
          </a:p>
        </p:txBody>
      </p:sp>
      <p:sp>
        <p:nvSpPr>
          <p:cNvPr id="102" name="TextBox 101"/>
          <p:cNvSpPr txBox="1"/>
          <p:nvPr/>
        </p:nvSpPr>
        <p:spPr>
          <a:xfrm>
            <a:off x="5074920" y="5596128"/>
            <a:ext cx="2148840" cy="329184"/>
          </a:xfrm>
          <a:prstGeom prst="rect">
            <a:avLst/>
          </a:prstGeom>
          <a:noFill/>
        </p:spPr>
        <p:txBody>
          <a:bodyPr wrap="square" lIns="0" rIns="0" tIns="0" bIns="0" anchor="t">
            <a:spAutoFit/>
          </a:bodyPr>
          <a:lstStyle/>
          <a:p>
            <a:pPr algn="l"/>
            <a:r>
              <a:rPr sz="700" b="1" i="0" spc="90">
                <a:solidFill>
                  <a:srgbClr val="64748B"/>
                </a:solidFill>
                <a:latin typeface="Aptos"/>
              </a:rPr>
              <a:t>MEASURED QUERY EMBED</a:t>
            </a:r>
          </a:p>
        </p:txBody>
      </p:sp>
      <p:sp>
        <p:nvSpPr>
          <p:cNvPr id="103" name="TextBox 102"/>
          <p:cNvSpPr txBox="1"/>
          <p:nvPr/>
        </p:nvSpPr>
        <p:spPr>
          <a:xfrm>
            <a:off x="7315200" y="5175504"/>
            <a:ext cx="2148840" cy="420624"/>
          </a:xfrm>
          <a:prstGeom prst="rect">
            <a:avLst/>
          </a:prstGeom>
          <a:noFill/>
        </p:spPr>
        <p:txBody>
          <a:bodyPr wrap="square" lIns="0" rIns="0" tIns="0" bIns="0" anchor="t">
            <a:spAutoFit/>
          </a:bodyPr>
          <a:lstStyle/>
          <a:p>
            <a:pPr algn="l"/>
            <a:r>
              <a:rPr sz="2600" b="0" i="0">
                <a:solidFill>
                  <a:srgbClr val="22C55E"/>
                </a:solidFill>
                <a:latin typeface="Aptos Display"/>
              </a:rPr>
              <a:t>0</a:t>
            </a:r>
          </a:p>
        </p:txBody>
      </p:sp>
      <p:sp>
        <p:nvSpPr>
          <p:cNvPr id="104" name="TextBox 103"/>
          <p:cNvSpPr txBox="1"/>
          <p:nvPr/>
        </p:nvSpPr>
        <p:spPr>
          <a:xfrm>
            <a:off x="7315200" y="5596128"/>
            <a:ext cx="2148840" cy="329184"/>
          </a:xfrm>
          <a:prstGeom prst="rect">
            <a:avLst/>
          </a:prstGeom>
          <a:noFill/>
        </p:spPr>
        <p:txBody>
          <a:bodyPr wrap="square" lIns="0" rIns="0" tIns="0" bIns="0" anchor="t">
            <a:spAutoFit/>
          </a:bodyPr>
          <a:lstStyle/>
          <a:p>
            <a:pPr algn="l"/>
            <a:r>
              <a:rPr sz="700" b="1" i="0" spc="90">
                <a:solidFill>
                  <a:srgbClr val="64748B"/>
                </a:solidFill>
                <a:latin typeface="Aptos"/>
              </a:rPr>
              <a:t>NETWORK PERMISSIONS</a:t>
            </a:r>
          </a:p>
        </p:txBody>
      </p:sp>
      <p:sp>
        <p:nvSpPr>
          <p:cNvPr id="105" name="TextBox 104"/>
          <p:cNvSpPr txBox="1"/>
          <p:nvPr/>
        </p:nvSpPr>
        <p:spPr>
          <a:xfrm>
            <a:off x="9555480" y="5175504"/>
            <a:ext cx="2148840" cy="420624"/>
          </a:xfrm>
          <a:prstGeom prst="rect">
            <a:avLst/>
          </a:prstGeom>
          <a:noFill/>
        </p:spPr>
        <p:txBody>
          <a:bodyPr wrap="square" lIns="0" rIns="0" tIns="0" bIns="0" anchor="t">
            <a:spAutoFit/>
          </a:bodyPr>
          <a:lstStyle/>
          <a:p>
            <a:pPr algn="l"/>
            <a:r>
              <a:rPr sz="2600" b="0" i="0">
                <a:solidFill>
                  <a:srgbClr val="FFFFFF"/>
                </a:solidFill>
                <a:latin typeface="Aptos Display"/>
              </a:rPr>
              <a:t>0</a:t>
            </a:r>
          </a:p>
        </p:txBody>
      </p:sp>
      <p:sp>
        <p:nvSpPr>
          <p:cNvPr id="106" name="TextBox 105"/>
          <p:cNvSpPr txBox="1"/>
          <p:nvPr/>
        </p:nvSpPr>
        <p:spPr>
          <a:xfrm>
            <a:off x="9555480" y="5596128"/>
            <a:ext cx="2148840" cy="329184"/>
          </a:xfrm>
          <a:prstGeom prst="rect">
            <a:avLst/>
          </a:prstGeom>
          <a:noFill/>
        </p:spPr>
        <p:txBody>
          <a:bodyPr wrap="square" lIns="0" rIns="0" tIns="0" bIns="0" anchor="t">
            <a:spAutoFit/>
          </a:bodyPr>
          <a:lstStyle/>
          <a:p>
            <a:pPr algn="l"/>
            <a:r>
              <a:rPr sz="700" b="1" i="0" spc="90">
                <a:solidFill>
                  <a:srgbClr val="64748B"/>
                </a:solidFill>
                <a:latin typeface="Aptos"/>
              </a:rPr>
              <a:t>PER-TOKEN COST</a:t>
            </a:r>
          </a:p>
        </p:txBody>
      </p:sp>
      <p:sp>
        <p:nvSpPr>
          <p:cNvPr id="107" name="Rectangle 106"/>
          <p:cNvSpPr/>
          <p:nvPr/>
        </p:nvSpPr>
        <p:spPr>
          <a:xfrm>
            <a:off x="594360" y="6291072"/>
            <a:ext cx="11000232" cy="1005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8" name="TextBox 107"/>
          <p:cNvSpPr txBox="1"/>
          <p:nvPr/>
        </p:nvSpPr>
        <p:spPr>
          <a:xfrm>
            <a:off x="594360" y="6419088"/>
            <a:ext cx="9601200" cy="201168"/>
          </a:xfrm>
          <a:prstGeom prst="rect">
            <a:avLst/>
          </a:prstGeom>
          <a:noFill/>
        </p:spPr>
        <p:txBody>
          <a:bodyPr wrap="square" lIns="0" rIns="0" tIns="0" bIns="0" anchor="t">
            <a:spAutoFit/>
          </a:bodyPr>
          <a:lstStyle/>
          <a:p>
            <a:pPr algn="l"/>
            <a:r>
              <a:rPr sz="800" b="0" i="0" spc="60">
                <a:solidFill>
                  <a:srgbClr val="44546F"/>
                </a:solidFill>
                <a:latin typeface="Aptos"/>
              </a:rPr>
              <a:t>VAULT / POCKETRAG  ·  TEAM jSONs  ·  BUILD THE VAULT. KEEP THE CORPUS.</a:t>
            </a:r>
          </a:p>
        </p:txBody>
      </p:sp>
      <p:sp>
        <p:nvSpPr>
          <p:cNvPr id="109" name="TextBox 108"/>
          <p:cNvSpPr txBox="1"/>
          <p:nvPr/>
        </p:nvSpPr>
        <p:spPr>
          <a:xfrm>
            <a:off x="10881360" y="6419088"/>
            <a:ext cx="713232" cy="201168"/>
          </a:xfrm>
          <a:prstGeom prst="rect">
            <a:avLst/>
          </a:prstGeom>
          <a:noFill/>
        </p:spPr>
        <p:txBody>
          <a:bodyPr wrap="square" lIns="0" rIns="0" tIns="0" bIns="0" anchor="t">
            <a:spAutoFit/>
          </a:bodyPr>
          <a:lstStyle/>
          <a:p>
            <a:pPr algn="r"/>
            <a:r>
              <a:rPr sz="850" b="1" i="0" spc="80">
                <a:solidFill>
                  <a:srgbClr val="64748B"/>
                </a:solidFill>
                <a:latin typeface="Aptos"/>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