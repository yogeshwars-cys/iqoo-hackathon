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Oval 2"/>
          <p:cNvSpPr/>
          <p:nvPr/>
        </p:nvSpPr>
        <p:spPr>
          <a:xfrm>
            <a:off x="9993096" y="2666514"/>
            <a:ext cx="31089" cy="31089"/>
          </a:xfrm>
          <a:prstGeom prst="ellipse">
            <a:avLst/>
          </a:prstGeom>
          <a:solidFill>
            <a:srgbClr val="12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Oval 3"/>
          <p:cNvSpPr/>
          <p:nvPr/>
        </p:nvSpPr>
        <p:spPr>
          <a:xfrm>
            <a:off x="7032331" y="2506310"/>
            <a:ext cx="31089" cy="31089"/>
          </a:xfrm>
          <a:prstGeom prst="ellipse">
            <a:avLst/>
          </a:prstGeom>
          <a:solidFill>
            <a:srgbClr val="11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Oval 4"/>
          <p:cNvSpPr/>
          <p:nvPr/>
        </p:nvSpPr>
        <p:spPr>
          <a:xfrm>
            <a:off x="10987295" y="3199034"/>
            <a:ext cx="31089" cy="31089"/>
          </a:xfrm>
          <a:prstGeom prst="ellipse">
            <a:avLst/>
          </a:prstGeom>
          <a:solidFill>
            <a:srgbClr val="10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Oval 5"/>
          <p:cNvSpPr/>
          <p:nvPr/>
        </p:nvSpPr>
        <p:spPr>
          <a:xfrm>
            <a:off x="10859019" y="1401178"/>
            <a:ext cx="31089" cy="31089"/>
          </a:xfrm>
          <a:prstGeom prst="ellipse">
            <a:avLst/>
          </a:prstGeom>
          <a:solidFill>
            <a:srgbClr val="144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Oval 6"/>
          <p:cNvSpPr/>
          <p:nvPr/>
        </p:nvSpPr>
        <p:spPr>
          <a:xfrm>
            <a:off x="8120936" y="704590"/>
            <a:ext cx="31089" cy="31089"/>
          </a:xfrm>
          <a:prstGeom prst="ellipse">
            <a:avLst/>
          </a:prstGeom>
          <a:solidFill>
            <a:srgbClr val="12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Oval 7"/>
          <p:cNvSpPr/>
          <p:nvPr/>
        </p:nvSpPr>
        <p:spPr>
          <a:xfrm>
            <a:off x="11922438" y="3693515"/>
            <a:ext cx="31089" cy="31089"/>
          </a:xfrm>
          <a:prstGeom prst="ellipse">
            <a:avLst/>
          </a:prstGeom>
          <a:solidFill>
            <a:srgbClr val="134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Oval 8"/>
          <p:cNvSpPr/>
          <p:nvPr/>
        </p:nvSpPr>
        <p:spPr>
          <a:xfrm>
            <a:off x="10806312" y="1474081"/>
            <a:ext cx="31089" cy="31089"/>
          </a:xfrm>
          <a:prstGeom prst="ellipse">
            <a:avLst/>
          </a:prstGeom>
          <a:solidFill>
            <a:srgbClr val="10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Oval 9"/>
          <p:cNvSpPr/>
          <p:nvPr/>
        </p:nvSpPr>
        <p:spPr>
          <a:xfrm>
            <a:off x="7265167" y="5567241"/>
            <a:ext cx="31089" cy="31089"/>
          </a:xfrm>
          <a:prstGeom prst="ellipse">
            <a:avLst/>
          </a:prstGeom>
          <a:solidFill>
            <a:srgbClr val="1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Oval 10"/>
          <p:cNvSpPr/>
          <p:nvPr/>
        </p:nvSpPr>
        <p:spPr>
          <a:xfrm>
            <a:off x="6411374" y="5300157"/>
            <a:ext cx="31089" cy="31089"/>
          </a:xfrm>
          <a:prstGeom prst="ellipse">
            <a:avLst/>
          </a:prstGeom>
          <a:solidFill>
            <a:srgbClr val="13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Oval 11"/>
          <p:cNvSpPr/>
          <p:nvPr/>
        </p:nvSpPr>
        <p:spPr>
          <a:xfrm>
            <a:off x="8157198" y="1996346"/>
            <a:ext cx="31089" cy="31089"/>
          </a:xfrm>
          <a:prstGeom prst="ellipse">
            <a:avLst/>
          </a:prstGeom>
          <a:solidFill>
            <a:srgbClr val="10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Oval 12"/>
          <p:cNvSpPr/>
          <p:nvPr/>
        </p:nvSpPr>
        <p:spPr>
          <a:xfrm>
            <a:off x="6802336" y="4948892"/>
            <a:ext cx="31089" cy="31089"/>
          </a:xfrm>
          <a:prstGeom prst="ellipse">
            <a:avLst/>
          </a:prstGeom>
          <a:solidFill>
            <a:srgbClr val="134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Oval 13"/>
          <p:cNvSpPr/>
          <p:nvPr/>
        </p:nvSpPr>
        <p:spPr>
          <a:xfrm>
            <a:off x="8818900" y="5845229"/>
            <a:ext cx="31089" cy="31089"/>
          </a:xfrm>
          <a:prstGeom prst="ellipse">
            <a:avLst/>
          </a:prstGeom>
          <a:solidFill>
            <a:srgbClr val="10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Oval 14"/>
          <p:cNvSpPr/>
          <p:nvPr/>
        </p:nvSpPr>
        <p:spPr>
          <a:xfrm>
            <a:off x="7028174" y="6173659"/>
            <a:ext cx="31089" cy="31089"/>
          </a:xfrm>
          <a:prstGeom prst="ellipse">
            <a:avLst/>
          </a:prstGeom>
          <a:solidFill>
            <a:srgbClr val="12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Oval 15"/>
          <p:cNvSpPr/>
          <p:nvPr/>
        </p:nvSpPr>
        <p:spPr>
          <a:xfrm>
            <a:off x="9903012" y="2842423"/>
            <a:ext cx="31089" cy="31089"/>
          </a:xfrm>
          <a:prstGeom prst="ellipse">
            <a:avLst/>
          </a:prstGeom>
          <a:solidFill>
            <a:srgbClr val="144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Oval 16"/>
          <p:cNvSpPr/>
          <p:nvPr/>
        </p:nvSpPr>
        <p:spPr>
          <a:xfrm>
            <a:off x="6611330" y="545705"/>
            <a:ext cx="31089" cy="31089"/>
          </a:xfrm>
          <a:prstGeom prst="ellipse">
            <a:avLst/>
          </a:prstGeom>
          <a:solidFill>
            <a:srgbClr val="123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Oval 17"/>
          <p:cNvSpPr/>
          <p:nvPr/>
        </p:nvSpPr>
        <p:spPr>
          <a:xfrm>
            <a:off x="9095752" y="5665455"/>
            <a:ext cx="31089" cy="31089"/>
          </a:xfrm>
          <a:prstGeom prst="ellipse">
            <a:avLst/>
          </a:prstGeom>
          <a:solidFill>
            <a:srgbClr val="123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Oval 18"/>
          <p:cNvSpPr/>
          <p:nvPr/>
        </p:nvSpPr>
        <p:spPr>
          <a:xfrm>
            <a:off x="6806784" y="2391695"/>
            <a:ext cx="31089" cy="31089"/>
          </a:xfrm>
          <a:prstGeom prst="ellipse">
            <a:avLst/>
          </a:prstGeom>
          <a:solidFill>
            <a:srgbClr val="123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Oval 19"/>
          <p:cNvSpPr/>
          <p:nvPr/>
        </p:nvSpPr>
        <p:spPr>
          <a:xfrm>
            <a:off x="8223161" y="1412579"/>
            <a:ext cx="31089" cy="31089"/>
          </a:xfrm>
          <a:prstGeom prst="ellipse">
            <a:avLst/>
          </a:prstGeom>
          <a:solidFill>
            <a:srgbClr val="13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Oval 20"/>
          <p:cNvSpPr/>
          <p:nvPr/>
        </p:nvSpPr>
        <p:spPr>
          <a:xfrm>
            <a:off x="9193143" y="4897008"/>
            <a:ext cx="31089" cy="31089"/>
          </a:xfrm>
          <a:prstGeom prst="ellipse">
            <a:avLst/>
          </a:prstGeom>
          <a:solidFill>
            <a:srgbClr val="12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Oval 21"/>
          <p:cNvSpPr/>
          <p:nvPr/>
        </p:nvSpPr>
        <p:spPr>
          <a:xfrm>
            <a:off x="11474112" y="5360691"/>
            <a:ext cx="31089" cy="31089"/>
          </a:xfrm>
          <a:prstGeom prst="ellipse">
            <a:avLst/>
          </a:prstGeom>
          <a:solidFill>
            <a:srgbClr val="13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Oval 22"/>
          <p:cNvSpPr/>
          <p:nvPr/>
        </p:nvSpPr>
        <p:spPr>
          <a:xfrm>
            <a:off x="10963173" y="2426320"/>
            <a:ext cx="31089" cy="31089"/>
          </a:xfrm>
          <a:prstGeom prst="ellipse">
            <a:avLst/>
          </a:prstGeom>
          <a:solidFill>
            <a:srgbClr val="123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Oval 23"/>
          <p:cNvSpPr/>
          <p:nvPr/>
        </p:nvSpPr>
        <p:spPr>
          <a:xfrm>
            <a:off x="8208405" y="2050301"/>
            <a:ext cx="31089" cy="31089"/>
          </a:xfrm>
          <a:prstGeom prst="ellipse">
            <a:avLst/>
          </a:prstGeom>
          <a:solidFill>
            <a:srgbClr val="133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Oval 24"/>
          <p:cNvSpPr/>
          <p:nvPr/>
        </p:nvSpPr>
        <p:spPr>
          <a:xfrm>
            <a:off x="9499398" y="5568817"/>
            <a:ext cx="31089" cy="31089"/>
          </a:xfrm>
          <a:prstGeom prst="ellipse">
            <a:avLst/>
          </a:prstGeom>
          <a:solidFill>
            <a:srgbClr val="133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Oval 25"/>
          <p:cNvSpPr/>
          <p:nvPr/>
        </p:nvSpPr>
        <p:spPr>
          <a:xfrm>
            <a:off x="11582741" y="3528624"/>
            <a:ext cx="31089" cy="31089"/>
          </a:xfrm>
          <a:prstGeom prst="ellipse">
            <a:avLst/>
          </a:prstGeom>
          <a:solidFill>
            <a:srgbClr val="10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Oval 26"/>
          <p:cNvSpPr/>
          <p:nvPr/>
        </p:nvSpPr>
        <p:spPr>
          <a:xfrm>
            <a:off x="10339889" y="4978199"/>
            <a:ext cx="31089" cy="31089"/>
          </a:xfrm>
          <a:prstGeom prst="ellipse">
            <a:avLst/>
          </a:prstGeom>
          <a:solidFill>
            <a:srgbClr val="113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Oval 27"/>
          <p:cNvSpPr/>
          <p:nvPr/>
        </p:nvSpPr>
        <p:spPr>
          <a:xfrm>
            <a:off x="8695054" y="837828"/>
            <a:ext cx="31089" cy="31089"/>
          </a:xfrm>
          <a:prstGeom prst="ellipse">
            <a:avLst/>
          </a:prstGeom>
          <a:solidFill>
            <a:srgbClr val="123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Oval 28"/>
          <p:cNvSpPr/>
          <p:nvPr/>
        </p:nvSpPr>
        <p:spPr>
          <a:xfrm>
            <a:off x="8932452" y="5390258"/>
            <a:ext cx="31089" cy="31089"/>
          </a:xfrm>
          <a:prstGeom prst="ellipse">
            <a:avLst/>
          </a:prstGeom>
          <a:solidFill>
            <a:srgbClr val="144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Oval 29"/>
          <p:cNvSpPr/>
          <p:nvPr/>
        </p:nvSpPr>
        <p:spPr>
          <a:xfrm>
            <a:off x="7463539" y="3853391"/>
            <a:ext cx="31089" cy="31089"/>
          </a:xfrm>
          <a:prstGeom prst="ellipse">
            <a:avLst/>
          </a:prstGeom>
          <a:solidFill>
            <a:srgbClr val="13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Oval 30"/>
          <p:cNvSpPr/>
          <p:nvPr/>
        </p:nvSpPr>
        <p:spPr>
          <a:xfrm>
            <a:off x="8823039" y="2560276"/>
            <a:ext cx="31089" cy="31089"/>
          </a:xfrm>
          <a:prstGeom prst="ellipse">
            <a:avLst/>
          </a:prstGeom>
          <a:solidFill>
            <a:srgbClr val="133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Oval 31"/>
          <p:cNvSpPr/>
          <p:nvPr/>
        </p:nvSpPr>
        <p:spPr>
          <a:xfrm>
            <a:off x="9078203" y="5671032"/>
            <a:ext cx="31089" cy="31089"/>
          </a:xfrm>
          <a:prstGeom prst="ellipse">
            <a:avLst/>
          </a:prstGeom>
          <a:solidFill>
            <a:srgbClr val="10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Oval 32"/>
          <p:cNvSpPr/>
          <p:nvPr/>
        </p:nvSpPr>
        <p:spPr>
          <a:xfrm>
            <a:off x="9095486" y="2099862"/>
            <a:ext cx="31089" cy="31089"/>
          </a:xfrm>
          <a:prstGeom prst="ellipse">
            <a:avLst/>
          </a:prstGeom>
          <a:solidFill>
            <a:srgbClr val="10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Oval 33"/>
          <p:cNvSpPr/>
          <p:nvPr/>
        </p:nvSpPr>
        <p:spPr>
          <a:xfrm>
            <a:off x="7154342" y="5500596"/>
            <a:ext cx="31089" cy="31089"/>
          </a:xfrm>
          <a:prstGeom prst="ellipse">
            <a:avLst/>
          </a:prstGeom>
          <a:solidFill>
            <a:srgbClr val="144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Oval 34"/>
          <p:cNvSpPr/>
          <p:nvPr/>
        </p:nvSpPr>
        <p:spPr>
          <a:xfrm>
            <a:off x="8981539" y="2518452"/>
            <a:ext cx="31089" cy="31089"/>
          </a:xfrm>
          <a:prstGeom prst="ellipse">
            <a:avLst/>
          </a:prstGeom>
          <a:solidFill>
            <a:srgbClr val="10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Oval 35"/>
          <p:cNvSpPr/>
          <p:nvPr/>
        </p:nvSpPr>
        <p:spPr>
          <a:xfrm>
            <a:off x="11507614" y="967209"/>
            <a:ext cx="31089" cy="31089"/>
          </a:xfrm>
          <a:prstGeom prst="ellipse">
            <a:avLst/>
          </a:prstGeom>
          <a:solidFill>
            <a:srgbClr val="13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Oval 36"/>
          <p:cNvSpPr/>
          <p:nvPr/>
        </p:nvSpPr>
        <p:spPr>
          <a:xfrm>
            <a:off x="8853366" y="3666877"/>
            <a:ext cx="31089" cy="31089"/>
          </a:xfrm>
          <a:prstGeom prst="ellipse">
            <a:avLst/>
          </a:prstGeom>
          <a:solidFill>
            <a:srgbClr val="12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Oval 37"/>
          <p:cNvSpPr/>
          <p:nvPr/>
        </p:nvSpPr>
        <p:spPr>
          <a:xfrm>
            <a:off x="11900467" y="2520414"/>
            <a:ext cx="31089" cy="31089"/>
          </a:xfrm>
          <a:prstGeom prst="ellipse">
            <a:avLst/>
          </a:prstGeom>
          <a:solidFill>
            <a:srgbClr val="10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Oval 38"/>
          <p:cNvSpPr/>
          <p:nvPr/>
        </p:nvSpPr>
        <p:spPr>
          <a:xfrm>
            <a:off x="8546654" y="6536175"/>
            <a:ext cx="31089" cy="31089"/>
          </a:xfrm>
          <a:prstGeom prst="ellipse">
            <a:avLst/>
          </a:prstGeom>
          <a:solidFill>
            <a:srgbClr val="144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Oval 39"/>
          <p:cNvSpPr/>
          <p:nvPr/>
        </p:nvSpPr>
        <p:spPr>
          <a:xfrm>
            <a:off x="6596172" y="740876"/>
            <a:ext cx="31089" cy="31089"/>
          </a:xfrm>
          <a:prstGeom prst="ellipse">
            <a:avLst/>
          </a:prstGeom>
          <a:solidFill>
            <a:srgbClr val="134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Oval 40"/>
          <p:cNvSpPr/>
          <p:nvPr/>
        </p:nvSpPr>
        <p:spPr>
          <a:xfrm>
            <a:off x="10550721" y="6138411"/>
            <a:ext cx="31089" cy="31089"/>
          </a:xfrm>
          <a:prstGeom prst="ellipse">
            <a:avLst/>
          </a:prstGeom>
          <a:solidFill>
            <a:srgbClr val="134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Oval 41"/>
          <p:cNvSpPr/>
          <p:nvPr/>
        </p:nvSpPr>
        <p:spPr>
          <a:xfrm>
            <a:off x="7061851" y="1919996"/>
            <a:ext cx="31089" cy="31089"/>
          </a:xfrm>
          <a:prstGeom prst="ellipse">
            <a:avLst/>
          </a:prstGeom>
          <a:solidFill>
            <a:srgbClr val="10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Oval 42"/>
          <p:cNvSpPr/>
          <p:nvPr/>
        </p:nvSpPr>
        <p:spPr>
          <a:xfrm>
            <a:off x="6491665" y="6393030"/>
            <a:ext cx="31089" cy="31089"/>
          </a:xfrm>
          <a:prstGeom prst="ellipse">
            <a:avLst/>
          </a:prstGeom>
          <a:solidFill>
            <a:srgbClr val="10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Oval 43"/>
          <p:cNvSpPr/>
          <p:nvPr/>
        </p:nvSpPr>
        <p:spPr>
          <a:xfrm>
            <a:off x="7306152" y="2541280"/>
            <a:ext cx="31089" cy="31089"/>
          </a:xfrm>
          <a:prstGeom prst="ellipse">
            <a:avLst/>
          </a:prstGeom>
          <a:solidFill>
            <a:srgbClr val="11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Oval 44"/>
          <p:cNvSpPr/>
          <p:nvPr/>
        </p:nvSpPr>
        <p:spPr>
          <a:xfrm>
            <a:off x="10052635" y="2823901"/>
            <a:ext cx="31089" cy="31089"/>
          </a:xfrm>
          <a:prstGeom prst="ellipse">
            <a:avLst/>
          </a:prstGeom>
          <a:solidFill>
            <a:srgbClr val="10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Oval 45"/>
          <p:cNvSpPr/>
          <p:nvPr/>
        </p:nvSpPr>
        <p:spPr>
          <a:xfrm>
            <a:off x="6955872" y="3818098"/>
            <a:ext cx="31089" cy="31089"/>
          </a:xfrm>
          <a:prstGeom prst="ellipse">
            <a:avLst/>
          </a:prstGeom>
          <a:solidFill>
            <a:srgbClr val="113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Oval 46"/>
          <p:cNvSpPr/>
          <p:nvPr/>
        </p:nvSpPr>
        <p:spPr>
          <a:xfrm>
            <a:off x="8967587" y="6427197"/>
            <a:ext cx="31089" cy="31089"/>
          </a:xfrm>
          <a:prstGeom prst="ellipse">
            <a:avLst/>
          </a:prstGeom>
          <a:solidFill>
            <a:srgbClr val="123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Oval 47"/>
          <p:cNvSpPr/>
          <p:nvPr/>
        </p:nvSpPr>
        <p:spPr>
          <a:xfrm>
            <a:off x="11426921" y="4914820"/>
            <a:ext cx="31089" cy="31089"/>
          </a:xfrm>
          <a:prstGeom prst="ellipse">
            <a:avLst/>
          </a:prstGeom>
          <a:solidFill>
            <a:srgbClr val="1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9" name="Oval 48"/>
          <p:cNvSpPr/>
          <p:nvPr/>
        </p:nvSpPr>
        <p:spPr>
          <a:xfrm>
            <a:off x="10470097" y="2142623"/>
            <a:ext cx="31089" cy="31089"/>
          </a:xfrm>
          <a:prstGeom prst="ellipse">
            <a:avLst/>
          </a:prstGeom>
          <a:solidFill>
            <a:srgbClr val="1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Oval 49"/>
          <p:cNvSpPr/>
          <p:nvPr/>
        </p:nvSpPr>
        <p:spPr>
          <a:xfrm>
            <a:off x="9955013" y="3818023"/>
            <a:ext cx="31089" cy="31089"/>
          </a:xfrm>
          <a:prstGeom prst="ellipse">
            <a:avLst/>
          </a:prstGeom>
          <a:solidFill>
            <a:srgbClr val="133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Oval 50"/>
          <p:cNvSpPr/>
          <p:nvPr/>
        </p:nvSpPr>
        <p:spPr>
          <a:xfrm>
            <a:off x="11177668" y="4284667"/>
            <a:ext cx="31089" cy="31089"/>
          </a:xfrm>
          <a:prstGeom prst="ellipse">
            <a:avLst/>
          </a:prstGeom>
          <a:solidFill>
            <a:srgbClr val="12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Oval 51"/>
          <p:cNvSpPr/>
          <p:nvPr/>
        </p:nvSpPr>
        <p:spPr>
          <a:xfrm>
            <a:off x="8332809" y="1835833"/>
            <a:ext cx="31089" cy="31089"/>
          </a:xfrm>
          <a:prstGeom prst="ellipse">
            <a:avLst/>
          </a:prstGeom>
          <a:solidFill>
            <a:srgbClr val="13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Oval 52"/>
          <p:cNvSpPr/>
          <p:nvPr/>
        </p:nvSpPr>
        <p:spPr>
          <a:xfrm>
            <a:off x="11558469" y="3067862"/>
            <a:ext cx="31089" cy="31089"/>
          </a:xfrm>
          <a:prstGeom prst="ellipse">
            <a:avLst/>
          </a:prstGeom>
          <a:solidFill>
            <a:srgbClr val="12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4" name="Oval 53"/>
          <p:cNvSpPr/>
          <p:nvPr/>
        </p:nvSpPr>
        <p:spPr>
          <a:xfrm>
            <a:off x="6457212" y="5177321"/>
            <a:ext cx="31089" cy="31089"/>
          </a:xfrm>
          <a:prstGeom prst="ellipse">
            <a:avLst/>
          </a:prstGeom>
          <a:solidFill>
            <a:srgbClr val="0F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5" name="Oval 54"/>
          <p:cNvSpPr/>
          <p:nvPr/>
        </p:nvSpPr>
        <p:spPr>
          <a:xfrm>
            <a:off x="7808668" y="3498682"/>
            <a:ext cx="31089" cy="31089"/>
          </a:xfrm>
          <a:prstGeom prst="ellipse">
            <a:avLst/>
          </a:prstGeom>
          <a:solidFill>
            <a:srgbClr val="123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6" name="Oval 55"/>
          <p:cNvSpPr/>
          <p:nvPr/>
        </p:nvSpPr>
        <p:spPr>
          <a:xfrm>
            <a:off x="6812550" y="3200458"/>
            <a:ext cx="31089" cy="31089"/>
          </a:xfrm>
          <a:prstGeom prst="ellipse">
            <a:avLst/>
          </a:prstGeom>
          <a:solidFill>
            <a:srgbClr val="0F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Oval 56"/>
          <p:cNvSpPr/>
          <p:nvPr/>
        </p:nvSpPr>
        <p:spPr>
          <a:xfrm>
            <a:off x="8981839" y="6443250"/>
            <a:ext cx="31089" cy="31089"/>
          </a:xfrm>
          <a:prstGeom prst="ellipse">
            <a:avLst/>
          </a:prstGeom>
          <a:solidFill>
            <a:srgbClr val="123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Oval 57"/>
          <p:cNvSpPr/>
          <p:nvPr/>
        </p:nvSpPr>
        <p:spPr>
          <a:xfrm>
            <a:off x="9433677" y="6269941"/>
            <a:ext cx="31089" cy="31089"/>
          </a:xfrm>
          <a:prstGeom prst="ellipse">
            <a:avLst/>
          </a:prstGeom>
          <a:solidFill>
            <a:srgbClr val="11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9" name="Oval 58"/>
          <p:cNvSpPr/>
          <p:nvPr/>
        </p:nvSpPr>
        <p:spPr>
          <a:xfrm>
            <a:off x="8101653" y="2101000"/>
            <a:ext cx="31089" cy="31089"/>
          </a:xfrm>
          <a:prstGeom prst="ellipse">
            <a:avLst/>
          </a:prstGeom>
          <a:solidFill>
            <a:srgbClr val="113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0" name="Oval 59"/>
          <p:cNvSpPr/>
          <p:nvPr/>
        </p:nvSpPr>
        <p:spPr>
          <a:xfrm>
            <a:off x="6903506" y="1136417"/>
            <a:ext cx="31089" cy="31089"/>
          </a:xfrm>
          <a:prstGeom prst="ellipse">
            <a:avLst/>
          </a:prstGeom>
          <a:solidFill>
            <a:srgbClr val="12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1" name="Oval 60"/>
          <p:cNvSpPr/>
          <p:nvPr/>
        </p:nvSpPr>
        <p:spPr>
          <a:xfrm>
            <a:off x="6455052" y="4795524"/>
            <a:ext cx="31089" cy="31089"/>
          </a:xfrm>
          <a:prstGeom prst="ellipse">
            <a:avLst/>
          </a:prstGeom>
          <a:solidFill>
            <a:srgbClr val="1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2" name="Oval 61"/>
          <p:cNvSpPr/>
          <p:nvPr/>
        </p:nvSpPr>
        <p:spPr>
          <a:xfrm>
            <a:off x="6392947" y="1394155"/>
            <a:ext cx="31089" cy="31089"/>
          </a:xfrm>
          <a:prstGeom prst="ellipse">
            <a:avLst/>
          </a:prstGeom>
          <a:solidFill>
            <a:srgbClr val="144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Oval 62"/>
          <p:cNvSpPr/>
          <p:nvPr/>
        </p:nvSpPr>
        <p:spPr>
          <a:xfrm>
            <a:off x="11802535" y="5571023"/>
            <a:ext cx="31089" cy="31089"/>
          </a:xfrm>
          <a:prstGeom prst="ellipse">
            <a:avLst/>
          </a:prstGeom>
          <a:solidFill>
            <a:srgbClr val="11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Oval 63"/>
          <p:cNvSpPr/>
          <p:nvPr/>
        </p:nvSpPr>
        <p:spPr>
          <a:xfrm>
            <a:off x="11576947" y="626355"/>
            <a:ext cx="31089" cy="31089"/>
          </a:xfrm>
          <a:prstGeom prst="ellipse">
            <a:avLst/>
          </a:prstGeom>
          <a:solidFill>
            <a:srgbClr val="123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5" name="Oval 64"/>
          <p:cNvSpPr/>
          <p:nvPr/>
        </p:nvSpPr>
        <p:spPr>
          <a:xfrm>
            <a:off x="6924906" y="3681755"/>
            <a:ext cx="31089" cy="31089"/>
          </a:xfrm>
          <a:prstGeom prst="ellipse">
            <a:avLst/>
          </a:prstGeom>
          <a:solidFill>
            <a:srgbClr val="134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6" name="Oval 65"/>
          <p:cNvSpPr/>
          <p:nvPr/>
        </p:nvSpPr>
        <p:spPr>
          <a:xfrm>
            <a:off x="6560075" y="4587464"/>
            <a:ext cx="31089" cy="31089"/>
          </a:xfrm>
          <a:prstGeom prst="ellipse">
            <a:avLst/>
          </a:prstGeom>
          <a:solidFill>
            <a:srgbClr val="144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7" name="Oval 66"/>
          <p:cNvSpPr/>
          <p:nvPr/>
        </p:nvSpPr>
        <p:spPr>
          <a:xfrm>
            <a:off x="7114293" y="2015034"/>
            <a:ext cx="31089" cy="31089"/>
          </a:xfrm>
          <a:prstGeom prst="ellipse">
            <a:avLst/>
          </a:prstGeom>
          <a:solidFill>
            <a:srgbClr val="11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8" name="Oval 67"/>
          <p:cNvSpPr/>
          <p:nvPr/>
        </p:nvSpPr>
        <p:spPr>
          <a:xfrm>
            <a:off x="6876882" y="2650793"/>
            <a:ext cx="31089" cy="31089"/>
          </a:xfrm>
          <a:prstGeom prst="ellipse">
            <a:avLst/>
          </a:prstGeom>
          <a:solidFill>
            <a:srgbClr val="0F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9" name="Oval 68"/>
          <p:cNvSpPr/>
          <p:nvPr/>
        </p:nvSpPr>
        <p:spPr>
          <a:xfrm>
            <a:off x="8479441" y="4576601"/>
            <a:ext cx="31089" cy="31089"/>
          </a:xfrm>
          <a:prstGeom prst="ellipse">
            <a:avLst/>
          </a:prstGeom>
          <a:solidFill>
            <a:srgbClr val="13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0" name="Oval 69"/>
          <p:cNvSpPr/>
          <p:nvPr/>
        </p:nvSpPr>
        <p:spPr>
          <a:xfrm>
            <a:off x="8409057" y="2005256"/>
            <a:ext cx="31089" cy="31089"/>
          </a:xfrm>
          <a:prstGeom prst="ellipse">
            <a:avLst/>
          </a:prstGeom>
          <a:solidFill>
            <a:srgbClr val="10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1" name="Oval 70"/>
          <p:cNvSpPr/>
          <p:nvPr/>
        </p:nvSpPr>
        <p:spPr>
          <a:xfrm>
            <a:off x="9253203" y="4665797"/>
            <a:ext cx="31089" cy="31089"/>
          </a:xfrm>
          <a:prstGeom prst="ellipse">
            <a:avLst/>
          </a:prstGeom>
          <a:solidFill>
            <a:srgbClr val="112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2" name="Oval 71"/>
          <p:cNvSpPr/>
          <p:nvPr/>
        </p:nvSpPr>
        <p:spPr>
          <a:xfrm>
            <a:off x="6358717" y="1564107"/>
            <a:ext cx="31089" cy="31089"/>
          </a:xfrm>
          <a:prstGeom prst="ellipse">
            <a:avLst/>
          </a:prstGeom>
          <a:solidFill>
            <a:srgbClr val="11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3" name="Oval 72"/>
          <p:cNvSpPr/>
          <p:nvPr/>
        </p:nvSpPr>
        <p:spPr>
          <a:xfrm>
            <a:off x="10831761" y="2337618"/>
            <a:ext cx="31089" cy="31089"/>
          </a:xfrm>
          <a:prstGeom prst="ellipse">
            <a:avLst/>
          </a:prstGeom>
          <a:solidFill>
            <a:srgbClr val="10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4" name="Oval 73"/>
          <p:cNvSpPr/>
          <p:nvPr/>
        </p:nvSpPr>
        <p:spPr>
          <a:xfrm>
            <a:off x="10323883" y="6567781"/>
            <a:ext cx="31089" cy="31089"/>
          </a:xfrm>
          <a:prstGeom prst="ellipse">
            <a:avLst/>
          </a:prstGeom>
          <a:solidFill>
            <a:srgbClr val="12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5" name="Oval 74"/>
          <p:cNvSpPr/>
          <p:nvPr/>
        </p:nvSpPr>
        <p:spPr>
          <a:xfrm>
            <a:off x="7975467" y="4954387"/>
            <a:ext cx="31089" cy="31089"/>
          </a:xfrm>
          <a:prstGeom prst="ellipse">
            <a:avLst/>
          </a:prstGeom>
          <a:solidFill>
            <a:srgbClr val="144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6" name="Oval 75"/>
          <p:cNvSpPr/>
          <p:nvPr/>
        </p:nvSpPr>
        <p:spPr>
          <a:xfrm>
            <a:off x="9060321" y="4787398"/>
            <a:ext cx="31089" cy="31089"/>
          </a:xfrm>
          <a:prstGeom prst="ellipse">
            <a:avLst/>
          </a:prstGeom>
          <a:solidFill>
            <a:srgbClr val="10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7" name="Oval 76"/>
          <p:cNvSpPr/>
          <p:nvPr/>
        </p:nvSpPr>
        <p:spPr>
          <a:xfrm>
            <a:off x="7043800" y="2966518"/>
            <a:ext cx="31089" cy="31089"/>
          </a:xfrm>
          <a:prstGeom prst="ellipse">
            <a:avLst/>
          </a:prstGeom>
          <a:solidFill>
            <a:srgbClr val="112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8" name="Oval 77"/>
          <p:cNvSpPr/>
          <p:nvPr/>
        </p:nvSpPr>
        <p:spPr>
          <a:xfrm>
            <a:off x="8581203" y="554373"/>
            <a:ext cx="31089" cy="31089"/>
          </a:xfrm>
          <a:prstGeom prst="ellipse">
            <a:avLst/>
          </a:prstGeom>
          <a:solidFill>
            <a:srgbClr val="112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9" name="Oval 78"/>
          <p:cNvSpPr/>
          <p:nvPr/>
        </p:nvSpPr>
        <p:spPr>
          <a:xfrm>
            <a:off x="7085702" y="4338106"/>
            <a:ext cx="31089" cy="31089"/>
          </a:xfrm>
          <a:prstGeom prst="ellipse">
            <a:avLst/>
          </a:prstGeom>
          <a:solidFill>
            <a:srgbClr val="12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0" name="Oval 79"/>
          <p:cNvSpPr/>
          <p:nvPr/>
        </p:nvSpPr>
        <p:spPr>
          <a:xfrm>
            <a:off x="6536720" y="4035133"/>
            <a:ext cx="31089" cy="31089"/>
          </a:xfrm>
          <a:prstGeom prst="ellipse">
            <a:avLst/>
          </a:prstGeom>
          <a:solidFill>
            <a:srgbClr val="144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1" name="Oval 80"/>
          <p:cNvSpPr/>
          <p:nvPr/>
        </p:nvSpPr>
        <p:spPr>
          <a:xfrm>
            <a:off x="11690713" y="1135917"/>
            <a:ext cx="31089" cy="31089"/>
          </a:xfrm>
          <a:prstGeom prst="ellipse">
            <a:avLst/>
          </a:prstGeom>
          <a:solidFill>
            <a:srgbClr val="123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2" name="Oval 81"/>
          <p:cNvSpPr/>
          <p:nvPr/>
        </p:nvSpPr>
        <p:spPr>
          <a:xfrm>
            <a:off x="9052216" y="2943081"/>
            <a:ext cx="31089" cy="31089"/>
          </a:xfrm>
          <a:prstGeom prst="ellipse">
            <a:avLst/>
          </a:prstGeom>
          <a:solidFill>
            <a:srgbClr val="102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3" name="Oval 82"/>
          <p:cNvSpPr/>
          <p:nvPr/>
        </p:nvSpPr>
        <p:spPr>
          <a:xfrm>
            <a:off x="7285844" y="5992494"/>
            <a:ext cx="31089" cy="31089"/>
          </a:xfrm>
          <a:prstGeom prst="ellipse">
            <a:avLst/>
          </a:prstGeom>
          <a:solidFill>
            <a:srgbClr val="13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4" name="Oval 83"/>
          <p:cNvSpPr/>
          <p:nvPr/>
        </p:nvSpPr>
        <p:spPr>
          <a:xfrm>
            <a:off x="7245890" y="799814"/>
            <a:ext cx="31089" cy="31089"/>
          </a:xfrm>
          <a:prstGeom prst="ellipse">
            <a:avLst/>
          </a:prstGeom>
          <a:solidFill>
            <a:srgbClr val="0F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5" name="Oval 84"/>
          <p:cNvSpPr/>
          <p:nvPr/>
        </p:nvSpPr>
        <p:spPr>
          <a:xfrm>
            <a:off x="9422815" y="5221141"/>
            <a:ext cx="31089" cy="31089"/>
          </a:xfrm>
          <a:prstGeom prst="ellipse">
            <a:avLst/>
          </a:prstGeom>
          <a:solidFill>
            <a:srgbClr val="144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6" name="Oval 85"/>
          <p:cNvSpPr/>
          <p:nvPr/>
        </p:nvSpPr>
        <p:spPr>
          <a:xfrm>
            <a:off x="8155356" y="3009122"/>
            <a:ext cx="31089" cy="31089"/>
          </a:xfrm>
          <a:prstGeom prst="ellipse">
            <a:avLst/>
          </a:prstGeom>
          <a:solidFill>
            <a:srgbClr val="134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7" name="Oval 86"/>
          <p:cNvSpPr/>
          <p:nvPr/>
        </p:nvSpPr>
        <p:spPr>
          <a:xfrm>
            <a:off x="7659600" y="2054739"/>
            <a:ext cx="31089" cy="31089"/>
          </a:xfrm>
          <a:prstGeom prst="ellipse">
            <a:avLst/>
          </a:prstGeom>
          <a:solidFill>
            <a:srgbClr val="1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8" name="Oval 87"/>
          <p:cNvSpPr/>
          <p:nvPr/>
        </p:nvSpPr>
        <p:spPr>
          <a:xfrm>
            <a:off x="9722796" y="2692827"/>
            <a:ext cx="31089" cy="31089"/>
          </a:xfrm>
          <a:prstGeom prst="ellipse">
            <a:avLst/>
          </a:prstGeom>
          <a:solidFill>
            <a:srgbClr val="112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9" name="Oval 88"/>
          <p:cNvSpPr/>
          <p:nvPr/>
        </p:nvSpPr>
        <p:spPr>
          <a:xfrm>
            <a:off x="11188484" y="5141126"/>
            <a:ext cx="31089" cy="31089"/>
          </a:xfrm>
          <a:prstGeom prst="ellipse">
            <a:avLst/>
          </a:prstGeom>
          <a:solidFill>
            <a:srgbClr val="1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0" name="Oval 89"/>
          <p:cNvSpPr/>
          <p:nvPr/>
        </p:nvSpPr>
        <p:spPr>
          <a:xfrm>
            <a:off x="9142325" y="3289683"/>
            <a:ext cx="31089" cy="31089"/>
          </a:xfrm>
          <a:prstGeom prst="ellipse">
            <a:avLst/>
          </a:prstGeom>
          <a:solidFill>
            <a:srgbClr val="144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1" name="Oval 90"/>
          <p:cNvSpPr/>
          <p:nvPr/>
        </p:nvSpPr>
        <p:spPr>
          <a:xfrm>
            <a:off x="7544441" y="1569870"/>
            <a:ext cx="31089" cy="31089"/>
          </a:xfrm>
          <a:prstGeom prst="ellipse">
            <a:avLst/>
          </a:prstGeom>
          <a:solidFill>
            <a:srgbClr val="13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2" name="Oval 91"/>
          <p:cNvSpPr/>
          <p:nvPr/>
        </p:nvSpPr>
        <p:spPr>
          <a:xfrm>
            <a:off x="11884010" y="5034697"/>
            <a:ext cx="31089" cy="31089"/>
          </a:xfrm>
          <a:prstGeom prst="ellipse">
            <a:avLst/>
          </a:prstGeom>
          <a:solidFill>
            <a:srgbClr val="134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3" name="Oval 92"/>
          <p:cNvSpPr/>
          <p:nvPr/>
        </p:nvSpPr>
        <p:spPr>
          <a:xfrm>
            <a:off x="11366451" y="2294761"/>
            <a:ext cx="31089" cy="31089"/>
          </a:xfrm>
          <a:prstGeom prst="ellipse">
            <a:avLst/>
          </a:prstGeom>
          <a:solidFill>
            <a:srgbClr val="11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4" name="Oval 93"/>
          <p:cNvSpPr/>
          <p:nvPr/>
        </p:nvSpPr>
        <p:spPr>
          <a:xfrm>
            <a:off x="6571930" y="1759515"/>
            <a:ext cx="31089" cy="31089"/>
          </a:xfrm>
          <a:prstGeom prst="ellipse">
            <a:avLst/>
          </a:prstGeom>
          <a:solidFill>
            <a:srgbClr val="12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5" name="Oval 94"/>
          <p:cNvSpPr/>
          <p:nvPr/>
        </p:nvSpPr>
        <p:spPr>
          <a:xfrm>
            <a:off x="10385637" y="2330452"/>
            <a:ext cx="31089" cy="31089"/>
          </a:xfrm>
          <a:prstGeom prst="ellipse">
            <a:avLst/>
          </a:prstGeom>
          <a:solidFill>
            <a:srgbClr val="144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6" name="Oval 95"/>
          <p:cNvSpPr/>
          <p:nvPr/>
        </p:nvSpPr>
        <p:spPr>
          <a:xfrm>
            <a:off x="10577190" y="480094"/>
            <a:ext cx="31089" cy="31089"/>
          </a:xfrm>
          <a:prstGeom prst="ellipse">
            <a:avLst/>
          </a:prstGeom>
          <a:solidFill>
            <a:srgbClr val="11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7" name="Oval 96"/>
          <p:cNvSpPr/>
          <p:nvPr/>
        </p:nvSpPr>
        <p:spPr>
          <a:xfrm>
            <a:off x="10393795" y="3206086"/>
            <a:ext cx="31089" cy="31089"/>
          </a:xfrm>
          <a:prstGeom prst="ellipse">
            <a:avLst/>
          </a:prstGeom>
          <a:solidFill>
            <a:srgbClr val="133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8" name="Oval 97"/>
          <p:cNvSpPr/>
          <p:nvPr/>
        </p:nvSpPr>
        <p:spPr>
          <a:xfrm>
            <a:off x="10723560" y="4900215"/>
            <a:ext cx="31089" cy="31089"/>
          </a:xfrm>
          <a:prstGeom prst="ellipse">
            <a:avLst/>
          </a:prstGeom>
          <a:solidFill>
            <a:srgbClr val="134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9" name="Oval 98"/>
          <p:cNvSpPr/>
          <p:nvPr/>
        </p:nvSpPr>
        <p:spPr>
          <a:xfrm>
            <a:off x="11324324" y="2236060"/>
            <a:ext cx="31089" cy="31089"/>
          </a:xfrm>
          <a:prstGeom prst="ellipse">
            <a:avLst/>
          </a:prstGeom>
          <a:solidFill>
            <a:srgbClr val="13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0" name="Oval 99"/>
          <p:cNvSpPr/>
          <p:nvPr/>
        </p:nvSpPr>
        <p:spPr>
          <a:xfrm>
            <a:off x="10686390" y="5833387"/>
            <a:ext cx="31089" cy="31089"/>
          </a:xfrm>
          <a:prstGeom prst="ellipse">
            <a:avLst/>
          </a:prstGeom>
          <a:solidFill>
            <a:srgbClr val="10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1" name="Oval 100"/>
          <p:cNvSpPr/>
          <p:nvPr/>
        </p:nvSpPr>
        <p:spPr>
          <a:xfrm>
            <a:off x="9523647" y="1524286"/>
            <a:ext cx="31089" cy="31089"/>
          </a:xfrm>
          <a:prstGeom prst="ellipse">
            <a:avLst/>
          </a:prstGeom>
          <a:solidFill>
            <a:srgbClr val="10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2" name="Oval 101"/>
          <p:cNvSpPr/>
          <p:nvPr/>
        </p:nvSpPr>
        <p:spPr>
          <a:xfrm>
            <a:off x="10789083" y="2457391"/>
            <a:ext cx="31089" cy="31089"/>
          </a:xfrm>
          <a:prstGeom prst="ellipse">
            <a:avLst/>
          </a:prstGeom>
          <a:solidFill>
            <a:srgbClr val="12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3" name="Oval 102"/>
          <p:cNvSpPr/>
          <p:nvPr/>
        </p:nvSpPr>
        <p:spPr>
          <a:xfrm>
            <a:off x="9799056" y="3838141"/>
            <a:ext cx="31089" cy="31089"/>
          </a:xfrm>
          <a:prstGeom prst="ellipse">
            <a:avLst/>
          </a:prstGeom>
          <a:solidFill>
            <a:srgbClr val="12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4" name="Oval 103"/>
          <p:cNvSpPr/>
          <p:nvPr/>
        </p:nvSpPr>
        <p:spPr>
          <a:xfrm>
            <a:off x="9246034" y="3724802"/>
            <a:ext cx="31089" cy="31089"/>
          </a:xfrm>
          <a:prstGeom prst="ellipse">
            <a:avLst/>
          </a:prstGeom>
          <a:solidFill>
            <a:srgbClr val="123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5" name="Oval 104"/>
          <p:cNvSpPr/>
          <p:nvPr/>
        </p:nvSpPr>
        <p:spPr>
          <a:xfrm>
            <a:off x="11905491" y="1416538"/>
            <a:ext cx="31089" cy="31089"/>
          </a:xfrm>
          <a:prstGeom prst="ellipse">
            <a:avLst/>
          </a:prstGeom>
          <a:solidFill>
            <a:srgbClr val="123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6" name="Oval 105"/>
          <p:cNvSpPr/>
          <p:nvPr/>
        </p:nvSpPr>
        <p:spPr>
          <a:xfrm>
            <a:off x="10957063" y="1877970"/>
            <a:ext cx="31089" cy="31089"/>
          </a:xfrm>
          <a:prstGeom prst="ellipse">
            <a:avLst/>
          </a:prstGeom>
          <a:solidFill>
            <a:srgbClr val="102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7" name="Oval 106"/>
          <p:cNvSpPr/>
          <p:nvPr/>
        </p:nvSpPr>
        <p:spPr>
          <a:xfrm>
            <a:off x="11905009" y="437396"/>
            <a:ext cx="31089" cy="31089"/>
          </a:xfrm>
          <a:prstGeom prst="ellipse">
            <a:avLst/>
          </a:prstGeom>
          <a:solidFill>
            <a:srgbClr val="10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8" name="Oval 107"/>
          <p:cNvSpPr/>
          <p:nvPr/>
        </p:nvSpPr>
        <p:spPr>
          <a:xfrm>
            <a:off x="7890218" y="2821214"/>
            <a:ext cx="31089" cy="31089"/>
          </a:xfrm>
          <a:prstGeom prst="ellipse">
            <a:avLst/>
          </a:prstGeom>
          <a:solidFill>
            <a:srgbClr val="1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9" name="Oval 108"/>
          <p:cNvSpPr/>
          <p:nvPr/>
        </p:nvSpPr>
        <p:spPr>
          <a:xfrm>
            <a:off x="10322711" y="6049883"/>
            <a:ext cx="31089" cy="31089"/>
          </a:xfrm>
          <a:prstGeom prst="ellipse">
            <a:avLst/>
          </a:prstGeom>
          <a:solidFill>
            <a:srgbClr val="12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0" name="Oval 109"/>
          <p:cNvSpPr/>
          <p:nvPr/>
        </p:nvSpPr>
        <p:spPr>
          <a:xfrm>
            <a:off x="9881691" y="2746968"/>
            <a:ext cx="31089" cy="31089"/>
          </a:xfrm>
          <a:prstGeom prst="ellipse">
            <a:avLst/>
          </a:prstGeom>
          <a:solidFill>
            <a:srgbClr val="12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1" name="Oval 110"/>
          <p:cNvSpPr/>
          <p:nvPr/>
        </p:nvSpPr>
        <p:spPr>
          <a:xfrm>
            <a:off x="7097473" y="4658433"/>
            <a:ext cx="31089" cy="31089"/>
          </a:xfrm>
          <a:prstGeom prst="ellipse">
            <a:avLst/>
          </a:prstGeom>
          <a:solidFill>
            <a:srgbClr val="123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2" name="Oval 111"/>
          <p:cNvSpPr/>
          <p:nvPr/>
        </p:nvSpPr>
        <p:spPr>
          <a:xfrm>
            <a:off x="7751606" y="673173"/>
            <a:ext cx="31089" cy="31089"/>
          </a:xfrm>
          <a:prstGeom prst="ellipse">
            <a:avLst/>
          </a:prstGeom>
          <a:solidFill>
            <a:srgbClr val="112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5120640" y="0"/>
            <a:ext cx="7132320" cy="6858000"/>
          </a:xfrm>
          <a:prstGeom prst="rect">
            <a:avLst/>
          </a:prstGeom>
          <a:gradFill rotWithShape="1">
            <a:gsLst>
              <a:gs pos="0">
                <a:srgbClr val="0F172A">
                  <a:alpha val="100000"/>
                </a:srgbClr>
              </a:gs>
              <a:gs pos="45000">
                <a:srgbClr val="0F172A">
                  <a:alpha val="55000"/>
                </a:srgbClr>
              </a:gs>
              <a:gs pos="100000">
                <a:srgbClr val="0F172A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594360" y="54864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60">
                <a:solidFill>
                  <a:srgbClr val="64748B"/>
                </a:solidFill>
                <a:latin typeface="Aptos"/>
              </a:rPr>
              <a:t>IQOO HACKATHON 2026 · VAULT / POCKETRAG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94360" y="132588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FFFFFF"/>
                </a:solidFill>
                <a:latin typeface="Aptos Display"/>
              </a:rPr>
              <a:t>Your documents stay on the phone.
Your laptop gets a signed answer.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94360" y="2788920"/>
            <a:ext cx="6309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94A3B8"/>
                </a:solidFill>
                <a:latin typeface="Aptos"/>
              </a:rPr>
              <a:t>Vault is an on-device RAG system for the iQOO 15. The phone holds the corpus, the encrypted index, the encoder and the reasoner. A laptop asks over an encrypted clipboard link and receives a context capsule that is signed by a key living in StrongBox.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94360" y="4590288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123232"/>
          </a:solidFill>
          <a:ln w="762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594360" y="463143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22C55E"/>
                </a:solidFill>
                <a:latin typeface="Aptos"/>
              </a:rPr>
              <a:t>NPU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07592" y="462229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MiniLM embeddings via Qualcomm QNN HTP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94360" y="4919472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123232"/>
          </a:solidFill>
          <a:ln w="762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594360" y="496062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22C55E"/>
                </a:solidFill>
                <a:latin typeface="Aptos"/>
              </a:rPr>
              <a:t>GPU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307592" y="4951476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one reasoner: llama.cpp OpenCL or MediaPipe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94360" y="5248655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123232"/>
          </a:solidFill>
          <a:ln w="762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594360" y="5289803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22C55E"/>
                </a:solidFill>
                <a:latin typeface="Aptos"/>
              </a:rPr>
              <a:t>TEE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07592" y="528065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AES-256-GCM at rest · ECDSA-P256 capsules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94360" y="557784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123232"/>
          </a:solidFill>
          <a:ln w="762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594360" y="5618988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22C55E"/>
                </a:solidFill>
                <a:latin typeface="Aptos"/>
              </a:rPr>
              <a:t>LINK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307592" y="5609844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VAULTLINK/2 over Office Kit clipboard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498079" y="1783080"/>
            <a:ext cx="4069080" cy="3246120"/>
          </a:xfrm>
          <a:prstGeom prst="roundRect">
            <a:avLst>
              <a:gd name="adj" fmla="val 1408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7498079" y="1783080"/>
            <a:ext cx="406908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7598663" y="1865376"/>
            <a:ext cx="3867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What is in this repository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626096" y="2194560"/>
            <a:ext cx="38404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60" b="1">
                <a:solidFill>
                  <a:srgbClr val="FFFFFF"/>
                </a:solidFill>
                <a:latin typeface="Aptos"/>
              </a:rPr>
              <a:t>vault_rag_test/</a:t>
            </a:r>
          </a:p>
          <a:p>
            <a:pPr>
              <a:lnSpc>
                <a:spcPct val="122000"/>
              </a:lnSpc>
            </a:pPr>
            <a:r>
              <a:rPr sz="960" b="0">
                <a:solidFill>
                  <a:srgbClr val="94A3B8"/>
                </a:solidFill>
                <a:latin typeface="Aptos"/>
              </a:rPr>
              <a:t>Flutter + Kotlin + C++ phone app</a:t>
            </a:r>
          </a:p>
          <a:p>
            <a:pPr>
              <a:lnSpc>
                <a:spcPct val="122000"/>
              </a:lnSpc>
            </a:pPr>
            <a:r>
              <a:rPr sz="960" b="1">
                <a:solidFill>
                  <a:srgbClr val="FFFFFF"/>
                </a:solidFill>
                <a:latin typeface="Aptos"/>
              </a:rPr>
              <a:t>bridge/</a:t>
            </a:r>
          </a:p>
          <a:p>
            <a:pPr>
              <a:lnSpc>
                <a:spcPct val="122000"/>
              </a:lnSpc>
            </a:pPr>
            <a:r>
              <a:rPr sz="960" b="0">
                <a:solidFill>
                  <a:srgbClr val="94A3B8"/>
                </a:solidFill>
                <a:latin typeface="Aptos"/>
              </a:rPr>
              <a:t>desktop VaultLink client, verifier, LAN bridge server, MCP tools, eval corpus</a:t>
            </a:r>
          </a:p>
          <a:p>
            <a:pPr>
              <a:lnSpc>
                <a:spcPct val="122000"/>
              </a:lnSpc>
            </a:pPr>
            <a:r>
              <a:rPr sz="960" b="1">
                <a:solidFill>
                  <a:srgbClr val="FFFFFF"/>
                </a:solidFill>
                <a:latin typeface="Aptos"/>
              </a:rPr>
              <a:t>modelprep/</a:t>
            </a:r>
          </a:p>
          <a:p>
            <a:pPr>
              <a:lnSpc>
                <a:spcPct val="122000"/>
              </a:lnSpc>
            </a:pPr>
            <a:r>
              <a:rPr sz="960" b="0">
                <a:solidFill>
                  <a:srgbClr val="94A3B8"/>
                </a:solidFill>
                <a:latin typeface="Aptos"/>
              </a:rPr>
              <a:t>MiniLM ONNX → TFLite export + verification</a:t>
            </a:r>
          </a:p>
          <a:p>
            <a:pPr>
              <a:lnSpc>
                <a:spcPct val="122000"/>
              </a:lnSpc>
            </a:pPr>
            <a:r>
              <a:rPr sz="960" b="1">
                <a:solidFill>
                  <a:srgbClr val="FFFFFF"/>
                </a:solidFill>
                <a:latin typeface="Aptos"/>
              </a:rPr>
              <a:t>vault_video/ · deck/</a:t>
            </a:r>
          </a:p>
          <a:p>
            <a:pPr>
              <a:lnSpc>
                <a:spcPct val="122000"/>
              </a:lnSpc>
            </a:pPr>
            <a:r>
              <a:rPr sz="960" b="0">
                <a:solidFill>
                  <a:srgbClr val="94A3B8"/>
                </a:solidFill>
                <a:latin typeface="Aptos"/>
              </a:rPr>
              <a:t>Remotion explainer · this deck</a:t>
            </a:r>
          </a:p>
          <a:p>
            <a:pPr>
              <a:lnSpc>
                <a:spcPct val="122000"/>
              </a:lnSpc>
            </a:pPr>
            <a:r>
              <a:rPr sz="960" b="1">
                <a:solidFill>
                  <a:srgbClr val="FFFFFF"/>
                </a:solidFill>
                <a:latin typeface="Aptos"/>
              </a:rPr>
              <a:t>SECURITY.md · NPU_QNN.md</a:t>
            </a:r>
          </a:p>
          <a:p>
            <a:pPr>
              <a:lnSpc>
                <a:spcPct val="122000"/>
              </a:lnSpc>
            </a:pPr>
            <a:r>
              <a:rPr sz="960" b="0">
                <a:solidFill>
                  <a:srgbClr val="94A3B8"/>
                </a:solidFill>
                <a:latin typeface="Aptos"/>
              </a:rPr>
              <a:t>threat model · NPU bring-up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594360" y="6419088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4546F"/>
                </a:solidFill>
                <a:latin typeface="Aptos"/>
              </a:rPr>
              <a:t>branch vault/coprocessor-gemma-capsule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Private documents, public models, and nothing in between.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Cloud RAG uploads the corpus to answer one question. Keeping it local on a laptop puts the most sensitive data on the least controlled machine.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3529584" cy="1554480"/>
          </a:xfrm>
          <a:prstGeom prst="roundRect">
            <a:avLst>
              <a:gd name="adj" fmla="val 2941"/>
            </a:avLst>
          </a:prstGeom>
          <a:solidFill>
            <a:srgbClr val="10192E"/>
          </a:solidFill>
          <a:ln w="10160">
            <a:solidFill>
              <a:srgbClr val="6B1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3529584" cy="27432"/>
          </a:xfrm>
          <a:prstGeom prst="rect">
            <a:avLst/>
          </a:prstGeom>
          <a:solidFill>
            <a:srgbClr val="8E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2322576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Cloud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514600"/>
            <a:ext cx="3328415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919" b="0" i="0">
                <a:solidFill>
                  <a:srgbClr val="94A3B8"/>
                </a:solidFill>
                <a:latin typeface="Aptos"/>
              </a:rPr>
              <a:t>The whole corpus and its embeddings leave the device to answer a single question. Compliance ends at upload.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240280"/>
            <a:ext cx="3529584" cy="1554480"/>
          </a:xfrm>
          <a:prstGeom prst="roundRect">
            <a:avLst>
              <a:gd name="adj" fmla="val 2941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2240280"/>
            <a:ext cx="3529584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25696" y="2322576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Laptop-local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514600"/>
            <a:ext cx="3328415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919" b="0" i="0">
                <a:solidFill>
                  <a:srgbClr val="94A3B8"/>
                </a:solidFill>
                <a:latin typeface="Aptos"/>
              </a:rPr>
              <a:t>The index sits on the machine that runs browsers, plugins and IDE agents with broad file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240280"/>
            <a:ext cx="3529584" cy="1554480"/>
          </a:xfrm>
          <a:prstGeom prst="roundRect">
            <a:avLst>
              <a:gd name="adj" fmla="val 2941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55864" y="2240280"/>
            <a:ext cx="3529584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56448" y="2322576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Phones are idle 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514600"/>
            <a:ext cx="3328415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919" b="0" i="0">
                <a:solidFill>
                  <a:srgbClr val="94A3B8"/>
                </a:solidFill>
                <a:latin typeface="Aptos"/>
              </a:rPr>
              <a:t>A flagship SoC carries an NPU, a GPU and a hardware keystore, yet sits unused next to the laptop.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WHAT VAULT NEEDS TO 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25696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The corpus never leaves the 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40580"/>
            <a:ext cx="53035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94A3B8"/>
                </a:solidFill>
                <a:latin typeface="Aptos"/>
              </a:rPr>
              <a:t>Documents, chunks and the index stay on device; only the answer for one question crosses.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138928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The answer is attributable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53812"/>
            <a:ext cx="53035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94A3B8"/>
                </a:solidFill>
                <a:latin typeface="Aptos"/>
              </a:rPr>
              <a:t>A consumer can verify which device produced it and that nobody edited the quoted evidence on the way.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425696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The phone does real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640580"/>
            <a:ext cx="5212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94A3B8"/>
                </a:solidFill>
                <a:latin typeface="Aptos"/>
              </a:rPr>
              <a:t>Embeddings on the NPU and generation on the GPU, attributed from what the runtimes report, not from the SoC name.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138928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No new attack surface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353812"/>
            <a:ext cx="52120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94A3B8"/>
                </a:solidFill>
                <a:latin typeface="Aptos"/>
              </a:rPr>
              <a:t>An air-gapped build with zero network permissions; the link runs over an authenticated, encrypted clipboard protocol.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02 · OVERALL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The whole system in one picture.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The laptop never holds the corpus. It sends a sealed question and gets back a sealed, signed capsule.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84831"/>
            <a:ext cx="2834640" cy="3703320"/>
          </a:xfrm>
          <a:prstGeom prst="roundRect">
            <a:avLst>
              <a:gd name="adj" fmla="val 3225"/>
            </a:avLst>
          </a:prstGeom>
          <a:solidFill>
            <a:srgbClr val="10192E"/>
          </a:solidFill>
          <a:ln w="12700">
            <a:solidFill>
              <a:srgbClr val="2A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40664" y="5605272"/>
            <a:ext cx="25420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2304287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 spc="110">
                <a:solidFill>
                  <a:srgbClr val="FFFFFF"/>
                </a:solidFill>
                <a:latin typeface="Aptos"/>
              </a:rPr>
              <a:t>LAPTOP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87168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20">
                <a:solidFill>
                  <a:srgbClr val="64748B"/>
                </a:solidFill>
                <a:latin typeface="Aptos"/>
              </a:rPr>
              <a:t>UNTRUSTED 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2779776"/>
            <a:ext cx="2542032" cy="365760"/>
          </a:xfrm>
          <a:prstGeom prst="roundRect">
            <a:avLst>
              <a:gd name="adj" fmla="val 10000"/>
            </a:avLst>
          </a:prstGeom>
          <a:solidFill>
            <a:srgbClr val="16213B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83006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vaultlink.py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6372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4748B"/>
                </a:solidFill>
                <a:latin typeface="Aptos"/>
              </a:rPr>
              <a:t>pair · enroll · ask · verify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" y="3218688"/>
            <a:ext cx="2542032" cy="365760"/>
          </a:xfrm>
          <a:prstGeom prst="roundRect">
            <a:avLst>
              <a:gd name="adj" fmla="val 10000"/>
            </a:avLst>
          </a:prstGeom>
          <a:solidFill>
            <a:srgbClr val="16213B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326898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capsule_verify.py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1528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4748B"/>
                </a:solidFill>
                <a:latin typeface="Aptos"/>
              </a:rPr>
              <a:t>digest · ECDSA · pinned 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" y="3657600"/>
            <a:ext cx="2542032" cy="365760"/>
          </a:xfrm>
          <a:prstGeom prst="roundRect">
            <a:avLst>
              <a:gd name="adj" fmla="val 10000"/>
            </a:avLst>
          </a:prstGeom>
          <a:solidFill>
            <a:srgbClr val="16213B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3707891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DPAPI pairing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54196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4748B"/>
                </a:solidFill>
                <a:latin typeface="Aptos"/>
              </a:rPr>
              <a:t>Windows user scope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" y="4096512"/>
            <a:ext cx="2542032" cy="365760"/>
          </a:xfrm>
          <a:prstGeom prst="roundRect">
            <a:avLst>
              <a:gd name="adj" fmla="val 10000"/>
            </a:avLst>
          </a:prstGeom>
          <a:solidFill>
            <a:srgbClr val="16213B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146804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Clipboard scrub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93108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4748B"/>
                </a:solidFill>
                <a:latin typeface="Aptos"/>
              </a:rPr>
              <a:t>20 s countdown, compare-and-clear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" y="4535424"/>
            <a:ext cx="2542032" cy="365760"/>
          </a:xfrm>
          <a:prstGeom prst="roundRect">
            <a:avLst>
              <a:gd name="adj" fmla="val 10000"/>
            </a:avLst>
          </a:prstGeom>
          <a:solidFill>
            <a:srgbClr val="16213B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4585716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IDE / MCP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73202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4748B"/>
                </a:solidFill>
                <a:latin typeface="Aptos"/>
              </a:rPr>
              <a:t>optional, via LAN bridge (lan flavor)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084831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703320" y="2212848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703320" y="2340863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703320" y="2468879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703320" y="2596896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703320" y="2724912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703320" y="2852928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3703320" y="2980944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703320" y="3108960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703320" y="3236976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703320" y="3364991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3703320" y="3493008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3703320" y="3621024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3703320" y="3749039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3703320" y="3877056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703320" y="4005072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703320" y="4133087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703320" y="4261104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3703320" y="4389120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703320" y="4517136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703320" y="4645152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703320" y="4773168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703320" y="4901183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703320" y="5029200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3703320" y="5157216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703320" y="5285232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3703320" y="5413248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3703320" y="5541264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2834639" y="1810511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30">
                <a:solidFill>
                  <a:srgbClr val="64748B"/>
                </a:solidFill>
                <a:latin typeface="Aptos"/>
              </a:rPr>
              <a:t>TRUST BOUNDARY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77639" y="2331720"/>
            <a:ext cx="2743200" cy="960120"/>
          </a:xfrm>
          <a:prstGeom prst="roundRect">
            <a:avLst>
              <a:gd name="adj" fmla="val 4761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977639" y="2331720"/>
            <a:ext cx="274320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078224" y="2414015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Office Kit clipboard mirror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78224" y="2606039"/>
            <a:ext cx="2542032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Carries opaque VAULTLINK/2 frames both ways. It sees ciphertext only.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041648" y="3611880"/>
            <a:ext cx="2615184" cy="0"/>
          </a:xfrm>
          <a:prstGeom prst="line">
            <a:avLst/>
          </a:prstGeom>
          <a:ln w="1397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6579108" y="356158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0" y="0"/>
                </a:moveTo>
                <a:lnTo>
                  <a:pt x="77724" y="50292"/>
                </a:lnTo>
                <a:lnTo>
                  <a:pt x="0" y="100584"/>
                </a:lnTo>
              </a:path>
            </a:pathLst>
          </a:custGeom>
          <a:noFill/>
          <a:ln w="1397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59" y="34198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94A3B8"/>
                </a:solidFill>
                <a:latin typeface="Aptos"/>
              </a:rPr>
              <a:t>SEALED REQUEST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4041648" y="4114800"/>
            <a:ext cx="2615184" cy="0"/>
          </a:xfrm>
          <a:prstGeom prst="line">
            <a:avLst/>
          </a:prstGeom>
          <a:ln w="1397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4041648" y="4064508"/>
            <a:ext cx="77724" cy="100583"/>
          </a:xfrm>
          <a:custGeom>
            <a:avLst/>
            <a:gdLst/>
            <a:ahLst/>
            <a:cxnLst/>
            <a:rect l="l" t="t" r="r" b="b"/>
            <a:pathLst>
              <a:path w="77724" h="100583">
                <a:moveTo>
                  <a:pt x="77724" y="100583"/>
                </a:moveTo>
                <a:lnTo>
                  <a:pt x="0" y="50292"/>
                </a:lnTo>
                <a:lnTo>
                  <a:pt x="77724" y="0"/>
                </a:lnTo>
              </a:path>
            </a:pathLst>
          </a:custGeom>
          <a:noFill/>
          <a:ln w="1397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0559" y="418795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22C55E"/>
                </a:solidFill>
                <a:latin typeface="Aptos"/>
              </a:rPr>
              <a:t>SEALED + SIGNED CAPSULE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977639" y="4526280"/>
            <a:ext cx="2743200" cy="713232"/>
          </a:xfrm>
          <a:prstGeom prst="roundRect">
            <a:avLst>
              <a:gd name="adj" fmla="val 6410"/>
            </a:avLst>
          </a:prstGeom>
          <a:solidFill>
            <a:srgbClr val="10192E"/>
          </a:solidFill>
          <a:ln w="10160">
            <a:solidFill>
              <a:srgbClr val="40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3977639" y="4526280"/>
            <a:ext cx="2743200" cy="27432"/>
          </a:xfrm>
          <a:prstGeom prst="rect">
            <a:avLst/>
          </a:prstGeom>
          <a:solidFill>
            <a:srgbClr val="52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078224" y="4608576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LAN bridge (lan flavor only)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78224" y="4800600"/>
            <a:ext cx="25420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20" b="0" i="0">
                <a:solidFill>
                  <a:srgbClr val="94A3B8"/>
                </a:solidFill>
                <a:latin typeface="Aptos"/>
              </a:rPr>
              <a:t>bridge_server.py WebSocket · off in the air-gapped APK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977639" y="5376672"/>
            <a:ext cx="2743200" cy="384048"/>
          </a:xfrm>
          <a:prstGeom prst="roundRect">
            <a:avLst>
              <a:gd name="adj" fmla="val 11904"/>
            </a:avLst>
          </a:prstGeom>
          <a:solidFill>
            <a:srgbClr val="231829"/>
          </a:solidFill>
          <a:ln w="10160">
            <a:solidFill>
              <a:srgbClr val="5C1C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977639" y="546811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90">
                <a:solidFill>
                  <a:srgbClr val="DC2626"/>
                </a:solidFill>
                <a:latin typeface="Aptos"/>
              </a:rPr>
              <a:t>NO INTERNET PATH IN AIRGAP BUILD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67728" y="2084831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6967728" y="2212848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6967728" y="2340863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6967728" y="2468879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6967728" y="2596896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6967728" y="2724912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6967728" y="2852928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6967728" y="2980944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6967728" y="3108960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6967728" y="3236976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6967728" y="3364991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6967728" y="3493008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6967728" y="3621024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6967728" y="3749039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6967728" y="3877056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6967728" y="4005072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6967728" y="4133087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6967728" y="4261104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6967728" y="4389120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6967728" y="4517136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6967728" y="4645152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6967728" y="4773168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6967728" y="4901183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6967728" y="5029200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6967728" y="5157216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6967728" y="5285232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6967728" y="5413248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6967728" y="5541264"/>
            <a:ext cx="12801" cy="68580"/>
          </a:xfrm>
          <a:prstGeom prst="rect">
            <a:avLst/>
          </a:prstGeom>
          <a:solidFill>
            <a:srgbClr val="484E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0" name="Rounded Rectangle 99"/>
          <p:cNvSpPr/>
          <p:nvPr/>
        </p:nvSpPr>
        <p:spPr>
          <a:xfrm>
            <a:off x="7269480" y="2084831"/>
            <a:ext cx="4325112" cy="3703320"/>
          </a:xfrm>
          <a:prstGeom prst="roundRect">
            <a:avLst>
              <a:gd name="adj" fmla="val 2962"/>
            </a:avLst>
          </a:prstGeom>
          <a:solidFill>
            <a:srgbClr val="10192E"/>
          </a:solidFill>
          <a:ln w="12700">
            <a:solidFill>
              <a:srgbClr val="17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7269480" y="2194560"/>
            <a:ext cx="4325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 spc="110">
                <a:solidFill>
                  <a:srgbClr val="FFFFFF"/>
                </a:solidFill>
                <a:latin typeface="Aptos"/>
              </a:rPr>
              <a:t>iQOO 15 · VAULT APP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69480" y="2377440"/>
            <a:ext cx="43251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20">
                <a:solidFill>
                  <a:srgbClr val="22C55E"/>
                </a:solidFill>
                <a:latin typeface="Aptos"/>
              </a:rPr>
              <a:t>TRUSTED CORE · SM8850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434072" y="2697480"/>
            <a:ext cx="1938528" cy="841248"/>
          </a:xfrm>
          <a:prstGeom prst="roundRect">
            <a:avLst>
              <a:gd name="adj" fmla="val 5434"/>
            </a:avLst>
          </a:prstGeom>
          <a:solidFill>
            <a:srgbClr val="10192E"/>
          </a:solidFill>
          <a:ln w="10160">
            <a:solidFill>
              <a:srgbClr val="40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7434072" y="2697480"/>
            <a:ext cx="1938528" cy="27432"/>
          </a:xfrm>
          <a:prstGeom prst="rect">
            <a:avLst/>
          </a:prstGeom>
          <a:solidFill>
            <a:srgbClr val="52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7534656" y="27797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VaultLink service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534656" y="297180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19" b="0" i="0">
                <a:solidFill>
                  <a:srgbClr val="94A3B8"/>
                </a:solidFill>
                <a:latin typeface="Aptos"/>
              </a:rPr>
              <a:t>open frame · replay check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445752" y="2697480"/>
            <a:ext cx="1938528" cy="841248"/>
          </a:xfrm>
          <a:prstGeom prst="roundRect">
            <a:avLst>
              <a:gd name="adj" fmla="val 5434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9445752" y="2697480"/>
            <a:ext cx="193852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9546336" y="27797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MiniLM encoder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46336" y="297180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19" b="0" i="0">
                <a:solidFill>
                  <a:srgbClr val="94A3B8"/>
                </a:solidFill>
                <a:latin typeface="Aptos"/>
              </a:rPr>
              <a:t>QNN HTP → XNNPACK → CPU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434072" y="3685032"/>
            <a:ext cx="1938528" cy="841248"/>
          </a:xfrm>
          <a:prstGeom prst="roundRect">
            <a:avLst>
              <a:gd name="adj" fmla="val 5434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7434072" y="3685032"/>
            <a:ext cx="1938528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7534656" y="37673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Vector index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534656" y="3959352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19" b="0" i="0">
                <a:solidFill>
                  <a:srgbClr val="94A3B8"/>
                </a:solidFill>
                <a:latin typeface="Aptos"/>
              </a:rPr>
              <a:t>Float32 RAM matrix · top-K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445752" y="3685032"/>
            <a:ext cx="1938528" cy="841248"/>
          </a:xfrm>
          <a:prstGeom prst="roundRect">
            <a:avLst>
              <a:gd name="adj" fmla="val 5434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9445752" y="3685032"/>
            <a:ext cx="193852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9546336" y="37673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Encrypted store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546336" y="3959352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19" b="0" i="0">
                <a:solidFill>
                  <a:srgbClr val="94A3B8"/>
                </a:solidFill>
                <a:latin typeface="Aptos"/>
              </a:rPr>
              <a:t>SQLite · AES-GCM chunks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434072" y="4672584"/>
            <a:ext cx="1938528" cy="841248"/>
          </a:xfrm>
          <a:prstGeom prst="roundRect">
            <a:avLst>
              <a:gd name="adj" fmla="val 5434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7434072" y="4672584"/>
            <a:ext cx="1938528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7534656" y="475488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Reasoner (one)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34656" y="4946904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19" b="0" i="0">
                <a:solidFill>
                  <a:srgbClr val="94A3B8"/>
                </a:solidFill>
                <a:latin typeface="Aptos"/>
              </a:rPr>
              <a:t>llama.cpp GPU · MediaPipe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445752" y="4672584"/>
            <a:ext cx="1938528" cy="841248"/>
          </a:xfrm>
          <a:prstGeom prst="roundRect">
            <a:avLst>
              <a:gd name="adj" fmla="val 5434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9445752" y="4672584"/>
            <a:ext cx="193852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9546336" y="475488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Capsule signer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546336" y="4946904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19" b="0" i="0">
                <a:solidFill>
                  <a:srgbClr val="94A3B8"/>
                </a:solidFill>
                <a:latin typeface="Aptos"/>
              </a:rPr>
              <a:t>ECDSA-P256 · StrongBox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94360" y="5998464"/>
            <a:ext cx="1258214" cy="169164"/>
          </a:xfrm>
          <a:prstGeom prst="roundRect">
            <a:avLst>
              <a:gd name="adj" fmla="val 16216"/>
            </a:avLst>
          </a:prstGeom>
          <a:solidFill>
            <a:srgbClr val="112F31"/>
          </a:solidFill>
          <a:ln w="7620">
            <a:solidFill>
              <a:srgbClr val="166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594360" y="6024067"/>
            <a:ext cx="125821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22C55E"/>
                </a:solidFill>
                <a:latin typeface="Aptos"/>
              </a:rPr>
              <a:t>MEASURED ON DEVICE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998878" y="6016751"/>
            <a:ext cx="95591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Verified on the iQOO 15: sealed/signed capsules returned over the clipboard, StrongBox keys, llama.cpp on GPU. QNN NPU path: re-exported model pending on-device check.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03 · THE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Five parts, one protocol.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Everything below ships from one branch and is exercised by 236 Flutter tests and 66 Python tests.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3154680" cy="3749039"/>
          </a:xfrm>
          <a:prstGeom prst="roundRect">
            <a:avLst>
              <a:gd name="adj" fmla="val 1449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103120"/>
            <a:ext cx="315468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2185415"/>
            <a:ext cx="2953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vault_rag_test/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33172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100">
                <a:solidFill>
                  <a:srgbClr val="22C55E"/>
                </a:solidFill>
                <a:latin typeface="Aptos"/>
              </a:rPr>
              <a:t>PHONE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15184"/>
            <a:ext cx="2953512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lib/core — engine, chunker, tokenizer, vector store, gating path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lib/core/security — keystore, signing, clipboard TTL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lib/core/llm — capsule, prompts, llama/MediaPipe, coordinator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lib/core/qnn — HTP delegate, acceptance gates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lib/link — VaultLink v1/v2 service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lib/telemetry — probes, leases, 3 benchmark runners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android/ — Keystore, QNN, Clipboard, llama JNI channels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flavors: airgap (default) · 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9624" y="2103120"/>
            <a:ext cx="3154680" cy="3749039"/>
          </a:xfrm>
          <a:prstGeom prst="roundRect">
            <a:avLst>
              <a:gd name="adj" fmla="val 1449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49624" y="2103120"/>
            <a:ext cx="315468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50208" y="2185415"/>
            <a:ext cx="2953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bridge/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33172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100">
                <a:solidFill>
                  <a:srgbClr val="F0B429"/>
                </a:solidFill>
                <a:latin typeface="Aptos"/>
              </a:rPr>
              <a:t>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615184"/>
            <a:ext cx="2953512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testdata/vaultlink.py — pair, enroll, ask, all, verify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vault_cli/capsule_verify.py — verifier + trust store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vault_cli/vaultlink_protocol.py — v2 frames, DPAPI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bridge_server.py — FastAPI + WebSocket (lan flavor)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iqoo_mcp_server.py — 5 MCP tools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vault-embed / vault-query CLI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corpus/ + run_eval.py — labelled eval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testdata/gen_sensitive_doc.py — synthetic secrets doc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04888" y="2103120"/>
            <a:ext cx="2240280" cy="3749039"/>
          </a:xfrm>
          <a:prstGeom prst="roundRect">
            <a:avLst>
              <a:gd name="adj" fmla="val 2040"/>
            </a:avLst>
          </a:prstGeom>
          <a:solidFill>
            <a:srgbClr val="10192E"/>
          </a:solidFill>
          <a:ln w="10160">
            <a:solidFill>
              <a:srgbClr val="40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104888" y="2103120"/>
            <a:ext cx="2240280" cy="27432"/>
          </a:xfrm>
          <a:prstGeom prst="rect">
            <a:avLst/>
          </a:prstGeom>
          <a:solidFill>
            <a:srgbClr val="52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205472" y="2185415"/>
            <a:ext cx="2039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modelprep/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2331720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100">
                <a:solidFill>
                  <a:srgbClr val="7C8CF8"/>
                </a:solidFill>
                <a:latin typeface="Aptos"/>
              </a:rPr>
              <a:t>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2615184"/>
            <a:ext cx="2039112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fix_onnx.py — int32 inputs, static 1×256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convert.py — onnx2tf baseline export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export_htp.py — NPU-shaped re-export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verify.py — tokenizer, numerics, retrieval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dart_tokenizer_port.py — golden tokenizer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45752" y="2103120"/>
            <a:ext cx="2157984" cy="3749039"/>
          </a:xfrm>
          <a:prstGeom prst="roundRect">
            <a:avLst>
              <a:gd name="adj" fmla="val 2118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9445752" y="2103120"/>
            <a:ext cx="2157984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46336" y="2185415"/>
            <a:ext cx="19568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vault_video/ · deck/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6" y="2331720"/>
            <a:ext cx="19751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1" i="0" spc="100">
                <a:solidFill>
                  <a:srgbClr val="94A3B8"/>
                </a:solidFill>
                <a:latin typeface="Aptos"/>
              </a:rPr>
              <a:t>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2615184"/>
            <a:ext cx="1956815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Remotion 5-minute explainer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this deck, generated by build_deck.py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SECURITY.md — threat model and limits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NPU_QNN.md — NPU bring-up checklist</a:t>
            </a:r>
          </a:p>
          <a:p>
            <a:pPr>
              <a:lnSpc>
                <a:spcPct val="142000"/>
              </a:lnSpc>
            </a:pPr>
            <a:r>
              <a:rPr sz="919" b="0">
                <a:solidFill>
                  <a:srgbClr val="94A3B8"/>
                </a:solidFill>
                <a:latin typeface="Aptos"/>
              </a:rPr>
              <a:t>· BUILD_NOTES.md — traps and measurements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04 · VAULT APP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Five tabs over one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Screens are clients of long-lived services; nothing that must outlive a screen is owned by a widget.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2103120" cy="676656"/>
          </a:xfrm>
          <a:prstGeom prst="roundRect">
            <a:avLst>
              <a:gd name="adj" fmla="val 6756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103120"/>
            <a:ext cx="210312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2185415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Vault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377439"/>
            <a:ext cx="190195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ingest · ask · copy capsule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2103120"/>
            <a:ext cx="2103120" cy="676656"/>
          </a:xfrm>
          <a:prstGeom prst="roundRect">
            <a:avLst>
              <a:gd name="adj" fmla="val 6756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807208" y="2103120"/>
            <a:ext cx="210312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07791" y="2185415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1" y="2377439"/>
            <a:ext cx="190195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load one reasoner · QNN verdict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103120"/>
            <a:ext cx="2103120" cy="676656"/>
          </a:xfrm>
          <a:prstGeom prst="roundRect">
            <a:avLst>
              <a:gd name="adj" fmla="val 6756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020056" y="2103120"/>
            <a:ext cx="210312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20640" y="2185415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Bridge / Air-gap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77439"/>
            <a:ext cx="190195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LAN bridge (lan) or notice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32904" y="2103120"/>
            <a:ext cx="2103120" cy="676656"/>
          </a:xfrm>
          <a:prstGeom prst="roundRect">
            <a:avLst>
              <a:gd name="adj" fmla="val 6756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232904" y="2103120"/>
            <a:ext cx="210312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33488" y="2185415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2377439"/>
            <a:ext cx="190195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VaultLink session · pairing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5752" y="2103120"/>
            <a:ext cx="2103120" cy="676656"/>
          </a:xfrm>
          <a:prstGeom prst="roundRect">
            <a:avLst>
              <a:gd name="adj" fmla="val 6756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445752" y="2103120"/>
            <a:ext cx="210312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546336" y="2185415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2377439"/>
            <a:ext cx="190195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telemetry · 3 benchmarks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310127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20">
                <a:solidFill>
                  <a:srgbClr val="22C55E"/>
                </a:solidFill>
                <a:latin typeface="Aptos"/>
              </a:rPr>
              <a:t>SERVICES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54480" y="3035808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554480" y="3035808"/>
            <a:ext cx="239572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655064" y="311810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VaultEngine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55064" y="3310127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serialised encoder + store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3035808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069080" y="3035808"/>
            <a:ext cx="239572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169664" y="311810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ReasonerCoordinator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9664" y="3310127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exactly one LLM loaded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035808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583680" y="3035808"/>
            <a:ext cx="239572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84264" y="311810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VaultLinkService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4264" y="3310127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clipboard protocol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3035808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9098280" y="3035808"/>
            <a:ext cx="239572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198863" y="311810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ComputeTelemetry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8863" y="3310127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probes + leases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433425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20">
                <a:solidFill>
                  <a:srgbClr val="F0B429"/>
                </a:solidFill>
                <a:latin typeface="Aptos"/>
              </a:rPr>
              <a:t>CORE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54480" y="4059935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554480" y="4059935"/>
            <a:ext cx="2395728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655064" y="414223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Chunker + Tokenizer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55064" y="4334255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256-word windows · WordPiece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69080" y="4059935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4069080" y="4059935"/>
            <a:ext cx="2395728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169664" y="414223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MiniLM service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9664" y="4334255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QNN → XNNPACK → CPU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4059935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583680" y="4059935"/>
            <a:ext cx="2395728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684264" y="414223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VectorStore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84264" y="4334255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AES-GCM SQLite + RAM matrix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98280" y="4059935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9098280" y="4059935"/>
            <a:ext cx="2395728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98863" y="414223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Capsule + Signer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98863" y="4334255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schema · canonical · ECDSA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53583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20">
                <a:solidFill>
                  <a:srgbClr val="7C8CF8"/>
                </a:solidFill>
                <a:latin typeface="Aptos"/>
              </a:rPr>
              <a:t>NATIVE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554480" y="5084064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40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554480" y="5084064"/>
            <a:ext cx="2395728" cy="27432"/>
          </a:xfrm>
          <a:prstGeom prst="rect">
            <a:avLst/>
          </a:prstGeom>
          <a:solidFill>
            <a:srgbClr val="52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655064" y="51663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KeystoreChannel.kt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55064" y="535838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AES + ECDSA in StrongBox/TEE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69080" y="5084064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40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4069080" y="5084064"/>
            <a:ext cx="2395728" cy="27432"/>
          </a:xfrm>
          <a:prstGeom prst="rect">
            <a:avLst/>
          </a:prstGeom>
          <a:solidFill>
            <a:srgbClr val="52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4169664" y="51663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QnnChannel + qnn shim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69664" y="535838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Hexagon HTP delegate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0" y="5084064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40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6583680" y="5084064"/>
            <a:ext cx="2395728" cy="27432"/>
          </a:xfrm>
          <a:prstGeom prst="rect">
            <a:avLst/>
          </a:prstGeom>
          <a:solidFill>
            <a:srgbClr val="52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684264" y="51663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llama JNI (C++)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84264" y="535838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GGUF · OpenCL Adreno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98280" y="5084064"/>
            <a:ext cx="2395728" cy="786384"/>
          </a:xfrm>
          <a:prstGeom prst="roundRect">
            <a:avLst>
              <a:gd name="adj" fmla="val 5813"/>
            </a:avLst>
          </a:prstGeom>
          <a:solidFill>
            <a:srgbClr val="10192E"/>
          </a:solidFill>
          <a:ln w="10160">
            <a:solidFill>
              <a:srgbClr val="40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9098280" y="5084064"/>
            <a:ext cx="2395728" cy="27432"/>
          </a:xfrm>
          <a:prstGeom prst="rect">
            <a:avLst/>
          </a:prstGeom>
          <a:solidFill>
            <a:srgbClr val="52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9198863" y="51663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ptos"/>
              </a:rPr>
              <a:t>LlmChannel.kt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98863" y="535838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MediaPipe Gemma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4360" y="5998464"/>
            <a:ext cx="691286" cy="169164"/>
          </a:xfrm>
          <a:prstGeom prst="roundRect">
            <a:avLst>
              <a:gd name="adj" fmla="val 16216"/>
            </a:avLst>
          </a:prstGeom>
          <a:solidFill>
            <a:srgbClr val="112F31"/>
          </a:solidFill>
          <a:ln w="7620">
            <a:solidFill>
              <a:srgbClr val="166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594360" y="6024067"/>
            <a:ext cx="69128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22C55E"/>
                </a:solidFill>
                <a:latin typeface="Aptos"/>
              </a:rPr>
              <a:t>VERIFIED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1950" y="6016751"/>
            <a:ext cx="1012606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flutter analyze clean · 236 Flutter tests · airgap and lan release APKs build (153 MB, arm64-v8a).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05 · VAULT · INGEST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From a file to an encrypted, searchable chunk.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Text is encrypted before it reaches SQLite, and only indexed after the write succeeds, so RAM and disk never disagree.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1711451" cy="1143000"/>
          </a:xfrm>
          <a:prstGeom prst="roundRect">
            <a:avLst>
              <a:gd name="adj" fmla="val 4000"/>
            </a:avLst>
          </a:prstGeom>
          <a:solidFill>
            <a:srgbClr val="10192E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1711451" cy="29260"/>
          </a:xfrm>
          <a:prstGeom prst="rect">
            <a:avLst/>
          </a:prstGeom>
          <a:solidFill>
            <a:srgbClr val="197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2376" y="2295144"/>
            <a:ext cx="14554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">
                <a:solidFill>
                  <a:srgbClr val="FFFFFF"/>
                </a:solidFill>
                <a:latin typeface="Aptos"/>
              </a:rPr>
              <a:t>Pick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96312"/>
            <a:ext cx="1455419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System document picker, per-file grant, no storage permission. Text formats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383280"/>
            <a:ext cx="15285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60">
                <a:solidFill>
                  <a:srgbClr val="22C55E"/>
                </a:solidFill>
                <a:latin typeface="Aptos"/>
              </a:rPr>
              <a:t>ON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5812" y="262890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4546F"/>
                </a:solidFill>
                <a:latin typeface="Apto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2115" y="2148840"/>
            <a:ext cx="1711451" cy="1143000"/>
          </a:xfrm>
          <a:prstGeom prst="roundRect">
            <a:avLst>
              <a:gd name="adj" fmla="val 4000"/>
            </a:avLst>
          </a:prstGeom>
          <a:solidFill>
            <a:srgbClr val="10192E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52115" y="2148840"/>
            <a:ext cx="1711451" cy="29260"/>
          </a:xfrm>
          <a:prstGeom prst="rect">
            <a:avLst/>
          </a:prstGeom>
          <a:solidFill>
            <a:srgbClr val="186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580131" y="2295144"/>
            <a:ext cx="14554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">
                <a:solidFill>
                  <a:srgbClr val="FFFFFF"/>
                </a:solidFill>
                <a:latin typeface="Aptos"/>
              </a:rPr>
              <a:t>Chunk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0131" y="2496312"/>
            <a:ext cx="1455419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256-word windows, 32-word overlap, ids in document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0131" y="3383280"/>
            <a:ext cx="15285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60">
                <a:solidFill>
                  <a:srgbClr val="22C55E"/>
                </a:solidFill>
                <a:latin typeface="Aptos"/>
              </a:rPr>
              <a:t>ON 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3567" y="262890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4546F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9872" y="2148840"/>
            <a:ext cx="1711451" cy="1143000"/>
          </a:xfrm>
          <a:prstGeom prst="roundRect">
            <a:avLst>
              <a:gd name="adj" fmla="val 4000"/>
            </a:avLst>
          </a:prstGeom>
          <a:solidFill>
            <a:srgbClr val="10192E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309872" y="2148840"/>
            <a:ext cx="1711451" cy="29260"/>
          </a:xfrm>
          <a:prstGeom prst="rect">
            <a:avLst/>
          </a:prstGeom>
          <a:solidFill>
            <a:srgbClr val="176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37887" y="2295144"/>
            <a:ext cx="14554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">
                <a:solidFill>
                  <a:srgbClr val="FFFFFF"/>
                </a:solidFill>
                <a:latin typeface="Aptos"/>
              </a:rPr>
              <a:t>Tokenize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7887" y="2496312"/>
            <a:ext cx="1455419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WordPiece port verified against HuggingFace; int32 ids padded to 256.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887" y="3383280"/>
            <a:ext cx="15285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60">
                <a:solidFill>
                  <a:srgbClr val="22C55E"/>
                </a:solidFill>
                <a:latin typeface="Aptos"/>
              </a:rPr>
              <a:t>ON 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1323" y="262890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4546F"/>
                </a:solidFill>
                <a:latin typeface="Aptos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7627" y="2148840"/>
            <a:ext cx="1711451" cy="1143000"/>
          </a:xfrm>
          <a:prstGeom prst="roundRect">
            <a:avLst>
              <a:gd name="adj" fmla="val 4000"/>
            </a:avLst>
          </a:prstGeom>
          <a:solidFill>
            <a:srgbClr val="10192E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67627" y="2148840"/>
            <a:ext cx="1711451" cy="29260"/>
          </a:xfrm>
          <a:prstGeom prst="rect">
            <a:avLst/>
          </a:prstGeom>
          <a:solidFill>
            <a:srgbClr val="165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95643" y="2295144"/>
            <a:ext cx="14554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">
                <a:solidFill>
                  <a:srgbClr val="FFFFFF"/>
                </a:solidFill>
                <a:latin typeface="Aptos"/>
              </a:rPr>
              <a:t>Embed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5643" y="2496312"/>
            <a:ext cx="1455419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MiniLM-L6-v2, 384-d, mean-pooled and L2-normalised.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5643" y="3383280"/>
            <a:ext cx="15285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60">
                <a:solidFill>
                  <a:srgbClr val="22C55E"/>
                </a:solidFill>
                <a:latin typeface="Aptos"/>
              </a:rPr>
              <a:t>NPU · QNN HTP / CPU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9079" y="262890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4546F"/>
                </a:solidFill>
                <a:latin typeface="Aptos"/>
              </a:rP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5383" y="2148840"/>
            <a:ext cx="1711451" cy="1143000"/>
          </a:xfrm>
          <a:prstGeom prst="roundRect">
            <a:avLst>
              <a:gd name="adj" fmla="val 4000"/>
            </a:avLst>
          </a:prstGeom>
          <a:solidFill>
            <a:srgbClr val="10192E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25383" y="2148840"/>
            <a:ext cx="1711451" cy="29260"/>
          </a:xfrm>
          <a:prstGeom prst="rect">
            <a:avLst/>
          </a:prstGeom>
          <a:solidFill>
            <a:srgbClr val="14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53399" y="2295144"/>
            <a:ext cx="14554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">
                <a:solidFill>
                  <a:srgbClr val="FFFFFF"/>
                </a:solidFill>
                <a:latin typeface="Aptos"/>
              </a:rPr>
              <a:t>Encrypt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3399" y="2496312"/>
            <a:ext cx="1455419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AES-256-GCM in AndroidKeyStore, fresh 12-byte IV per chunk.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3399" y="3383280"/>
            <a:ext cx="15285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60">
                <a:solidFill>
                  <a:srgbClr val="22C55E"/>
                </a:solidFill>
                <a:latin typeface="Aptos"/>
              </a:rPr>
              <a:t>STRONGBOX / TEE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6835" y="262890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4546F"/>
                </a:solidFill>
                <a:latin typeface="Aptos"/>
              </a:rPr>
              <a:t>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83139" y="2148840"/>
            <a:ext cx="1711451" cy="1143000"/>
          </a:xfrm>
          <a:prstGeom prst="roundRect">
            <a:avLst>
              <a:gd name="adj" fmla="val 4000"/>
            </a:avLst>
          </a:prstGeom>
          <a:solidFill>
            <a:srgbClr val="10192E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883139" y="2148840"/>
            <a:ext cx="1711451" cy="29260"/>
          </a:xfrm>
          <a:prstGeom prst="rect">
            <a:avLst/>
          </a:prstGeom>
          <a:solidFill>
            <a:srgbClr val="134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011156" y="2295144"/>
            <a:ext cx="14554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40">
                <a:solidFill>
                  <a:srgbClr val="FFFFFF"/>
                </a:solidFill>
                <a:latin typeface="Aptos"/>
              </a:rPr>
              <a:t>Store + index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1156" y="2496312"/>
            <a:ext cx="1455419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SQLite row (content_cipher, embedding), then the RAM matrix.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1156" y="3383280"/>
            <a:ext cx="15285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60">
                <a:solidFill>
                  <a:srgbClr val="22C55E"/>
                </a:solidFill>
                <a:latin typeface="Aptos"/>
              </a:rPr>
              <a:t>ON PHONE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391363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594360" y="4114800"/>
            <a:ext cx="5394960" cy="1691640"/>
          </a:xfrm>
          <a:prstGeom prst="roundRect">
            <a:avLst>
              <a:gd name="adj" fmla="val 2162"/>
            </a:avLst>
          </a:prstGeom>
          <a:solidFill>
            <a:srgbClr val="0B1120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22376" y="4206240"/>
            <a:ext cx="5138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 spc="110">
                <a:solidFill>
                  <a:srgbClr val="64748B"/>
                </a:solidFill>
                <a:latin typeface="Aptos"/>
              </a:rPr>
              <a:t>SCHEMA V2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4425696"/>
            <a:ext cx="5138928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CREATE TABLE chunks (</a:t>
            </a:r>
          </a:p>
          <a:p>
            <a:pPr>
              <a:lnSpc>
                <a:spcPct val="112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  id             TEXT PRIMARY KEY,</a:t>
            </a:r>
          </a:p>
          <a:p>
            <a:pPr>
              <a:lnSpc>
                <a:spcPct val="112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  file_name      TEXT NOT NULL,</a:t>
            </a:r>
          </a:p>
          <a:p>
            <a:pPr>
              <a:lnSpc>
                <a:spcPct val="112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  content_cipher BLOB NOT NULL,  -- IV(12) || ct || tag(16)</a:t>
            </a:r>
          </a:p>
          <a:p>
            <a:pPr>
              <a:lnSpc>
                <a:spcPct val="112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  embedding      BLOB NOT NULL   -- 384 × float32 LE</a:t>
            </a:r>
          </a:p>
          <a:p>
            <a:pPr>
              <a:lnSpc>
                <a:spcPct val="112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);   PRAGMA user_version = 2; secure_delete = 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114800"/>
            <a:ext cx="5349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Migration never loses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329684"/>
            <a:ext cx="5349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30" b="0" i="0">
                <a:solidFill>
                  <a:srgbClr val="94A3B8"/>
                </a:solidFill>
                <a:latin typeface="Aptos"/>
              </a:rPr>
              <a:t>Legacy plaintext rows are encrypted first; the table swap commits only if every row made it, then VACUUM drops old pages.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681728"/>
            <a:ext cx="5349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Fail closed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896612"/>
            <a:ext cx="5349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30" b="0" i="0">
                <a:solidFill>
                  <a:srgbClr val="94A3B8"/>
                </a:solidFill>
                <a:latin typeface="Aptos"/>
              </a:rPr>
              <a:t>A keystore refusal aborts the insert: no row, no index entry.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5248656"/>
            <a:ext cx="5349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Checked on the raw file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5349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30" b="0" i="0">
                <a:solidFill>
                  <a:srgbClr val="94A3B8"/>
                </a:solidFill>
                <a:latin typeface="Aptos"/>
              </a:rPr>
              <a:t>A plaintext marker is absent from the SQLite file bytes after a migration — tested on host.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06 · VAULT ·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From a question to a signed capsule.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Ranking touches only RAM. Only the winning chunks are read from disk and decrypted, in one keystore batch.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1755648" cy="1188720"/>
          </a:xfrm>
          <a:prstGeom prst="roundRect">
            <a:avLst>
              <a:gd name="adj" fmla="val 3846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175564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22311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Embed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423160"/>
            <a:ext cx="155448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MiniLM on the verified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22C55E"/>
                </a:solidFill>
                <a:latin typeface="Aptos"/>
              </a:rPr>
              <a:t>113–137 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54579" y="2743200"/>
            <a:ext cx="82297" cy="0"/>
          </a:xfrm>
          <a:prstGeom prst="line">
            <a:avLst/>
          </a:prstGeom>
          <a:ln w="1270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2359152" y="269290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0" y="0"/>
                </a:moveTo>
                <a:lnTo>
                  <a:pt x="77724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41448" y="2148840"/>
            <a:ext cx="1755648" cy="1188720"/>
          </a:xfrm>
          <a:prstGeom prst="roundRect">
            <a:avLst>
              <a:gd name="adj" fmla="val 3846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441448" y="2148840"/>
            <a:ext cx="1755648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542032" y="22311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Rank in 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2423160"/>
            <a:ext cx="155448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contiguous Float32List, cached norms, top-K heap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94A3B8"/>
                </a:solidFill>
                <a:latin typeface="Aptos"/>
              </a:rPr>
              <a:t>host 0.6–0.8 ms / 1k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01668" y="2743200"/>
            <a:ext cx="82296" cy="0"/>
          </a:xfrm>
          <a:prstGeom prst="line">
            <a:avLst/>
          </a:prstGeom>
          <a:ln w="1270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4206240" y="269290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0" y="0"/>
                </a:moveTo>
                <a:lnTo>
                  <a:pt x="77724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88536" y="2148840"/>
            <a:ext cx="1755648" cy="1188720"/>
          </a:xfrm>
          <a:prstGeom prst="roundRect">
            <a:avLst>
              <a:gd name="adj" fmla="val 3846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288536" y="2148840"/>
            <a:ext cx="1755648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389120" y="22311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Fetch + decrypt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423160"/>
            <a:ext cx="155448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SELECT … WHERE id IN (winners) · batch GCM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0B429"/>
                </a:solidFill>
                <a:latin typeface="Aptos"/>
              </a:rPr>
              <a:t>≈1.8 s on StrongBox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48756" y="2743200"/>
            <a:ext cx="82296" cy="0"/>
          </a:xfrm>
          <a:prstGeom prst="line">
            <a:avLst/>
          </a:prstGeom>
          <a:ln w="1270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6053328" y="269290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0" y="0"/>
                </a:moveTo>
                <a:lnTo>
                  <a:pt x="77724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35624" y="2148840"/>
            <a:ext cx="1755648" cy="1188720"/>
          </a:xfrm>
          <a:prstGeom prst="roundRect">
            <a:avLst>
              <a:gd name="adj" fmla="val 3846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35624" y="2148840"/>
            <a:ext cx="1755648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36208" y="22311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Extract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2423160"/>
            <a:ext cx="155448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best matching line, kept as the floor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94A3B8"/>
                </a:solidFill>
                <a:latin typeface="Aptos"/>
              </a:rPr>
              <a:t>ms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95844" y="2743200"/>
            <a:ext cx="82296" cy="0"/>
          </a:xfrm>
          <a:prstGeom prst="line">
            <a:avLst/>
          </a:prstGeom>
          <a:ln w="1270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7900416" y="269290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0" y="0"/>
                </a:moveTo>
                <a:lnTo>
                  <a:pt x="77724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82712" y="2148840"/>
            <a:ext cx="1755648" cy="1188720"/>
          </a:xfrm>
          <a:prstGeom prst="roundRect">
            <a:avLst>
              <a:gd name="adj" fmla="val 3846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982712" y="2148840"/>
            <a:ext cx="175564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083296" y="22311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Reason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3296" y="2423160"/>
            <a:ext cx="155448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the one loaded reasoner writes the capsule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3296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22C55E"/>
                </a:solidFill>
                <a:latin typeface="Aptos"/>
              </a:rPr>
              <a:t>15.7–18.2 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742932" y="2743200"/>
            <a:ext cx="82296" cy="0"/>
          </a:xfrm>
          <a:prstGeom prst="line">
            <a:avLst/>
          </a:prstGeom>
          <a:ln w="1270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9747504" y="269290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0" y="0"/>
                </a:moveTo>
                <a:lnTo>
                  <a:pt x="77724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829800" y="2148840"/>
            <a:ext cx="1755648" cy="1188720"/>
          </a:xfrm>
          <a:prstGeom prst="roundRect">
            <a:avLst>
              <a:gd name="adj" fmla="val 3846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9829800" y="2148840"/>
            <a:ext cx="175564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930384" y="22311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FFFFFF"/>
                </a:solidFill>
                <a:latin typeface="Aptos"/>
              </a:rPr>
              <a:t>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0384" y="2423160"/>
            <a:ext cx="155448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canonical payload → ECDSA-P256 in keystore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0384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22C55E"/>
                </a:solidFill>
                <a:latin typeface="Aptos"/>
              </a:rPr>
              <a:t>1 op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3611880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94360" y="376732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WHO WRITES THE ANSWER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069080"/>
            <a:ext cx="3520440" cy="1417320"/>
          </a:xfrm>
          <a:prstGeom prst="roundRect">
            <a:avLst>
              <a:gd name="adj" fmla="val 3225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94360" y="4069080"/>
            <a:ext cx="352044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94944" y="4151376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Reasoner loaded + generation 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" y="4343400"/>
            <a:ext cx="3319272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919" b="0" i="0">
                <a:solidFill>
                  <a:srgbClr val="94A3B8"/>
                </a:solidFill>
                <a:latin typeface="Aptos"/>
              </a:rPr>
              <a:t>The model answers every query that retrieved context, whatever the similarity score. gating_path = llm_synthesized.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51960" y="4069080"/>
            <a:ext cx="3520440" cy="1417320"/>
          </a:xfrm>
          <a:prstGeom prst="roundRect">
            <a:avLst>
              <a:gd name="adj" fmla="val 3225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4251960" y="4069080"/>
            <a:ext cx="352044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352544" y="4151376"/>
            <a:ext cx="3319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No model · generation off · nothing retrieved · generation failed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52544" y="4343400"/>
            <a:ext cx="3319272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919" b="0" i="0">
                <a:solidFill>
                  <a:srgbClr val="94A3B8"/>
                </a:solidFill>
                <a:latin typeface="Aptos"/>
              </a:rPr>
              <a:t>The extractive line is returned instead and labelled extractive_fallback. Retrieval is never lost.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09560" y="4069080"/>
            <a:ext cx="3685032" cy="1417320"/>
          </a:xfrm>
          <a:prstGeom prst="roundRect">
            <a:avLst>
              <a:gd name="adj" fmla="val 3225"/>
            </a:avLst>
          </a:prstGeom>
          <a:solidFill>
            <a:srgbClr val="10192E"/>
          </a:solidFill>
          <a:ln w="10160">
            <a:solidFill>
              <a:srgbClr val="6B1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7909560" y="4069080"/>
            <a:ext cx="3685032" cy="27432"/>
          </a:xfrm>
          <a:prstGeom prst="rect">
            <a:avLst/>
          </a:prstGeom>
          <a:solidFill>
            <a:srgbClr val="8E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010144" y="4151376"/>
            <a:ext cx="3483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Why no similarity gate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10144" y="4343400"/>
            <a:ext cx="3483864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919" b="0" i="0">
                <a:solidFill>
                  <a:srgbClr val="94A3B8"/>
                </a:solidFill>
                <a:latin typeface="Aptos"/>
              </a:rPr>
              <a:t>A 0.82 / 0.50 gate was tried and removed: on the phone it refused 3 of 5 answerable questions (scores 0.30–0.45) and bypassed the reasoner the app exists to run.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5998464"/>
            <a:ext cx="1258214" cy="169164"/>
          </a:xfrm>
          <a:prstGeom prst="roundRect">
            <a:avLst>
              <a:gd name="adj" fmla="val 16216"/>
            </a:avLst>
          </a:prstGeom>
          <a:solidFill>
            <a:srgbClr val="112F31"/>
          </a:solidFill>
          <a:ln w="7620">
            <a:solidFill>
              <a:srgbClr val="166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594360" y="6024067"/>
            <a:ext cx="125821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22C55E"/>
                </a:solidFill>
                <a:latin typeface="Aptos"/>
              </a:rPr>
              <a:t>MEASURED ON DEVICE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98878" y="6016751"/>
            <a:ext cx="95591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Timings from iQOO 15 capsules (MiniLM on XNNPACK, SmolLM2-1.7B Q4_K_M on llama.cpp GPU). Host ranking figure is not a device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07 · VAULT · THE CONTEXT CAPSULE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An answer a program can check, not a paragraph.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Fixed schema. The model fills it; the parser repairs syntax but never invents content; retrieval is always inside.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120640" cy="3749039"/>
          </a:xfrm>
          <a:prstGeom prst="roundRect">
            <a:avLst>
              <a:gd name="adj" fmla="val 975"/>
            </a:avLst>
          </a:prstGeom>
          <a:solidFill>
            <a:srgbClr val="0B1120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2376" y="2194560"/>
            <a:ext cx="486460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 spc="110">
                <a:solidFill>
                  <a:srgbClr val="64748B"/>
                </a:solidFill>
                <a:latin typeface="Aptos"/>
              </a:rPr>
              <a:t>CAPSULE.JSON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14015"/>
            <a:ext cx="4864607" cy="33649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{ "capsule_version": "1.1",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"query": "...",  "answer": "...",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"confidence": "high|medium|low|none",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"key_facts": [{ "fact", "source", "verbatim", "verified" }],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"caveats": [...],  "sources": [{ "file", "similarity" }],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"context": [{ "id", "file", "similarity", "content" }],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"extracted_answer": "...",  "extracted_from": "file:line",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"generation": { "ran", "model", "backend", "tokens", "elapsed_ms" },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"retrieval": { "encoder_backend", "encoder_hardware",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               "latency_ms", "embed_ms", "chunks_scanned" },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"gating": { "path", "top_score" },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"provenance": { "device", "enclave", "key_security_level",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   "gating_path", "timestamp", "canonical_digest",</a:t>
            </a:r>
          </a:p>
          <a:p>
            <a:pPr>
              <a:lnSpc>
                <a:spcPct val="112000"/>
              </a:lnSpc>
            </a:pPr>
            <a:r>
              <a:rPr sz="850" b="0">
                <a:solidFill>
                  <a:srgbClr val="94A3B8"/>
                </a:solidFill>
                <a:latin typeface="Consolas"/>
              </a:rPr>
              <a:t>     "signature", "public_key" }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103120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key_facts[].verified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318003"/>
            <a:ext cx="5577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True only if the quoted span really occurs in the retrieved text (whitespace-normalised substring) — an invented quote is flagged.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834639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A forgiving parser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049523"/>
            <a:ext cx="5577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Fences, chatty preambles, trailing commas, smart quotes, truncation: repaired syntactically outside string literals.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566160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The extractive floor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781044"/>
            <a:ext cx="5577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extracted_answer is present even when the model fails, so a consumer that distrusts prose has something quoted.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297680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Runtime-sourced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4512564"/>
            <a:ext cx="5577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encoder_backend and generation.backend come from what the runtimes reported, never from device branding.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5029200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Signed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244084"/>
            <a:ext cx="5577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query, answer, facts, context text, gating path, device, key level and key hash are all under the ECDSA signature (slide 12).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08 · COMPUTE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Right work, right silicon, one reasoner.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NPU for embeddings, GPU for the model, CPU for ranking, secure hardware for keys. Attribution comes from the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2670048" cy="2057400"/>
          </a:xfrm>
          <a:prstGeom prst="roundRect">
            <a:avLst>
              <a:gd name="adj" fmla="val 2666"/>
            </a:avLst>
          </a:prstGeom>
          <a:solidFill>
            <a:srgbClr val="10192E"/>
          </a:solidFill>
          <a:ln w="1270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2376" y="221284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110">
                <a:solidFill>
                  <a:srgbClr val="22C55E"/>
                </a:solidFill>
                <a:latin typeface="Aptos"/>
              </a:rPr>
              <a:t>HEXAGON NPU · V81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5059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 Display"/>
              </a:rPr>
              <a:t>MiniLM 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788920"/>
            <a:ext cx="241401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40" b="0" i="0">
                <a:solidFill>
                  <a:srgbClr val="94A3B8"/>
                </a:solidFill>
                <a:latin typeface="Aptos"/>
              </a:rPr>
              <a:t>QNN HTP delegate, FP16, burst mode. Accepted only after coverage, equivalence and latency gates; else XNNPACK.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2103120"/>
            <a:ext cx="2670048" cy="2057400"/>
          </a:xfrm>
          <a:prstGeom prst="roundRect">
            <a:avLst>
              <a:gd name="adj" fmla="val 2666"/>
            </a:avLst>
          </a:prstGeom>
          <a:solidFill>
            <a:srgbClr val="10192E"/>
          </a:solidFill>
          <a:ln w="1270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02152" y="221284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110">
                <a:solidFill>
                  <a:srgbClr val="22C55E"/>
                </a:solidFill>
                <a:latin typeface="Aptos"/>
              </a:rPr>
              <a:t>ADRENO 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45059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 Display"/>
              </a:rPr>
              <a:t>The reasoner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88920"/>
            <a:ext cx="241401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40" b="0" i="0">
                <a:solidFill>
                  <a:srgbClr val="94A3B8"/>
                </a:solidFill>
                <a:latin typeface="Aptos"/>
              </a:rPr>
              <a:t>llama.cpp GGUF on OpenCL (Qwen / SmolLM / Llama) or MediaPipe Gemma. GGML_HEXAGON stays 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2103120"/>
            <a:ext cx="2670048" cy="2057400"/>
          </a:xfrm>
          <a:prstGeom prst="roundRect">
            <a:avLst>
              <a:gd name="adj" fmla="val 2666"/>
            </a:avLst>
          </a:prstGeom>
          <a:solidFill>
            <a:srgbClr val="10192E"/>
          </a:solidFill>
          <a:ln w="12700">
            <a:solidFill>
              <a:srgbClr val="515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81928" y="221284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110">
                <a:solidFill>
                  <a:srgbClr val="94A3B8"/>
                </a:solidFill>
                <a:latin typeface="Aptos"/>
              </a:rPr>
              <a:t>ORYON CPU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45059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 Display"/>
              </a:rPr>
              <a:t>Ranking + fallbacks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788920"/>
            <a:ext cx="241401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40" b="0" i="0">
                <a:solidFill>
                  <a:srgbClr val="94A3B8"/>
                </a:solidFill>
                <a:latin typeface="Aptos"/>
              </a:rPr>
              <a:t>Top-K over the RAM matrix, XNNPACK encoder fallback, capsule parsing and JSON.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8" y="2103120"/>
            <a:ext cx="2670048" cy="2057400"/>
          </a:xfrm>
          <a:prstGeom prst="roundRect">
            <a:avLst>
              <a:gd name="adj" fmla="val 2666"/>
            </a:avLst>
          </a:prstGeom>
          <a:solidFill>
            <a:srgbClr val="10192E"/>
          </a:solidFill>
          <a:ln w="12700">
            <a:solidFill>
              <a:srgbClr val="7F6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061704" y="221284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110">
                <a:solidFill>
                  <a:srgbClr val="F0B429"/>
                </a:solidFill>
                <a:latin typeface="Aptos"/>
              </a:rPr>
              <a:t>STRONGBOX / TEE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245059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 Display"/>
              </a:rPr>
              <a:t>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2788920"/>
            <a:ext cx="241401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40" b="0" i="0">
                <a:solidFill>
                  <a:srgbClr val="94A3B8"/>
                </a:solidFill>
                <a:latin typeface="Aptos"/>
              </a:rPr>
              <a:t>AES-256-GCM chunk key and ECDSA signing key; KeyInfo reported StrongBox on the iQOO 15.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37083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49884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ONE REASONER — A HARD INVARIANT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800600"/>
            <a:ext cx="1920240" cy="566928"/>
          </a:xfrm>
          <a:prstGeom prst="roundRect">
            <a:avLst>
              <a:gd name="adj" fmla="val 8064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4360" y="4800600"/>
            <a:ext cx="192024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94944" y="4882896"/>
            <a:ext cx="1719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Load GGUF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5074920"/>
            <a:ext cx="1719072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</a:pPr>
            <a:r>
              <a:rPr sz="700" b="0" i="0">
                <a:solidFill>
                  <a:srgbClr val="94A3B8"/>
                </a:solidFill>
                <a:latin typeface="Aptos"/>
              </a:rPr>
              <a:t>llama.cpp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4800600"/>
            <a:ext cx="1371600" cy="566928"/>
          </a:xfrm>
          <a:prstGeom prst="roundRect">
            <a:avLst>
              <a:gd name="adj" fmla="val 8064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834640" y="4800600"/>
            <a:ext cx="137160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935224" y="4882896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success?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4800600"/>
            <a:ext cx="1920240" cy="566928"/>
          </a:xfrm>
          <a:prstGeom prst="roundRect">
            <a:avLst>
              <a:gd name="adj" fmla="val 8064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526280" y="4800600"/>
            <a:ext cx="192024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626864" y="4882896"/>
            <a:ext cx="1719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unload MediaPipe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5074920"/>
            <a:ext cx="1719072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</a:pPr>
            <a:r>
              <a:rPr sz="700" b="0" i="0">
                <a:solidFill>
                  <a:srgbClr val="94A3B8"/>
                </a:solidFill>
                <a:latin typeface="Aptos"/>
              </a:rPr>
              <a:t>after idle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4800600"/>
            <a:ext cx="2194560" cy="566928"/>
          </a:xfrm>
          <a:prstGeom prst="roundRect">
            <a:avLst>
              <a:gd name="adj" fmla="val 8064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766560" y="4800600"/>
            <a:ext cx="219456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67144" y="4882896"/>
            <a:ext cx="19933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persist activeReasoner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14600" y="5084064"/>
            <a:ext cx="320040" cy="0"/>
          </a:xfrm>
          <a:prstGeom prst="line">
            <a:avLst/>
          </a:prstGeom>
          <a:ln w="1270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56916" y="5033772"/>
            <a:ext cx="77724" cy="100583"/>
          </a:xfrm>
          <a:custGeom>
            <a:avLst/>
            <a:gdLst/>
            <a:ahLst/>
            <a:cxnLst/>
            <a:rect l="l" t="t" r="r" b="b"/>
            <a:pathLst>
              <a:path w="77724" h="100583">
                <a:moveTo>
                  <a:pt x="0" y="0"/>
                </a:moveTo>
                <a:lnTo>
                  <a:pt x="77724" y="50292"/>
                </a:lnTo>
                <a:lnTo>
                  <a:pt x="0" y="100583"/>
                </a:lnTo>
              </a:path>
            </a:pathLst>
          </a:custGeom>
          <a:noFill/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4206240" y="5084064"/>
            <a:ext cx="320040" cy="0"/>
          </a:xfrm>
          <a:prstGeom prst="line">
            <a:avLst/>
          </a:prstGeom>
          <a:ln w="1270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4448556" y="5033772"/>
            <a:ext cx="77724" cy="100583"/>
          </a:xfrm>
          <a:custGeom>
            <a:avLst/>
            <a:gdLst/>
            <a:ahLst/>
            <a:cxnLst/>
            <a:rect l="l" t="t" r="r" b="b"/>
            <a:pathLst>
              <a:path w="77724" h="100583">
                <a:moveTo>
                  <a:pt x="0" y="0"/>
                </a:moveTo>
                <a:lnTo>
                  <a:pt x="77724" y="50292"/>
                </a:lnTo>
                <a:lnTo>
                  <a:pt x="0" y="100583"/>
                </a:lnTo>
              </a:path>
            </a:pathLst>
          </a:custGeom>
          <a:noFill/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6446520" y="5084064"/>
            <a:ext cx="320040" cy="0"/>
          </a:xfrm>
          <a:prstGeom prst="line">
            <a:avLst/>
          </a:prstGeom>
          <a:ln w="1270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6688836" y="5033772"/>
            <a:ext cx="77724" cy="100583"/>
          </a:xfrm>
          <a:custGeom>
            <a:avLst/>
            <a:gdLst/>
            <a:ahLst/>
            <a:cxnLst/>
            <a:rect l="l" t="t" r="r" b="b"/>
            <a:pathLst>
              <a:path w="77724" h="100583">
                <a:moveTo>
                  <a:pt x="0" y="0"/>
                </a:moveTo>
                <a:lnTo>
                  <a:pt x="77724" y="50292"/>
                </a:lnTo>
                <a:lnTo>
                  <a:pt x="0" y="100583"/>
                </a:lnTo>
              </a:path>
            </a:pathLst>
          </a:custGeom>
          <a:noFill/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544068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1" i="0">
                <a:solidFill>
                  <a:srgbClr val="DC2626"/>
                </a:solidFill>
                <a:latin typeface="Aptos"/>
              </a:rPr>
              <a:t>no → nothing changes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4736592"/>
            <a:ext cx="240487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80" b="0">
                <a:solidFill>
                  <a:srgbClr val="94A3B8"/>
                </a:solidFill>
                <a:latin typeface="Aptos"/>
              </a:rPr>
              <a:t>Same rule in reverse for MediaPipe.</a:t>
            </a:r>
          </a:p>
          <a:p>
            <a:pPr>
              <a:lnSpc>
                <a:spcPct val="120000"/>
              </a:lnSpc>
            </a:pPr>
            <a:r>
              <a:rPr sz="780" b="0">
                <a:solidFill>
                  <a:srgbClr val="94A3B8"/>
                </a:solidFill>
                <a:latin typeface="Aptos"/>
              </a:rPr>
              <a:t>ask() routes to the saved selection only — never 'whichever is ready'.</a:t>
            </a:r>
          </a:p>
          <a:p>
            <a:pPr>
              <a:lnSpc>
                <a:spcPct val="120000"/>
              </a:lnSpc>
            </a:pPr>
            <a:r>
              <a:rPr sz="780" b="0">
                <a:solidFill>
                  <a:srgbClr val="94A3B8"/>
                </a:solidFill>
                <a:latin typeface="Aptos"/>
              </a:rPr>
              <a:t>Startup auto-loads only the selected runtime.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998464"/>
            <a:ext cx="1258214" cy="169164"/>
          </a:xfrm>
          <a:prstGeom prst="roundRect">
            <a:avLst>
              <a:gd name="adj" fmla="val 16216"/>
            </a:avLst>
          </a:prstGeom>
          <a:solidFill>
            <a:srgbClr val="112F31"/>
          </a:solidFill>
          <a:ln w="7620">
            <a:solidFill>
              <a:srgbClr val="166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94360" y="6024067"/>
            <a:ext cx="125821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22C55E"/>
                </a:solidFill>
                <a:latin typeface="Aptos"/>
              </a:rPr>
              <a:t>MEASURED ON DEVICE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98878" y="6016751"/>
            <a:ext cx="95591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GPU generation confirmed on device (GPU 99 % busy during decode). NPU: first export failed to build an interpreter; NPU-shaped model shipped, device check pending.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09 · NPU BRING-UP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What the Hexagon NPU needs, and how we prove it ran.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Qualcomm's QNN runtime and LiteRT delegate from Maven Central; a C shim over the external-delegate ABI; strict acceptance.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84831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BRING-UP CHECKLIST (IQOO 15 · SM8850 · V81)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59152"/>
            <a:ext cx="4160520" cy="384048"/>
          </a:xfrm>
          <a:prstGeom prst="roundRect">
            <a:avLst>
              <a:gd name="adj" fmla="val 9523"/>
            </a:avLst>
          </a:prstGeom>
          <a:solidFill>
            <a:srgbClr val="10192E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4088" y="24140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1 · Libraries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23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libQnnHtp, HtpPrepare, System, TFLiteDelegate, V81 + V79 skel/stub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16352"/>
            <a:ext cx="4160520" cy="384048"/>
          </a:xfrm>
          <a:prstGeom prst="roundRect">
            <a:avLst>
              <a:gd name="adj" fmla="val 9523"/>
            </a:avLst>
          </a:prstGeom>
          <a:solidFill>
            <a:srgbClr val="10192E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4088" y="28712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2 · Extracted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2880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useLegacyPackaging — DSP loads the skel by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73552"/>
            <a:ext cx="4160520" cy="384048"/>
          </a:xfrm>
          <a:prstGeom prst="roundRect">
            <a:avLst>
              <a:gd name="adj" fmla="val 9523"/>
            </a:avLst>
          </a:prstGeom>
          <a:solidFill>
            <a:srgbClr val="10192E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4088" y="33284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3 · FastRPC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3337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uses-native-library libcdsprpc.so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30752"/>
            <a:ext cx="4160520" cy="384048"/>
          </a:xfrm>
          <a:prstGeom prst="roundRect">
            <a:avLst>
              <a:gd name="adj" fmla="val 9523"/>
            </a:avLst>
          </a:prstGeom>
          <a:solidFill>
            <a:srgbClr val="10192E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4088" y="3785615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4 · Skel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2" y="37947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ADSP_LIBRARY_PATH + skel_library_dir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187952"/>
            <a:ext cx="4160520" cy="384048"/>
          </a:xfrm>
          <a:prstGeom prst="roundRect">
            <a:avLst>
              <a:gd name="adj" fmla="val 9523"/>
            </a:avLst>
          </a:prstGeom>
          <a:solidFill>
            <a:srgbClr val="10192E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4088" y="42428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5 · Unsigned PD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30552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htp_pd_session 0 — no Qualcomm signing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645152"/>
            <a:ext cx="4160520" cy="384048"/>
          </a:xfrm>
          <a:prstGeom prst="roundRect">
            <a:avLst>
              <a:gd name="adj" fmla="val 9523"/>
            </a:avLst>
          </a:prstGeom>
          <a:solidFill>
            <a:srgbClr val="10192E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4088" y="47000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6 · FP16, burst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0552" y="4709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htp_precision 1 · performance mode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102352"/>
            <a:ext cx="4160520" cy="384048"/>
          </a:xfrm>
          <a:prstGeom prst="roundRect">
            <a:avLst>
              <a:gd name="adj" fmla="val 9523"/>
            </a:avLst>
          </a:prstGeom>
          <a:solidFill>
            <a:srgbClr val="10192E"/>
          </a:solidFill>
          <a:ln w="762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04088" y="51572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7 · NPU-shaped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0552" y="5166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static, no SHAPE / int64, FP16-safe mask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2084831"/>
            <a:ext cx="3063240" cy="1828800"/>
          </a:xfrm>
          <a:prstGeom prst="roundRect">
            <a:avLst>
              <a:gd name="adj" fmla="val 2500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983480" y="2084831"/>
            <a:ext cx="306324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084064" y="2167127"/>
            <a:ext cx="2862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Model re-export (export_htp.py)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8928" y="2423160"/>
            <a:ext cx="1371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DC2626"/>
                </a:solidFill>
                <a:latin typeface="Aptos Display"/>
              </a:rPr>
              <a:t>664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2843784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90">
                <a:solidFill>
                  <a:srgbClr val="64748B"/>
                </a:solidFill>
                <a:latin typeface="Aptos"/>
              </a:rPr>
              <a:t>NODES BEFORE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4871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4546F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423160"/>
            <a:ext cx="1371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22C55E"/>
                </a:solidFill>
                <a:latin typeface="Aptos Display"/>
              </a:rPr>
              <a:t>305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843784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90">
                <a:solidFill>
                  <a:srgbClr val="64748B"/>
                </a:solidFill>
                <a:latin typeface="Aptos"/>
              </a:rPr>
              <a:t>NODES AFTER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3218688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60" b="0">
                <a:solidFill>
                  <a:srgbClr val="94A3B8"/>
                </a:solidFill>
                <a:latin typeface="Aptos"/>
              </a:rPr>
              <a:t>82 SHAPE, int64 tensors, −3.4e38 mask removed.</a:t>
            </a:r>
          </a:p>
          <a:p>
            <a:pPr>
              <a:lnSpc>
                <a:spcPct val="115000"/>
              </a:lnSpc>
            </a:pPr>
            <a:r>
              <a:rPr sz="760" b="0">
                <a:solidFill>
                  <a:srgbClr val="94A3B8"/>
                </a:solidFill>
                <a:latin typeface="Aptos"/>
              </a:rPr>
              <a:t>Cosine 1.000000 vs ONNX and previous model.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4041648"/>
            <a:ext cx="3063240" cy="1783080"/>
          </a:xfrm>
          <a:prstGeom prst="roundRect">
            <a:avLst>
              <a:gd name="adj" fmla="val 2564"/>
            </a:avLst>
          </a:prstGeom>
          <a:solidFill>
            <a:srgbClr val="10192E"/>
          </a:solidFill>
          <a:ln w="10160">
            <a:solidFill>
              <a:srgbClr val="404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983480" y="4041648"/>
            <a:ext cx="3063240" cy="27432"/>
          </a:xfrm>
          <a:prstGeom prst="rect">
            <a:avLst/>
          </a:prstGeom>
          <a:solidFill>
            <a:srgbClr val="525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084064" y="4123944"/>
            <a:ext cx="2862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Delegate 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4370832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60" b="1">
                <a:solidFill>
                  <a:srgbClr val="FFFFFF"/>
                </a:solidFill>
                <a:latin typeface="Consolas"/>
              </a:rPr>
              <a:t>Dart QnnHtpDelegate</a:t>
            </a:r>
          </a:p>
          <a:p>
            <a:pPr>
              <a:lnSpc>
                <a:spcPct val="112000"/>
              </a:lnSpc>
            </a:pPr>
            <a:r>
              <a:rPr sz="760" b="0">
                <a:solidFill>
                  <a:srgbClr val="94A3B8"/>
                </a:solidFill>
                <a:latin typeface="Consolas"/>
              </a:rPr>
              <a:t>  ↓ FFI</a:t>
            </a:r>
          </a:p>
          <a:p>
            <a:pPr>
              <a:lnSpc>
                <a:spcPct val="112000"/>
              </a:lnSpc>
            </a:pPr>
            <a:r>
              <a:rPr sz="760" b="1">
                <a:solidFill>
                  <a:srgbClr val="FFFFFF"/>
                </a:solidFill>
                <a:latin typeface="Consolas"/>
              </a:rPr>
              <a:t>libvault_qnn_delegate.so</a:t>
            </a:r>
          </a:p>
          <a:p>
            <a:pPr>
              <a:lnSpc>
                <a:spcPct val="112000"/>
              </a:lnSpc>
            </a:pPr>
            <a:r>
              <a:rPr sz="760" b="0">
                <a:solidFill>
                  <a:srgbClr val="94A3B8"/>
                </a:solidFill>
                <a:latin typeface="Consolas"/>
              </a:rPr>
              <a:t>  ↓ dlopen</a:t>
            </a:r>
          </a:p>
          <a:p>
            <a:pPr>
              <a:lnSpc>
                <a:spcPct val="112000"/>
              </a:lnSpc>
            </a:pPr>
            <a:r>
              <a:rPr sz="760" b="1">
                <a:solidFill>
                  <a:srgbClr val="FFFFFF"/>
                </a:solidFill>
                <a:latin typeface="Consolas"/>
              </a:rPr>
              <a:t>libQnnTFLiteDelegate.so</a:t>
            </a:r>
          </a:p>
          <a:p>
            <a:pPr>
              <a:lnSpc>
                <a:spcPct val="112000"/>
              </a:lnSpc>
            </a:pPr>
            <a:r>
              <a:rPr sz="760" b="0">
                <a:solidFill>
                  <a:srgbClr val="94A3B8"/>
                </a:solidFill>
                <a:latin typeface="Consolas"/>
              </a:rPr>
              <a:t>tflite_plugin_create_delegate(k, v, n)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2084831"/>
            <a:ext cx="3410712" cy="3739896"/>
          </a:xfrm>
          <a:prstGeom prst="roundRect">
            <a:avLst>
              <a:gd name="adj" fmla="val 1340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183879" y="2084831"/>
            <a:ext cx="3410712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284463" y="2167127"/>
            <a:ext cx="32095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Acceptance gates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43230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Smoke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262432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4A3B8"/>
                </a:solidFill>
                <a:latin typeface="Aptos"/>
              </a:rPr>
              <a:t>finite, unit-length 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03580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Coverage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227832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4A3B8"/>
                </a:solidFill>
                <a:latin typeface="Aptos"/>
              </a:rPr>
              <a:t>delegate's own log: ≥ 75 % of nodes delegated; no report = rejected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363931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Equivalence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3831336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4A3B8"/>
                </a:solidFill>
                <a:latin typeface="Aptos"/>
              </a:rPr>
              <a:t>12 passages + 4 queries vs XNNPACK: min cosine ≥ 0.995, same top-1, top-3 ≥ 0.9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24281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Latency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4434840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94A3B8"/>
                </a:solidFill>
                <a:latin typeface="Aptos"/>
              </a:rPr>
              <a:t>QNN median ≤ 1.10 × XNNPACK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4892040"/>
            <a:ext cx="3154680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8321040" y="5010912"/>
            <a:ext cx="1554480" cy="219456"/>
          </a:xfrm>
          <a:prstGeom prst="roundRect">
            <a:avLst>
              <a:gd name="adj" fmla="val 20833"/>
            </a:avLst>
          </a:prstGeom>
          <a:solidFill>
            <a:srgbClr val="123232"/>
          </a:solidFill>
          <a:ln w="762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321040" y="505206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22C55E"/>
                </a:solidFill>
                <a:latin typeface="Aptos"/>
              </a:rPr>
              <a:t>QNN HTP verified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5276088"/>
            <a:ext cx="1554480" cy="219456"/>
          </a:xfrm>
          <a:prstGeom prst="roundRect">
            <a:avLst>
              <a:gd name="adj" fmla="val 20833"/>
            </a:avLst>
          </a:prstGeom>
          <a:solidFill>
            <a:srgbClr val="333029"/>
          </a:solidFill>
          <a:ln w="7620">
            <a:solidFill>
              <a:srgbClr val="7F6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321040" y="5317236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F0B429"/>
                </a:solidFill>
                <a:latin typeface="Aptos"/>
              </a:rPr>
              <a:t>QNN unavailable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21040" y="5541264"/>
            <a:ext cx="1554480" cy="219456"/>
          </a:xfrm>
          <a:prstGeom prst="roundRect">
            <a:avLst>
              <a:gd name="adj" fmla="val 20833"/>
            </a:avLst>
          </a:prstGeom>
          <a:solidFill>
            <a:srgbClr val="333029"/>
          </a:solidFill>
          <a:ln w="7620">
            <a:solidFill>
              <a:srgbClr val="7F6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321040" y="558241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F0B429"/>
                </a:solidFill>
                <a:latin typeface="Aptos"/>
              </a:rPr>
              <a:t>XNNPACK fallback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5047488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64748B"/>
                </a:solidFill>
                <a:latin typeface="Aptos"/>
              </a:rPr>
              <a:t>the only three verdicts the UI and capsules may show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5998464"/>
            <a:ext cx="691286" cy="169164"/>
          </a:xfrm>
          <a:prstGeom prst="roundRect">
            <a:avLst>
              <a:gd name="adj" fmla="val 16216"/>
            </a:avLst>
          </a:prstGeom>
          <a:solidFill>
            <a:srgbClr val="2B1929"/>
          </a:solidFill>
          <a:ln w="7620">
            <a:solidFill>
              <a:srgbClr val="651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594360" y="6024067"/>
            <a:ext cx="69128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DC2626"/>
                </a:solidFill>
                <a:latin typeface="Aptos"/>
              </a:rPr>
              <a:t>OPEN GAP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1950" y="6016751"/>
            <a:ext cx="1012606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First device attempt: delegate created, interpreter build failed. Cause traced to the export; fix built, not yet confirmed on the iQOO 15.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10 · SECURITY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Five layers, each checkable.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Security is stated as what is enforced by hardware, by protocol or by build configuration — with its limits.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84831"/>
            <a:ext cx="54864" cy="6400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" y="2121408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 Display"/>
              </a:rPr>
              <a:t>At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12263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94A3B8"/>
                </a:solidFill>
                <a:latin typeface="Aptos"/>
              </a:rPr>
              <a:t>AES-256-GCM per chunk, key in AndroidKeyStore (StrongBox → TEE). Tamper → fail closed.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1762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64748B"/>
                </a:solidFill>
                <a:latin typeface="Consolas"/>
              </a:rPr>
              <a:t>KeystoreChannel.kt · vector_store.dart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798063"/>
            <a:ext cx="10799063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2852927"/>
            <a:ext cx="54864" cy="6400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5528" y="2889503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 Display"/>
              </a:rPr>
              <a:t>Attribution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880359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94A3B8"/>
                </a:solidFill>
                <a:latin typeface="Aptos"/>
              </a:rPr>
              <a:t>Every capsule ECDSA-P256 signed over a length-prefixed canonical payload; laptop verifies against a pinned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9443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64748B"/>
                </a:solidFill>
                <a:latin typeface="Consolas"/>
              </a:rPr>
              <a:t>capsule_signing.dart · capsule_verify.py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" y="3566159"/>
            <a:ext cx="10799063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621024"/>
            <a:ext cx="54864" cy="6400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95528" y="3657600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 Display"/>
              </a:rPr>
              <a:t>In transit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648456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94A3B8"/>
                </a:solidFill>
                <a:latin typeface="Aptos"/>
              </a:rPr>
              <a:t>VAULTLINK/2: pairing code → HMAC key schedule → AES-GCM frames, direction keys, replay window.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712463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64748B"/>
                </a:solidFill>
                <a:latin typeface="Consolas"/>
              </a:rPr>
              <a:t>vaultlink_secure.dart · vaultlink_protocol.py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" y="4334256"/>
            <a:ext cx="10799063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389120"/>
            <a:ext cx="54864" cy="64008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95528" y="4425696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 Display"/>
              </a:rPr>
              <a:t>Residue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41655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94A3B8"/>
                </a:solidFill>
                <a:latin typeface="Aptos"/>
              </a:rPr>
              <a:t>Capsules auto-scrub from the clipboard after 20 s on both devices, only if unchanged.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48055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64748B"/>
                </a:solidFill>
                <a:latin typeface="Consolas"/>
              </a:rPr>
              <a:t>ephemeral_clipboard.dart · vaultlink.py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" y="5102352"/>
            <a:ext cx="10799063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94360" y="5157216"/>
            <a:ext cx="54864" cy="6400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95528" y="519379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 Display"/>
              </a:rPr>
              <a:t>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18464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94A3B8"/>
                </a:solidFill>
                <a:latin typeface="Aptos"/>
              </a:rPr>
              <a:t>airgap flavor requests zero network permissions; only the lan flavor can open the bridge socket.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5248655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64748B"/>
                </a:solidFill>
                <a:latin typeface="Consolas"/>
              </a:rPr>
              <a:t>build.gradle.kts · AndroidManifest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998464"/>
            <a:ext cx="691286" cy="169164"/>
          </a:xfrm>
          <a:prstGeom prst="roundRect">
            <a:avLst>
              <a:gd name="adj" fmla="val 16216"/>
            </a:avLst>
          </a:prstGeom>
          <a:solidFill>
            <a:srgbClr val="112F31"/>
          </a:solidFill>
          <a:ln w="7620">
            <a:solidFill>
              <a:srgbClr val="166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4360" y="6024067"/>
            <a:ext cx="69128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22C55E"/>
                </a:solidFill>
                <a:latin typeface="Aptos"/>
              </a:rPr>
              <a:t>VERIFIED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31950" y="6016751"/>
            <a:ext cx="1012606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StrongBox level and signature validity seen on device; aapt2: airgap = no network permission, lan = INTERNET.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11 · SECURITY · ENCRYPTION AT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A stolen phone yields ciphertext.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The chunk key is generated inside AndroidKeyStore and never exported. Dart sends bytes in and gets bytes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103120"/>
            <a:ext cx="237744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2185415"/>
            <a:ext cx="2176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generate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377439"/>
            <a:ext cx="2176272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AES-256 · GCM · no padding · randomized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103120"/>
            <a:ext cx="2194560" cy="777240"/>
          </a:xfrm>
          <a:prstGeom prst="roundRect">
            <a:avLst>
              <a:gd name="adj" fmla="val 5882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337560" y="2103120"/>
            <a:ext cx="219456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38144" y="2185415"/>
            <a:ext cx="19933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StrongBox?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2377439"/>
            <a:ext cx="199339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setIsStrongBoxBacked(true)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920240"/>
            <a:ext cx="2286000" cy="658368"/>
          </a:xfrm>
          <a:prstGeom prst="roundRect">
            <a:avLst>
              <a:gd name="adj" fmla="val 6944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897880" y="1920240"/>
            <a:ext cx="228600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98464" y="2002536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StrongBox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194560"/>
            <a:ext cx="2084831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20" b="0" i="0">
                <a:solidFill>
                  <a:srgbClr val="94A3B8"/>
                </a:solidFill>
                <a:latin typeface="Aptos"/>
              </a:rPr>
              <a:t>reported on iQOO 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2743200"/>
            <a:ext cx="2286000" cy="658368"/>
          </a:xfrm>
          <a:prstGeom prst="roundRect">
            <a:avLst>
              <a:gd name="adj" fmla="val 6944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97880" y="2743200"/>
            <a:ext cx="228600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98464" y="2825496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TEE KeyStore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017520"/>
            <a:ext cx="2084831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20" b="0" i="0">
                <a:solidFill>
                  <a:srgbClr val="94A3B8"/>
                </a:solidFill>
                <a:latin typeface="Aptos"/>
              </a:rPr>
              <a:t>fallback, still hardware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71800" y="2487168"/>
            <a:ext cx="365760" cy="0"/>
          </a:xfrm>
          <a:prstGeom prst="line">
            <a:avLst/>
          </a:prstGeom>
          <a:ln w="1270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3259836" y="2436876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0" y="0"/>
                </a:moveTo>
                <a:lnTo>
                  <a:pt x="77724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5532120" y="2249424"/>
            <a:ext cx="365760" cy="128016"/>
          </a:xfrm>
          <a:prstGeom prst="line">
            <a:avLst/>
          </a:prstGeom>
          <a:ln w="1270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807905" y="2227631"/>
            <a:ext cx="89975" cy="94937"/>
          </a:xfrm>
          <a:custGeom>
            <a:avLst/>
            <a:gdLst/>
            <a:ahLst/>
            <a:cxnLst/>
            <a:rect l="l" t="t" r="r" b="b"/>
            <a:pathLst>
              <a:path w="89975" h="94937">
                <a:moveTo>
                  <a:pt x="0" y="0"/>
                </a:moveTo>
                <a:lnTo>
                  <a:pt x="89975" y="21793"/>
                </a:lnTo>
                <a:lnTo>
                  <a:pt x="33228" y="94937"/>
                </a:lnTo>
              </a:path>
            </a:pathLst>
          </a:custGeom>
          <a:noFill/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2121408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22C55E"/>
                </a:solidFill>
                <a:latin typeface="Aptos"/>
              </a:rPr>
              <a:t>yes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32120" y="2596896"/>
            <a:ext cx="365760" cy="475488"/>
          </a:xfrm>
          <a:prstGeom prst="line">
            <a:avLst/>
          </a:prstGeom>
          <a:ln w="12700">
            <a:solidFill>
              <a:srgbClr val="F0B4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5810628" y="2980114"/>
            <a:ext cx="87252" cy="92270"/>
          </a:xfrm>
          <a:custGeom>
            <a:avLst/>
            <a:gdLst/>
            <a:ahLst/>
            <a:cxnLst/>
            <a:rect l="l" t="t" r="r" b="b"/>
            <a:pathLst>
              <a:path w="87252" h="92270">
                <a:moveTo>
                  <a:pt x="79725" y="0"/>
                </a:moveTo>
                <a:lnTo>
                  <a:pt x="87252" y="92270"/>
                </a:lnTo>
                <a:lnTo>
                  <a:pt x="0" y="61327"/>
                </a:lnTo>
              </a:path>
            </a:pathLst>
          </a:custGeom>
          <a:noFill/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2852927"/>
            <a:ext cx="457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F0B429"/>
                </a:solidFill>
                <a:latin typeface="Aptos"/>
              </a:rPr>
              <a:t>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2194560"/>
            <a:ext cx="3044952" cy="566928"/>
          </a:xfrm>
          <a:prstGeom prst="roundRect">
            <a:avLst>
              <a:gd name="adj" fmla="val 8064"/>
            </a:avLst>
          </a:prstGeom>
          <a:solidFill>
            <a:srgbClr val="231829"/>
          </a:solidFill>
          <a:ln w="10160">
            <a:solidFill>
              <a:srgbClr val="5C1C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549640" y="2377440"/>
            <a:ext cx="3044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90">
                <a:solidFill>
                  <a:srgbClr val="DC2626"/>
                </a:solidFill>
                <a:latin typeface="Aptos"/>
              </a:rPr>
              <a:t>NEVER AN APP-HELD SOFTWARE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65760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PAYLOAD FORMAT STORED IN CONTENT_CIPHER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950208"/>
            <a:ext cx="1031047" cy="457200"/>
          </a:xfrm>
          <a:prstGeom prst="rect">
            <a:avLst/>
          </a:prstGeom>
          <a:solidFill>
            <a:srgbClr val="134237"/>
          </a:solidFill>
          <a:ln w="8890">
            <a:solidFill>
              <a:srgbClr val="1A7F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94360" y="4059936"/>
            <a:ext cx="10310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IV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480560"/>
            <a:ext cx="1031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" b="0" i="0">
                <a:solidFill>
                  <a:srgbClr val="64748B"/>
                </a:solidFill>
                <a:latin typeface="Aptos"/>
              </a:rPr>
              <a:t>12 bytes, keystore-generated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61983" y="3950208"/>
            <a:ext cx="4055981" cy="457200"/>
          </a:xfrm>
          <a:prstGeom prst="rect">
            <a:avLst/>
          </a:prstGeom>
          <a:solidFill>
            <a:srgbClr val="303A4D"/>
          </a:solidFill>
          <a:ln w="8890">
            <a:solidFill>
              <a:srgbClr val="5E6B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661983" y="4059936"/>
            <a:ext cx="405598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ciphertext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61983" y="4480560"/>
            <a:ext cx="40559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" b="0" i="0">
                <a:solidFill>
                  <a:srgbClr val="64748B"/>
                </a:solidFill>
                <a:latin typeface="Aptos"/>
              </a:rPr>
              <a:t>same length as the plaintext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54541" y="3950208"/>
            <a:ext cx="1386922" cy="457200"/>
          </a:xfrm>
          <a:prstGeom prst="rect">
            <a:avLst/>
          </a:prstGeom>
          <a:solidFill>
            <a:srgbClr val="473E29"/>
          </a:solidFill>
          <a:ln w="8890">
            <a:solidFill>
              <a:srgbClr val="96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754541" y="4059936"/>
            <a:ext cx="1386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tag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54541" y="4480560"/>
            <a:ext cx="1386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" b="0" i="0">
                <a:solidFill>
                  <a:srgbClr val="64748B"/>
                </a:solidFill>
                <a:latin typeface="Aptos"/>
              </a:rPr>
              <a:t>16-byte GCM tag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363931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Lazy decryption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3854196"/>
            <a:ext cx="41148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 i="0">
                <a:solidFill>
                  <a:srgbClr val="94A3B8"/>
                </a:solidFill>
                <a:latin typeface="Aptos"/>
              </a:rPr>
              <a:t>Only the top-K winners are decrypted, in one channel call. Ranking decrypts nothing (tested).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435254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Fail closed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4567428"/>
            <a:ext cx="41148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 i="0">
                <a:solidFill>
                  <a:srgbClr val="94A3B8"/>
                </a:solidFill>
                <a:latin typeface="Aptos"/>
              </a:rPr>
              <a:t>A flipped bit anywhere → AUTH_FAILED → ChunkIntegrityException. No partial plaintext.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506577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Latency cost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5280660"/>
            <a:ext cx="41148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 i="0">
                <a:solidFill>
                  <a:srgbClr val="94A3B8"/>
                </a:solidFill>
                <a:latin typeface="Aptos"/>
              </a:rPr>
              <a:t>StrongBox is a separate secure element: ≈1.8 s to decrypt 3 chunks on the phone. TEE for the chunk key is the fix.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998464"/>
            <a:ext cx="691286" cy="169164"/>
          </a:xfrm>
          <a:prstGeom prst="roundRect">
            <a:avLst>
              <a:gd name="adj" fmla="val 16216"/>
            </a:avLst>
          </a:prstGeom>
          <a:solidFill>
            <a:srgbClr val="112F31"/>
          </a:solidFill>
          <a:ln w="7620">
            <a:solidFill>
              <a:srgbClr val="166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94360" y="6024067"/>
            <a:ext cx="69128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22C55E"/>
                </a:solidFill>
                <a:latin typeface="Aptos"/>
              </a:rPr>
              <a:t>VERIFIED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31950" y="6016751"/>
            <a:ext cx="1012606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Host: GCM format, IV uniqueness, tamper and truncation rejection, raw DB file free of plaintext. JDK JCA ↔ Python interop verified.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12 · SECURITY · SIGNED CAPSULES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Who produced this answer, and did anyone edit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The phone signs a canonical encoding of the capsule. The laptop rebuilds it byte-for-byte and trusts only a pinned key.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394960" cy="2057400"/>
          </a:xfrm>
          <a:prstGeom prst="roundRect">
            <a:avLst>
              <a:gd name="adj" fmla="val 1777"/>
            </a:avLst>
          </a:prstGeom>
          <a:solidFill>
            <a:srgbClr val="0B1120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2376" y="2194560"/>
            <a:ext cx="51389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 spc="110">
                <a:solidFill>
                  <a:srgbClr val="64748B"/>
                </a:solidFill>
                <a:latin typeface="Aptos"/>
              </a:rPr>
              <a:t>CANONICAL PAYLOAD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14015"/>
            <a:ext cx="513892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payload = LP("vault-capsule-sig/v1") LP(query) LP(answer)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          LP(timestamp) LP(gating_path) LPL(chunk_ids)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          LP(confidence) LPL(key_fact_texts)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          LPL(sha256(context_content)) LP(device)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          LP(key_security_level) LP(sha256(public_key))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LP(s) = "&lt;utf8 byte length&gt;:" s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canonical_digest = SHA-256(payload)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signature = ECDSA-P256-SHA256(payload)   # in keystore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315968"/>
            <a:ext cx="5394960" cy="1417320"/>
          </a:xfrm>
          <a:prstGeom prst="roundRect">
            <a:avLst>
              <a:gd name="adj" fmla="val 3225"/>
            </a:avLst>
          </a:prstGeom>
          <a:solidFill>
            <a:srgbClr val="10192E"/>
          </a:solidFill>
          <a:ln w="10160">
            <a:solidFill>
              <a:srgbClr val="6B1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4315968"/>
            <a:ext cx="5394960" cy="27432"/>
          </a:xfrm>
          <a:prstGeom prst="rect">
            <a:avLst/>
          </a:prstGeom>
          <a:solidFill>
            <a:srgbClr val="8E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4944" y="4398264"/>
            <a:ext cx="5193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Why length-prefixed, not query|answer|…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590288"/>
            <a:ext cx="5193792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19" b="0" i="0">
                <a:solidFill>
                  <a:srgbClr val="94A3B8"/>
                </a:solidFill>
                <a:latin typeface="Aptos"/>
              </a:rPr>
              <a:t>A pipe-joined string is not injective: query "a|b" + answer "c" signs identically to "a" + "b|c". It also left the quoted context and key facts unsigned, so a relay could rewrite the evidence under a valid signature.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84831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LAPTOP VERIFICATION — EVERY STEP FAILS CLOSED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359152"/>
            <a:ext cx="3017520" cy="384048"/>
          </a:xfrm>
          <a:prstGeom prst="roundRect">
            <a:avLst>
              <a:gd name="adj" fmla="val 11904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64224" y="2441448"/>
            <a:ext cx="28163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FFFFFF"/>
                </a:solidFill>
                <a:latin typeface="Aptos"/>
              </a:rPr>
              <a:t>provenance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46888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4748B"/>
                </a:solidFill>
                <a:latin typeface="Consolas"/>
              </a:rPr>
              <a:t>else MISSING_PROVENANCE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0" y="2743200"/>
            <a:ext cx="0" cy="91440"/>
          </a:xfrm>
          <a:prstGeom prst="line">
            <a:avLst/>
          </a:prstGeom>
          <a:ln w="1016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7722108" y="2756916"/>
            <a:ext cx="100584" cy="77724"/>
          </a:xfrm>
          <a:custGeom>
            <a:avLst/>
            <a:gdLst/>
            <a:ahLst/>
            <a:cxnLst/>
            <a:rect l="l" t="t" r="r" b="b"/>
            <a:pathLst>
              <a:path w="100584" h="77724">
                <a:moveTo>
                  <a:pt x="100584" y="0"/>
                </a:moveTo>
                <a:lnTo>
                  <a:pt x="50292" y="77724"/>
                </a:lnTo>
                <a:lnTo>
                  <a:pt x="0" y="0"/>
                </a:lnTo>
              </a:path>
            </a:pathLst>
          </a:custGeom>
          <a:noFill/>
          <a:ln w="1016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2834640"/>
            <a:ext cx="3017520" cy="384048"/>
          </a:xfrm>
          <a:prstGeom prst="roundRect">
            <a:avLst>
              <a:gd name="adj" fmla="val 11904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64224" y="2916936"/>
            <a:ext cx="28163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FFFFFF"/>
                </a:solidFill>
                <a:latin typeface="Aptos"/>
              </a:rPr>
              <a:t>rebuild payload from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94436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4748B"/>
                </a:solidFill>
                <a:latin typeface="Consolas"/>
              </a:rPr>
              <a:t>else MALFORMED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0" y="3218688"/>
            <a:ext cx="0" cy="91440"/>
          </a:xfrm>
          <a:prstGeom prst="line">
            <a:avLst/>
          </a:prstGeom>
          <a:ln w="1016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7722108" y="3232404"/>
            <a:ext cx="100584" cy="77724"/>
          </a:xfrm>
          <a:custGeom>
            <a:avLst/>
            <a:gdLst/>
            <a:ahLst/>
            <a:cxnLst/>
            <a:rect l="l" t="t" r="r" b="b"/>
            <a:pathLst>
              <a:path w="100584" h="77724">
                <a:moveTo>
                  <a:pt x="100584" y="0"/>
                </a:moveTo>
                <a:lnTo>
                  <a:pt x="50292" y="77724"/>
                </a:lnTo>
                <a:lnTo>
                  <a:pt x="0" y="0"/>
                </a:lnTo>
              </a:path>
            </a:pathLst>
          </a:custGeom>
          <a:noFill/>
          <a:ln w="1016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3310128"/>
            <a:ext cx="3017520" cy="384048"/>
          </a:xfrm>
          <a:prstGeom prst="roundRect">
            <a:avLst>
              <a:gd name="adj" fmla="val 11904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64224" y="3392424"/>
            <a:ext cx="28163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FFFFFF"/>
                </a:solidFill>
                <a:latin typeface="Aptos"/>
              </a:rPr>
              <a:t>SHA-256 == canonical_digest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41985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4748B"/>
                </a:solidFill>
                <a:latin typeface="Consolas"/>
              </a:rPr>
              <a:t>else DIGEST_MISMATCH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2400" y="3694176"/>
            <a:ext cx="0" cy="91440"/>
          </a:xfrm>
          <a:prstGeom prst="line">
            <a:avLst/>
          </a:prstGeom>
          <a:ln w="1016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7722108" y="3707892"/>
            <a:ext cx="100584" cy="77724"/>
          </a:xfrm>
          <a:custGeom>
            <a:avLst/>
            <a:gdLst/>
            <a:ahLst/>
            <a:cxnLst/>
            <a:rect l="l" t="t" r="r" b="b"/>
            <a:pathLst>
              <a:path w="100584" h="77724">
                <a:moveTo>
                  <a:pt x="100584" y="0"/>
                </a:moveTo>
                <a:lnTo>
                  <a:pt x="50292" y="77724"/>
                </a:lnTo>
                <a:lnTo>
                  <a:pt x="0" y="0"/>
                </a:lnTo>
              </a:path>
            </a:pathLst>
          </a:custGeom>
          <a:noFill/>
          <a:ln w="1016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63640" y="3785616"/>
            <a:ext cx="3017520" cy="384048"/>
          </a:xfrm>
          <a:prstGeom prst="roundRect">
            <a:avLst>
              <a:gd name="adj" fmla="val 11904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64224" y="3867912"/>
            <a:ext cx="28163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FFFFFF"/>
                </a:solidFill>
                <a:latin typeface="Aptos"/>
              </a:rPr>
              <a:t>real DER signature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89534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4748B"/>
                </a:solidFill>
                <a:latin typeface="Consolas"/>
              </a:rPr>
              <a:t>MOCK_SIG / null → UNSIGNED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2400" y="4169664"/>
            <a:ext cx="0" cy="91440"/>
          </a:xfrm>
          <a:prstGeom prst="line">
            <a:avLst/>
          </a:prstGeom>
          <a:ln w="1016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7722108" y="4183380"/>
            <a:ext cx="100584" cy="77724"/>
          </a:xfrm>
          <a:custGeom>
            <a:avLst/>
            <a:gdLst/>
            <a:ahLst/>
            <a:cxnLst/>
            <a:rect l="l" t="t" r="r" b="b"/>
            <a:pathLst>
              <a:path w="100584" h="77724">
                <a:moveTo>
                  <a:pt x="100584" y="0"/>
                </a:moveTo>
                <a:lnTo>
                  <a:pt x="50292" y="77724"/>
                </a:lnTo>
                <a:lnTo>
                  <a:pt x="0" y="0"/>
                </a:lnTo>
              </a:path>
            </a:pathLst>
          </a:custGeom>
          <a:noFill/>
          <a:ln w="1016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4261104"/>
            <a:ext cx="3017520" cy="384048"/>
          </a:xfrm>
          <a:prstGeom prst="roundRect">
            <a:avLst>
              <a:gd name="adj" fmla="val 11904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64224" y="4343400"/>
            <a:ext cx="28163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FFFFFF"/>
                </a:solidFill>
                <a:latin typeface="Aptos"/>
              </a:rPr>
              <a:t>public key is P-256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37083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4748B"/>
                </a:solidFill>
                <a:latin typeface="Consolas"/>
              </a:rPr>
              <a:t>else BAD_PUBLIC_KEY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72400" y="4645152"/>
            <a:ext cx="0" cy="91440"/>
          </a:xfrm>
          <a:prstGeom prst="line">
            <a:avLst/>
          </a:prstGeom>
          <a:ln w="1016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7722108" y="4658868"/>
            <a:ext cx="100584" cy="77724"/>
          </a:xfrm>
          <a:custGeom>
            <a:avLst/>
            <a:gdLst/>
            <a:ahLst/>
            <a:cxnLst/>
            <a:rect l="l" t="t" r="r" b="b"/>
            <a:pathLst>
              <a:path w="100584" h="77724">
                <a:moveTo>
                  <a:pt x="100584" y="0"/>
                </a:moveTo>
                <a:lnTo>
                  <a:pt x="50292" y="77724"/>
                </a:lnTo>
                <a:lnTo>
                  <a:pt x="0" y="0"/>
                </a:lnTo>
              </a:path>
            </a:pathLst>
          </a:custGeom>
          <a:noFill/>
          <a:ln w="1016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63640" y="4736592"/>
            <a:ext cx="3017520" cy="384048"/>
          </a:xfrm>
          <a:prstGeom prst="roundRect">
            <a:avLst>
              <a:gd name="adj" fmla="val 11904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64224" y="4818888"/>
            <a:ext cx="28163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FFFFFF"/>
                </a:solidFill>
                <a:latin typeface="Aptos"/>
              </a:rPr>
              <a:t>ECDSA verifies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84632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4748B"/>
                </a:solidFill>
                <a:latin typeface="Consolas"/>
              </a:rPr>
              <a:t>else INVALID_SIGNATURE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72400" y="5120640"/>
            <a:ext cx="0" cy="91439"/>
          </a:xfrm>
          <a:prstGeom prst="line">
            <a:avLst/>
          </a:prstGeom>
          <a:ln w="1016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7722108" y="5134355"/>
            <a:ext cx="100584" cy="77724"/>
          </a:xfrm>
          <a:custGeom>
            <a:avLst/>
            <a:gdLst/>
            <a:ahLst/>
            <a:cxnLst/>
            <a:rect l="l" t="t" r="r" b="b"/>
            <a:pathLst>
              <a:path w="100584" h="77724">
                <a:moveTo>
                  <a:pt x="100584" y="0"/>
                </a:moveTo>
                <a:lnTo>
                  <a:pt x="50292" y="77724"/>
                </a:lnTo>
                <a:lnTo>
                  <a:pt x="0" y="0"/>
                </a:lnTo>
              </a:path>
            </a:pathLst>
          </a:custGeom>
          <a:noFill/>
          <a:ln w="1016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63640" y="5212080"/>
            <a:ext cx="3017520" cy="384048"/>
          </a:xfrm>
          <a:prstGeom prst="roundRect">
            <a:avLst>
              <a:gd name="adj" fmla="val 11904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364224" y="5294376"/>
            <a:ext cx="28163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FFFFFF"/>
                </a:solidFill>
                <a:latin typeface="Aptos"/>
              </a:rPr>
              <a:t>key == pinned device key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532180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4748B"/>
                </a:solidFill>
                <a:latin typeface="Consolas"/>
              </a:rPr>
              <a:t>NOT_ENROLLED / KEY_MISMATCH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" y="5998464"/>
            <a:ext cx="691286" cy="169164"/>
          </a:xfrm>
          <a:prstGeom prst="roundRect">
            <a:avLst>
              <a:gd name="adj" fmla="val 16216"/>
            </a:avLst>
          </a:prstGeom>
          <a:solidFill>
            <a:srgbClr val="112F31"/>
          </a:solidFill>
          <a:ln w="7620">
            <a:solidFill>
              <a:srgbClr val="166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94360" y="6024067"/>
            <a:ext cx="69128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22C55E"/>
                </a:solidFill>
                <a:latin typeface="Aptos"/>
              </a:rPr>
              <a:t>VERIFIED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31950" y="6016751"/>
            <a:ext cx="1012606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Python verifier rejects every tamper case (answer, query, timestamp, path, ids, context, facts, level, digest, signature, attacker key). Same vector asserted by Dart.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13 · SECURITY · TRUST &amp; ATTESTATION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A key in the message is not a reason to trust the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Anyone can sign their own capsule. Trust comes from pinning the device key once, over the already-authenticated link.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03120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97280" y="2103120"/>
            <a:ext cx="182880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97864" y="2185415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2377439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</a:pPr>
            <a:r>
              <a:rPr sz="680" b="0" i="0">
                <a:solidFill>
                  <a:srgbClr val="94A3B8"/>
                </a:solidFill>
                <a:latin typeface="Aptos"/>
              </a:rPr>
              <a:t>keystore signing key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2578608"/>
            <a:ext cx="0" cy="1764792"/>
          </a:xfrm>
          <a:prstGeom prst="line">
            <a:avLst/>
          </a:prstGeom>
          <a:ln w="10160">
            <a:solidFill>
              <a:srgbClr val="434A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103120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166360" y="2103120"/>
            <a:ext cx="182880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66944" y="2185415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Office 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377439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</a:pPr>
            <a:r>
              <a:rPr sz="680" b="0" i="0">
                <a:solidFill>
                  <a:srgbClr val="94A3B8"/>
                </a:solidFill>
                <a:latin typeface="Aptos"/>
              </a:rPr>
              <a:t>clipboard mirror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2578608"/>
            <a:ext cx="0" cy="1764792"/>
          </a:xfrm>
          <a:prstGeom prst="line">
            <a:avLst/>
          </a:prstGeom>
          <a:ln w="10160">
            <a:solidFill>
              <a:srgbClr val="434A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35440" y="2103120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0192E"/>
          </a:solidFill>
          <a:ln w="1016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6024" y="2185415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Laptop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377439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</a:pPr>
            <a:r>
              <a:rPr sz="680" b="0" i="0">
                <a:solidFill>
                  <a:srgbClr val="94A3B8"/>
                </a:solidFill>
                <a:latin typeface="Aptos"/>
              </a:rPr>
              <a:t>vaultlink.py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49840" y="2578608"/>
            <a:ext cx="0" cy="1764792"/>
          </a:xfrm>
          <a:prstGeom prst="line">
            <a:avLst/>
          </a:prstGeom>
          <a:ln w="10160">
            <a:solidFill>
              <a:srgbClr val="434A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011680" y="2971800"/>
            <a:ext cx="8138160" cy="0"/>
          </a:xfrm>
          <a:prstGeom prst="line">
            <a:avLst/>
          </a:prstGeom>
          <a:ln w="1270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2011680" y="292150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77724" y="100584"/>
                </a:moveTo>
                <a:lnTo>
                  <a:pt x="0" y="50292"/>
                </a:lnTo>
                <a:lnTo>
                  <a:pt x="77724" y="0"/>
                </a:lnTo>
              </a:path>
            </a:pathLst>
          </a:cu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2779776"/>
            <a:ext cx="4572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94A3B8"/>
                </a:solidFill>
                <a:latin typeface="Aptos"/>
              </a:rPr>
              <a:t>pair: type code shown on phone (never pasted)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011680" y="3520440"/>
            <a:ext cx="8138160" cy="0"/>
          </a:xfrm>
          <a:prstGeom prst="line">
            <a:avLst/>
          </a:prstGeom>
          <a:ln w="1270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2011680" y="347014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77724" y="100584"/>
                </a:moveTo>
                <a:lnTo>
                  <a:pt x="0" y="50292"/>
                </a:lnTo>
                <a:lnTo>
                  <a:pt x="77724" y="0"/>
                </a:lnTo>
              </a:path>
            </a:pathLst>
          </a:cu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3328416"/>
            <a:ext cx="3657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94A3B8"/>
                </a:solidFill>
                <a:latin typeface="Aptos"/>
              </a:rPr>
              <a:t>sealed enroll request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11680" y="4069080"/>
            <a:ext cx="8138160" cy="0"/>
          </a:xfrm>
          <a:prstGeom prst="line">
            <a:avLst/>
          </a:prstGeom>
          <a:ln w="1397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10072115" y="4018788"/>
            <a:ext cx="77725" cy="100584"/>
          </a:xfrm>
          <a:custGeom>
            <a:avLst/>
            <a:gdLst/>
            <a:ahLst/>
            <a:cxnLst/>
            <a:rect l="l" t="t" r="r" b="b"/>
            <a:pathLst>
              <a:path w="77725" h="100584">
                <a:moveTo>
                  <a:pt x="0" y="0"/>
                </a:moveTo>
                <a:lnTo>
                  <a:pt x="77725" y="50292"/>
                </a:lnTo>
                <a:lnTo>
                  <a:pt x="0" y="100584"/>
                </a:lnTo>
              </a:path>
            </a:pathLst>
          </a:custGeom>
          <a:noFill/>
          <a:ln w="1397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3877056"/>
            <a:ext cx="5486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22C55E"/>
                </a:solidFill>
                <a:latin typeface="Aptos"/>
              </a:rPr>
              <a:t>sealed reply: public key + attestation chain + KeyInfo level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4434840"/>
            <a:ext cx="3822191" cy="1188720"/>
          </a:xfrm>
          <a:prstGeom prst="roundRect">
            <a:avLst>
              <a:gd name="adj" fmla="val 3846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772400" y="4434840"/>
            <a:ext cx="3822191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872983" y="4517136"/>
            <a:ext cx="36210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Laptop pins the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2983" y="4709159"/>
            <a:ext cx="3621023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trusted_devices.json. A different key never silently replaces it (TRUSTED_KEY_MISMATCH). Re-enrol = explicit unenroll + enroll.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434840"/>
            <a:ext cx="3931920" cy="1188720"/>
          </a:xfrm>
          <a:prstGeom prst="roundRect">
            <a:avLst>
              <a:gd name="adj" fmla="val 3846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4434840"/>
            <a:ext cx="393192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94944" y="4517136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Attestation chain, honestly scoped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" y="4709159"/>
            <a:ext cx="373075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Chain linkage, leaf = signing key and the KeyDescription security level are checked. Hardware is PROVEN only with a trusted Google root supplied (--attestation-root).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4434840"/>
            <a:ext cx="2971800" cy="1188720"/>
          </a:xfrm>
          <a:prstGeom prst="roundRect">
            <a:avLst>
              <a:gd name="adj" fmla="val 3846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663440" y="4434840"/>
            <a:ext cx="297180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764024" y="4517136"/>
            <a:ext cx="2770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Security line printed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4024" y="4709159"/>
            <a:ext cx="277063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Built from signed fields: "Qualcomm TEE (Qualcomm SM8850)" only if the signed device string says so.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998464"/>
            <a:ext cx="1371600" cy="169164"/>
          </a:xfrm>
          <a:prstGeom prst="roundRect">
            <a:avLst>
              <a:gd name="adj" fmla="val 16216"/>
            </a:avLst>
          </a:prstGeom>
          <a:solidFill>
            <a:srgbClr val="2E2C29"/>
          </a:solidFill>
          <a:ln w="7620">
            <a:solidFill>
              <a:srgbClr val="6D58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94360" y="6024067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F0B429"/>
                </a:solidFill>
                <a:latin typeface="Aptos"/>
              </a:rPr>
              <a:t>BUILT - NOT HARDENED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12264" y="6016751"/>
            <a:ext cx="9445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Enrollment path built and unit-tested with a synthetic chain; on-device enroll not yet run (phone used legacy v1 in the last session).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14 · VAULTLINK PROTOCOL (VLP)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A request/response loop carried by the clipboard.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No socket, no IP address, no Android permission. The phone polls its own clipboard while the Link tab is in the foreground.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84831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0192E"/>
          </a:solidFill>
          <a:ln w="1016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14984" y="2167127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vaultlink.py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359151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</a:pPr>
            <a:r>
              <a:rPr sz="680" b="0" i="0">
                <a:solidFill>
                  <a:srgbClr val="94A3B8"/>
                </a:solidFill>
                <a:latin typeface="Aptos"/>
              </a:rPr>
              <a:t>laptop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560320"/>
            <a:ext cx="0" cy="2450592"/>
          </a:xfrm>
          <a:prstGeom prst="line">
            <a:avLst/>
          </a:prstGeom>
          <a:ln w="10160">
            <a:solidFill>
              <a:srgbClr val="434A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66360" y="2084831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166360" y="2084831"/>
            <a:ext cx="182880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266944" y="2167127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Office 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359151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</a:pPr>
            <a:r>
              <a:rPr sz="680" b="0" i="0">
                <a:solidFill>
                  <a:srgbClr val="94A3B8"/>
                </a:solidFill>
                <a:latin typeface="Aptos"/>
              </a:rPr>
              <a:t>mirrors clipboard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560320"/>
            <a:ext cx="0" cy="2450592"/>
          </a:xfrm>
          <a:prstGeom prst="line">
            <a:avLst/>
          </a:prstGeom>
          <a:ln w="10160">
            <a:solidFill>
              <a:srgbClr val="434A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18320" y="2084831"/>
            <a:ext cx="1828800" cy="475488"/>
          </a:xfrm>
          <a:prstGeom prst="roundRect">
            <a:avLst>
              <a:gd name="adj" fmla="val 9615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418320" y="2084831"/>
            <a:ext cx="182880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18904" y="2167127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VaultLinkService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8904" y="2359151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7000"/>
              </a:lnSpc>
            </a:pPr>
            <a:r>
              <a:rPr sz="680" b="0" i="0">
                <a:solidFill>
                  <a:srgbClr val="94A3B8"/>
                </a:solidFill>
                <a:latin typeface="Aptos"/>
              </a:rPr>
              <a:t>phone, 700 ms poll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32720" y="2560320"/>
            <a:ext cx="0" cy="2450592"/>
          </a:xfrm>
          <a:prstGeom prst="line">
            <a:avLst/>
          </a:prstGeom>
          <a:ln w="10160">
            <a:solidFill>
              <a:srgbClr val="434A5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880360"/>
            <a:ext cx="4251960" cy="0"/>
          </a:xfrm>
          <a:prstGeom prst="line">
            <a:avLst/>
          </a:prstGeom>
          <a:ln w="1270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6003036" y="283006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0" y="0"/>
                </a:moveTo>
                <a:lnTo>
                  <a:pt x="77724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34540" y="2688336"/>
            <a:ext cx="38404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94A3B8"/>
                </a:solidFill>
                <a:latin typeface="Aptos"/>
              </a:rPr>
              <a:t>VAULTLINK/2 req frame → clipboard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3246120"/>
            <a:ext cx="4251960" cy="0"/>
          </a:xfrm>
          <a:prstGeom prst="line">
            <a:avLst/>
          </a:prstGeom>
          <a:ln w="1270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10254996" y="3195827"/>
            <a:ext cx="77724" cy="100585"/>
          </a:xfrm>
          <a:custGeom>
            <a:avLst/>
            <a:gdLst/>
            <a:ahLst/>
            <a:cxnLst/>
            <a:rect l="l" t="t" r="r" b="b"/>
            <a:pathLst>
              <a:path w="77724" h="100585">
                <a:moveTo>
                  <a:pt x="0" y="0"/>
                </a:moveTo>
                <a:lnTo>
                  <a:pt x="77724" y="50293"/>
                </a:lnTo>
                <a:lnTo>
                  <a:pt x="0" y="100585"/>
                </a:lnTo>
              </a:path>
            </a:pathLst>
          </a:cu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6500" y="3054096"/>
            <a:ext cx="38404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94A3B8"/>
                </a:solidFill>
                <a:latin typeface="Aptos"/>
              </a:rPr>
              <a:t>mirrored to phone clipboard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080760" y="3703320"/>
            <a:ext cx="4251960" cy="0"/>
          </a:xfrm>
          <a:prstGeom prst="line">
            <a:avLst/>
          </a:prstGeom>
          <a:ln w="12700">
            <a:solidFill>
              <a:srgbClr val="F0B4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6080760" y="3653027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77724" y="100584"/>
                </a:moveTo>
                <a:lnTo>
                  <a:pt x="0" y="50293"/>
                </a:lnTo>
                <a:lnTo>
                  <a:pt x="77724" y="0"/>
                </a:lnTo>
              </a:path>
            </a:pathLst>
          </a:custGeom>
          <a:noFill/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6500" y="3511296"/>
            <a:ext cx="38404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F0B429"/>
                </a:solidFill>
                <a:latin typeface="Aptos"/>
              </a:rPr>
              <a:t>{status: processing} (sealed)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828800" y="3977639"/>
            <a:ext cx="4251960" cy="0"/>
          </a:xfrm>
          <a:prstGeom prst="line">
            <a:avLst/>
          </a:prstGeom>
          <a:ln w="12700">
            <a:solidFill>
              <a:srgbClr val="F0B4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1828800" y="3927348"/>
            <a:ext cx="77724" cy="100583"/>
          </a:xfrm>
          <a:custGeom>
            <a:avLst/>
            <a:gdLst/>
            <a:ahLst/>
            <a:cxnLst/>
            <a:rect l="l" t="t" r="r" b="b"/>
            <a:pathLst>
              <a:path w="77724" h="100583">
                <a:moveTo>
                  <a:pt x="77724" y="100583"/>
                </a:moveTo>
                <a:lnTo>
                  <a:pt x="0" y="50291"/>
                </a:lnTo>
                <a:lnTo>
                  <a:pt x="77724" y="0"/>
                </a:lnTo>
              </a:path>
            </a:pathLst>
          </a:custGeom>
          <a:noFill/>
          <a:ln w="1270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34540" y="3785615"/>
            <a:ext cx="38404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F0B429"/>
                </a:solidFill>
                <a:latin typeface="Aptos"/>
              </a:rPr>
              <a:t>mirrored back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6080760" y="4617720"/>
            <a:ext cx="4251960" cy="0"/>
          </a:xfrm>
          <a:prstGeom prst="line">
            <a:avLst/>
          </a:prstGeom>
          <a:ln w="1270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6080760" y="456742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77724" y="100584"/>
                </a:moveTo>
                <a:lnTo>
                  <a:pt x="0" y="50292"/>
                </a:lnTo>
                <a:lnTo>
                  <a:pt x="77724" y="0"/>
                </a:lnTo>
              </a:path>
            </a:pathLst>
          </a:custGeom>
          <a:noFill/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6500" y="4425696"/>
            <a:ext cx="38404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22C55E"/>
                </a:solidFill>
                <a:latin typeface="Aptos"/>
              </a:rPr>
              <a:t>sealed capsule (TTL 20 s)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828800" y="4937760"/>
            <a:ext cx="4251960" cy="0"/>
          </a:xfrm>
          <a:prstGeom prst="line">
            <a:avLst/>
          </a:prstGeom>
          <a:ln w="1270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1828800" y="488746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77724" y="100584"/>
                </a:moveTo>
                <a:lnTo>
                  <a:pt x="0" y="50292"/>
                </a:lnTo>
                <a:lnTo>
                  <a:pt x="77724" y="0"/>
                </a:lnTo>
              </a:path>
            </a:pathLst>
          </a:custGeom>
          <a:noFill/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34540" y="4745736"/>
            <a:ext cx="38404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40">
                <a:solidFill>
                  <a:srgbClr val="22C55E"/>
                </a:solidFill>
                <a:latin typeface="Aptos"/>
              </a:rPr>
              <a:t>mirrored 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42448" y="3931920"/>
            <a:ext cx="1152144" cy="566928"/>
          </a:xfrm>
          <a:prstGeom prst="roundRect">
            <a:avLst>
              <a:gd name="adj" fmla="val 8064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543032" y="4014215"/>
            <a:ext cx="9509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>
                <a:solidFill>
                  <a:srgbClr val="FFFFFF"/>
                </a:solidFill>
                <a:latin typeface="Aptos"/>
              </a:rPr>
              <a:t>open · verify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3032" y="4206240"/>
            <a:ext cx="950976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00" b="0" i="0">
                <a:solidFill>
                  <a:srgbClr val="94A3B8"/>
                </a:solidFill>
                <a:latin typeface="Aptos"/>
              </a:rPr>
              <a:t>then ask()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138928"/>
            <a:ext cx="2651760" cy="566928"/>
          </a:xfrm>
          <a:prstGeom prst="roundRect">
            <a:avLst>
              <a:gd name="adj" fmla="val 8064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94360" y="5138928"/>
            <a:ext cx="265176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94944" y="5221224"/>
            <a:ext cx="2450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verify · print · scrub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5413248"/>
            <a:ext cx="2450591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00" b="0" i="0">
                <a:solidFill>
                  <a:srgbClr val="94A3B8"/>
                </a:solidFill>
                <a:latin typeface="Aptos"/>
              </a:rPr>
              <a:t>digest, ECDSA, pinned key; 20→1 countdown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0" y="5212080"/>
            <a:ext cx="4572000" cy="566928"/>
          </a:xfrm>
          <a:prstGeom prst="roundRect">
            <a:avLst>
              <a:gd name="adj" fmla="val 6451"/>
            </a:avLst>
          </a:prstGeom>
          <a:solidFill>
            <a:srgbClr val="0B1120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785615" y="5321808"/>
            <a:ext cx="4315968" cy="384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30" b="0">
                <a:solidFill>
                  <a:srgbClr val="94A3B8"/>
                </a:solidFill>
                <a:latin typeface="Consolas"/>
              </a:rPr>
              <a:t>VAULTLINK/2\n{"kid":"8b1e…","dir":"req","ct":"&lt;base64 IV‖ct‖tag&gt;"}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102352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80" b="0">
                <a:solidFill>
                  <a:srgbClr val="94A3B8"/>
                </a:solidFill>
                <a:latin typeface="Aptos"/>
              </a:rPr>
              <a:t>Ops: ping · query · enroll (v2 only).</a:t>
            </a:r>
          </a:p>
          <a:p>
            <a:pPr>
              <a:lnSpc>
                <a:spcPct val="120000"/>
              </a:lnSpc>
            </a:pPr>
            <a:r>
              <a:rPr sz="780" b="0">
                <a:solidFill>
                  <a:srgbClr val="94A3B8"/>
                </a:solidFill>
                <a:latin typeface="Aptos"/>
              </a:rPr>
              <a:t>Only frames with the prefix are touched; anything else a user copies is left alone.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998464"/>
            <a:ext cx="1258214" cy="169164"/>
          </a:xfrm>
          <a:prstGeom prst="roundRect">
            <a:avLst>
              <a:gd name="adj" fmla="val 16216"/>
            </a:avLst>
          </a:prstGeom>
          <a:solidFill>
            <a:srgbClr val="112F31"/>
          </a:solidFill>
          <a:ln w="7620">
            <a:solidFill>
              <a:srgbClr val="166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94360" y="6024067"/>
            <a:ext cx="125821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22C55E"/>
                </a:solidFill>
                <a:latin typeface="Aptos"/>
              </a:rPr>
              <a:t>MEASURED ON DEVICE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98878" y="6016751"/>
            <a:ext cx="95591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Clipboard loop exercised end-to-end with the iQOO 15 over Office Kit (legacy v1 for the latest run; v2 built and host-tested).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15 · VLP V2 ·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One typed code becomes four purpose-bound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The code never crosses the clipboard it protects. Everything after it is standard primitives: HMAC-SHA256 and AES-256-GCM.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256032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2231136"/>
            <a:ext cx="23591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Pairing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423160"/>
            <a:ext cx="2359151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20 Crockford base32 chars · 100 bits · shown on phone, typed on laptop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14884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657600" y="2148840"/>
            <a:ext cx="274320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58184" y="2231136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423160"/>
            <a:ext cx="2542032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HMAC("vaultlink/2 pairing", code) · laptop stores under DPAPI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54679" y="2606040"/>
            <a:ext cx="502921" cy="0"/>
          </a:xfrm>
          <a:prstGeom prst="line">
            <a:avLst/>
          </a:prstGeom>
          <a:ln w="1270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3579876" y="2555748"/>
            <a:ext cx="77724" cy="100584"/>
          </a:xfrm>
          <a:custGeom>
            <a:avLst/>
            <a:gdLst/>
            <a:ahLst/>
            <a:cxnLst/>
            <a:rect l="l" t="t" r="r" b="b"/>
            <a:pathLst>
              <a:path w="77724" h="100584">
                <a:moveTo>
                  <a:pt x="0" y="0"/>
                </a:moveTo>
                <a:lnTo>
                  <a:pt x="77724" y="50292"/>
                </a:lnTo>
                <a:lnTo>
                  <a:pt x="0" y="100584"/>
                </a:lnTo>
              </a:path>
            </a:pathLst>
          </a:custGeom>
          <a:noFill/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03720" y="1874519"/>
            <a:ext cx="2834640" cy="475488"/>
          </a:xfrm>
          <a:prstGeom prst="roundRect">
            <a:avLst>
              <a:gd name="adj" fmla="val 9615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903720" y="1874519"/>
            <a:ext cx="283464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04304" y="1956815"/>
            <a:ext cx="2633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FFFFFF"/>
                </a:solidFill>
                <a:latin typeface="Aptos"/>
              </a:rPr>
              <a:t>K_req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2148839"/>
            <a:ext cx="2633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00" b="0" i="0">
                <a:solidFill>
                  <a:srgbClr val="94A3B8"/>
                </a:solidFill>
                <a:latin typeface="Aptos"/>
              </a:rPr>
              <a:t>HMAC(root, "…req")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02082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>
                <a:solidFill>
                  <a:srgbClr val="64748B"/>
                </a:solidFill>
                <a:latin typeface="Aptos"/>
              </a:rPr>
              <a:t>laptop → phone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400800" y="2112263"/>
            <a:ext cx="502920" cy="493777"/>
          </a:xfrm>
          <a:prstGeom prst="line">
            <a:avLst/>
          </a:prstGeom>
          <a:ln w="1143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6813024" y="2112263"/>
            <a:ext cx="90696" cy="90340"/>
          </a:xfrm>
          <a:custGeom>
            <a:avLst/>
            <a:gdLst/>
            <a:ahLst/>
            <a:cxnLst/>
            <a:rect l="l" t="t" r="r" b="b"/>
            <a:pathLst>
              <a:path w="90696" h="90340">
                <a:moveTo>
                  <a:pt x="0" y="18567"/>
                </a:moveTo>
                <a:lnTo>
                  <a:pt x="90696" y="0"/>
                </a:lnTo>
                <a:lnTo>
                  <a:pt x="70469" y="90340"/>
                </a:lnTo>
              </a:path>
            </a:pathLst>
          </a:custGeom>
          <a:noFill/>
          <a:ln w="1143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03720" y="2441448"/>
            <a:ext cx="2834640" cy="475488"/>
          </a:xfrm>
          <a:prstGeom prst="roundRect">
            <a:avLst>
              <a:gd name="adj" fmla="val 9615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903720" y="2441448"/>
            <a:ext cx="283464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004304" y="2523744"/>
            <a:ext cx="2633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FFFFFF"/>
                </a:solidFill>
                <a:latin typeface="Aptos"/>
              </a:rPr>
              <a:t>K_rep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2715768"/>
            <a:ext cx="2633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00" b="0" i="0">
                <a:solidFill>
                  <a:srgbClr val="94A3B8"/>
                </a:solidFill>
                <a:latin typeface="Aptos"/>
              </a:rPr>
              <a:t>HMAC(root, "…rep")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58775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>
                <a:solidFill>
                  <a:srgbClr val="64748B"/>
                </a:solidFill>
                <a:latin typeface="Aptos"/>
              </a:rPr>
              <a:t>phone → laptop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2606040"/>
            <a:ext cx="502920" cy="73151"/>
          </a:xfrm>
          <a:prstGeom prst="line">
            <a:avLst/>
          </a:prstGeom>
          <a:ln w="1143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6819566" y="2618236"/>
            <a:ext cx="84154" cy="99536"/>
          </a:xfrm>
          <a:custGeom>
            <a:avLst/>
            <a:gdLst/>
            <a:ahLst/>
            <a:cxnLst/>
            <a:rect l="l" t="t" r="r" b="b"/>
            <a:pathLst>
              <a:path w="84154" h="99536">
                <a:moveTo>
                  <a:pt x="14478" y="0"/>
                </a:moveTo>
                <a:lnTo>
                  <a:pt x="84154" y="60955"/>
                </a:lnTo>
                <a:lnTo>
                  <a:pt x="0" y="99536"/>
                </a:lnTo>
              </a:path>
            </a:pathLst>
          </a:custGeom>
          <a:noFill/>
          <a:ln w="1143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03720" y="3008376"/>
            <a:ext cx="2834640" cy="475488"/>
          </a:xfrm>
          <a:prstGeom prst="roundRect">
            <a:avLst>
              <a:gd name="adj" fmla="val 9615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903720" y="3008376"/>
            <a:ext cx="283464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004304" y="3090672"/>
            <a:ext cx="2633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FFFFFF"/>
                </a:solidFill>
                <a:latin typeface="Aptos"/>
              </a:rPr>
              <a:t>kid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4304" y="3282696"/>
            <a:ext cx="2633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00" b="0" i="0">
                <a:solidFill>
                  <a:srgbClr val="94A3B8"/>
                </a:solidFill>
                <a:latin typeface="Aptos"/>
              </a:rPr>
              <a:t>hex(HMAC(root, "…kid"))[0:16]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15468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>
                <a:solidFill>
                  <a:srgbClr val="64748B"/>
                </a:solidFill>
                <a:latin typeface="Aptos"/>
              </a:rPr>
              <a:t>which pairing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0" y="2606040"/>
            <a:ext cx="502920" cy="640080"/>
          </a:xfrm>
          <a:prstGeom prst="line">
            <a:avLst/>
          </a:prstGeom>
          <a:ln w="1143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6816154" y="3153932"/>
            <a:ext cx="87566" cy="92188"/>
          </a:xfrm>
          <a:custGeom>
            <a:avLst/>
            <a:gdLst/>
            <a:ahLst/>
            <a:cxnLst/>
            <a:rect l="l" t="t" r="r" b="b"/>
            <a:pathLst>
              <a:path w="87566" h="92188">
                <a:moveTo>
                  <a:pt x="79091" y="0"/>
                </a:moveTo>
                <a:lnTo>
                  <a:pt x="87566" y="92188"/>
                </a:lnTo>
                <a:lnTo>
                  <a:pt x="0" y="62143"/>
                </a:lnTo>
              </a:path>
            </a:pathLst>
          </a:custGeom>
          <a:noFill/>
          <a:ln w="1143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373075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94360" y="3886200"/>
            <a:ext cx="5486400" cy="1874519"/>
          </a:xfrm>
          <a:prstGeom prst="roundRect">
            <a:avLst>
              <a:gd name="adj" fmla="val 1951"/>
            </a:avLst>
          </a:prstGeom>
          <a:solidFill>
            <a:srgbClr val="0B1120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22376" y="3977639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 spc="110">
                <a:solidFill>
                  <a:srgbClr val="64748B"/>
                </a:solidFill>
                <a:latin typeface="Aptos"/>
              </a:rPr>
              <a:t>FRAME FORMAT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4197096"/>
            <a:ext cx="5230368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frame = "VAULTLINK/2\n" + {kid, dir, ct}</a:t>
            </a:r>
          </a:p>
          <a:p>
            <a:pPr>
              <a:lnSpc>
                <a:spcPct val="112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ct    = IV(12) ‖ AES-256-GCM(json) ‖ tag(16)</a:t>
            </a:r>
          </a:p>
          <a:p>
            <a:pPr>
              <a:lnSpc>
                <a:spcPct val="112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AAD   = "VAULTLINK/2|" + dir + "|" + kid</a:t>
            </a:r>
          </a:p>
          <a:p>
            <a:pPr>
              <a:lnSpc>
                <a:spcPct val="112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request json: {id, op, ts, q, k, generate}</a:t>
            </a:r>
          </a:p>
          <a:p>
            <a:pPr>
              <a:lnSpc>
                <a:spcPct val="112000"/>
              </a:lnSpc>
            </a:pPr>
            <a:r>
              <a:rPr sz="860" b="0">
                <a:solidFill>
                  <a:srgbClr val="94A3B8"/>
                </a:solidFill>
                <a:latin typeface="Consolas"/>
              </a:rPr>
              <a:t>reply   json: {id, status, ...capsule, compute}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88620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Direction binding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101084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30" b="0" i="0">
                <a:solidFill>
                  <a:srgbClr val="94A3B8"/>
                </a:solidFill>
                <a:latin typeface="Aptos"/>
              </a:rPr>
              <a:t>Separate keys and AAD per direction: a reply cannot be replayed to the phone as a request.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489704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Freshness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704588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30" b="0" i="0">
                <a:solidFill>
                  <a:srgbClr val="94A3B8"/>
                </a:solidFill>
                <a:latin typeface="Aptos"/>
              </a:rPr>
              <a:t>Phone rejects ts outside ±5 min and any id seen in the last 10 min.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093208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Confidentiality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30809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30" b="0" i="0">
                <a:solidFill>
                  <a:srgbClr val="94A3B8"/>
                </a:solidFill>
                <a:latin typeface="Aptos"/>
              </a:rPr>
              <a:t>Office Kit, clipboard history and other apps see base64 ciphertext only.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" y="5998464"/>
            <a:ext cx="691286" cy="169164"/>
          </a:xfrm>
          <a:prstGeom prst="roundRect">
            <a:avLst>
              <a:gd name="adj" fmla="val 16216"/>
            </a:avLst>
          </a:prstGeom>
          <a:solidFill>
            <a:srgbClr val="112F31"/>
          </a:solidFill>
          <a:ln w="7620">
            <a:solidFill>
              <a:srgbClr val="166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94360" y="6024067"/>
            <a:ext cx="69128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22C55E"/>
                </a:solidFill>
                <a:latin typeface="Aptos"/>
              </a:rPr>
              <a:t>VERIFIED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31950" y="6016751"/>
            <a:ext cx="1012606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Key schedule vector shared by Dart and Python; tamper, wrong key, reflection, replay and stale ts all rejected in tests.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16 · VLP · 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What v2 stops, and what it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v1 was plaintext and unauthenticated. It remains only behind an explicit, labelled legacy switch.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6883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00">
                <a:solidFill>
                  <a:srgbClr val="64748B"/>
                </a:solidFill>
                <a:latin typeface="Aptos"/>
              </a:rPr>
              <a:t>THREAT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103120"/>
            <a:ext cx="116951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00">
                <a:solidFill>
                  <a:srgbClr val="64748B"/>
                </a:solidFill>
                <a:latin typeface="Aptos"/>
              </a:rPr>
              <a:t>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8517" y="2103120"/>
            <a:ext cx="282641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00">
                <a:solidFill>
                  <a:srgbClr val="64748B"/>
                </a:solidFill>
                <a:latin typeface="Aptos"/>
              </a:rPr>
              <a:t>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77439"/>
            <a:ext cx="6903720" cy="10058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2468879"/>
            <a:ext cx="2670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FFFFFF"/>
                </a:solidFill>
                <a:latin typeface="Aptos"/>
              </a:rPr>
              <a:t>Another app queries the vault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468879"/>
            <a:ext cx="115122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 i="0">
                <a:solidFill>
                  <a:srgbClr val="94A3B8"/>
                </a:solidFill>
                <a:latin typeface="Aptos"/>
              </a:rPr>
              <a:t>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8517" y="2468879"/>
            <a:ext cx="2808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22C55E"/>
                </a:solidFill>
                <a:latin typeface="Aptos"/>
              </a:rPr>
              <a:t>needs the pairing 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802635"/>
            <a:ext cx="6903720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2871215"/>
            <a:ext cx="2670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FFFFFF"/>
                </a:solidFill>
                <a:latin typeface="Aptos"/>
              </a:rPr>
              <a:t>Clipboard sync reads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871215"/>
            <a:ext cx="115122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 i="0">
                <a:solidFill>
                  <a:srgbClr val="94A3B8"/>
                </a:solidFill>
                <a:latin typeface="Aptos"/>
              </a:rPr>
              <a:t>plaintext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8517" y="2871215"/>
            <a:ext cx="2808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22C55E"/>
                </a:solidFill>
                <a:latin typeface="Aptos"/>
              </a:rPr>
              <a:t>ciphertext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204971"/>
            <a:ext cx="6903720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4360" y="3273551"/>
            <a:ext cx="2670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FFFFFF"/>
                </a:solidFill>
                <a:latin typeface="Aptos"/>
              </a:rPr>
              <a:t>Forged / edited reply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273551"/>
            <a:ext cx="115122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 i="0">
                <a:solidFill>
                  <a:srgbClr val="94A3B8"/>
                </a:solidFill>
                <a:latin typeface="Aptos"/>
              </a:rPr>
              <a:t>undetected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8517" y="3273551"/>
            <a:ext cx="2808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22C55E"/>
                </a:solidFill>
                <a:latin typeface="Aptos"/>
              </a:rPr>
              <a:t>GCM tag + ECDSA capsule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607307"/>
            <a:ext cx="6903720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3675887"/>
            <a:ext cx="2670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FFFFFF"/>
                </a:solidFill>
                <a:latin typeface="Aptos"/>
              </a:rPr>
              <a:t>Reply reflected as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3675887"/>
            <a:ext cx="115122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 i="0">
                <a:solidFill>
                  <a:srgbClr val="94A3B8"/>
                </a:solidFill>
                <a:latin typeface="Aptos"/>
              </a:rPr>
              <a:t>possible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8517" y="3675887"/>
            <a:ext cx="2808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22C55E"/>
                </a:solidFill>
                <a:latin typeface="Aptos"/>
              </a:rPr>
              <a:t>direction keys + AAD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009644"/>
            <a:ext cx="6903720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4078224"/>
            <a:ext cx="2670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FFFFFF"/>
                </a:solidFill>
                <a:latin typeface="Aptos"/>
              </a:rPr>
              <a:t>Replay of a captured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4078224"/>
            <a:ext cx="115122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 i="0">
                <a:solidFill>
                  <a:srgbClr val="94A3B8"/>
                </a:solidFill>
                <a:latin typeface="Aptos"/>
              </a:rPr>
              <a:t>possible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8517" y="4078224"/>
            <a:ext cx="2808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22C55E"/>
                </a:solidFill>
                <a:latin typeface="Aptos"/>
              </a:rPr>
              <a:t>±5 min, id cache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411980"/>
            <a:ext cx="6903720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94360" y="4480560"/>
            <a:ext cx="2670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FFFFFF"/>
                </a:solidFill>
                <a:latin typeface="Aptos"/>
              </a:rPr>
              <a:t>Capsule left on clipboard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848" y="4480560"/>
            <a:ext cx="115122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 i="0">
                <a:solidFill>
                  <a:srgbClr val="94A3B8"/>
                </a:solidFill>
                <a:latin typeface="Aptos"/>
              </a:rPr>
              <a:t>indefinite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8517" y="4480560"/>
            <a:ext cx="2808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22C55E"/>
                </a:solidFill>
                <a:latin typeface="Aptos"/>
              </a:rPr>
              <a:t>20 s compare-and-clear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814316"/>
            <a:ext cx="6903720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94360" y="4882896"/>
            <a:ext cx="2670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FFFFFF"/>
                </a:solidFill>
                <a:latin typeface="Aptos"/>
              </a:rPr>
              <a:t>Attacker's own signing key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4882896"/>
            <a:ext cx="115122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 i="0">
                <a:solidFill>
                  <a:srgbClr val="94A3B8"/>
                </a:solidFill>
                <a:latin typeface="Aptos"/>
              </a:rPr>
              <a:t>accepted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8517" y="4882896"/>
            <a:ext cx="2808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1" i="0">
                <a:solidFill>
                  <a:srgbClr val="22C55E"/>
                </a:solidFill>
                <a:latin typeface="Aptos"/>
              </a:rPr>
              <a:t>pinned key mismatch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79" y="2103120"/>
            <a:ext cx="3867912" cy="3246120"/>
          </a:xfrm>
          <a:prstGeom prst="roundRect">
            <a:avLst>
              <a:gd name="adj" fmla="val 1408"/>
            </a:avLst>
          </a:prstGeom>
          <a:solidFill>
            <a:srgbClr val="10192E"/>
          </a:solidFill>
          <a:ln w="10160">
            <a:solidFill>
              <a:srgbClr val="6B1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726679" y="2103120"/>
            <a:ext cx="3867912" cy="27432"/>
          </a:xfrm>
          <a:prstGeom prst="rect">
            <a:avLst/>
          </a:prstGeom>
          <a:solidFill>
            <a:srgbClr val="8E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827263" y="2185415"/>
            <a:ext cx="3666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Not stopped — stated plainly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2450592"/>
            <a:ext cx="36118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Malware as the same Windows user</a:t>
            </a:r>
          </a:p>
          <a:p>
            <a:pPr>
              <a:lnSpc>
                <a:spcPct val="122000"/>
              </a:lnSpc>
            </a:pPr>
            <a:r>
              <a:rPr sz="800" b="0">
                <a:solidFill>
                  <a:srgbClr val="94A3B8"/>
                </a:solidFill>
                <a:latin typeface="Aptos"/>
              </a:rPr>
              <a:t>DPAPI protects the root from other accounts, not your own processes.</a:t>
            </a:r>
          </a:p>
          <a:p>
            <a:pPr>
              <a:lnSpc>
                <a:spcPct val="122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Shoulder-surfing the code</a:t>
            </a:r>
          </a:p>
          <a:p>
            <a:pPr>
              <a:lnSpc>
                <a:spcPct val="122000"/>
              </a:lnSpc>
            </a:pPr>
            <a:r>
              <a:rPr sz="800" b="0">
                <a:solidFill>
                  <a:srgbClr val="94A3B8"/>
                </a:solidFill>
                <a:latin typeface="Aptos"/>
              </a:rPr>
              <a:t>Hidden until tapped; it is still a screen.</a:t>
            </a:r>
          </a:p>
          <a:p>
            <a:pPr>
              <a:lnSpc>
                <a:spcPct val="122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Replay across an app restart</a:t>
            </a:r>
          </a:p>
          <a:p>
            <a:pPr>
              <a:lnSpc>
                <a:spcPct val="122000"/>
              </a:lnSpc>
            </a:pPr>
            <a:r>
              <a:rPr sz="800" b="0">
                <a:solidFill>
                  <a:srgbClr val="94A3B8"/>
                </a:solidFill>
                <a:latin typeface="Aptos"/>
              </a:rPr>
              <a:t>Replay cache is in memory; ops are read-only and replies sealed.</a:t>
            </a:r>
          </a:p>
          <a:p>
            <a:pPr>
              <a:lnSpc>
                <a:spcPct val="122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Traffic analysis</a:t>
            </a:r>
          </a:p>
          <a:p>
            <a:pPr>
              <a:lnSpc>
                <a:spcPct val="122000"/>
              </a:lnSpc>
            </a:pPr>
            <a:r>
              <a:rPr sz="800" b="0">
                <a:solidFill>
                  <a:srgbClr val="94A3B8"/>
                </a:solidFill>
                <a:latin typeface="Aptos"/>
              </a:rPr>
              <a:t>Frame size and timing are visible.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998464"/>
            <a:ext cx="1371600" cy="169164"/>
          </a:xfrm>
          <a:prstGeom prst="roundRect">
            <a:avLst>
              <a:gd name="adj" fmla="val 16216"/>
            </a:avLst>
          </a:prstGeom>
          <a:solidFill>
            <a:srgbClr val="2E2C29"/>
          </a:solidFill>
          <a:ln w="7620">
            <a:solidFill>
              <a:srgbClr val="6D58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94360" y="6024067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F0B429"/>
                </a:solidFill>
                <a:latin typeface="Aptos"/>
              </a:rPr>
              <a:t>BUILT - NOT HARDENED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12264" y="6016751"/>
            <a:ext cx="9445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Legacy v1 is off by default on the phone; the laptop needs --insecure-v1 and prints a warning.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17 · CLIPBOARD RESIDUE &amp; AIR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Leave nothing behind, and nowhere to send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Both ends scrub the capsule after 20 seconds, but only if the clipboard still holds exactly what Vault put there.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210312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2231136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copy capsule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423160"/>
            <a:ext cx="190195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sensitive clip flag (Android 13+)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79" y="2542032"/>
            <a:ext cx="228600" cy="0"/>
          </a:xfrm>
          <a:prstGeom prst="line">
            <a:avLst/>
          </a:prstGeom>
          <a:ln w="1270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2848356" y="2491739"/>
            <a:ext cx="77723" cy="100585"/>
          </a:xfrm>
          <a:custGeom>
            <a:avLst/>
            <a:gdLst/>
            <a:ahLst/>
            <a:cxnLst/>
            <a:rect l="l" t="t" r="r" b="b"/>
            <a:pathLst>
              <a:path w="77723" h="100585">
                <a:moveTo>
                  <a:pt x="0" y="0"/>
                </a:moveTo>
                <a:lnTo>
                  <a:pt x="77723" y="50293"/>
                </a:lnTo>
                <a:lnTo>
                  <a:pt x="0" y="100585"/>
                </a:lnTo>
              </a:path>
            </a:pathLst>
          </a:custGeom>
          <a:noFill/>
          <a:ln w="1270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79" y="214884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926079" y="2148840"/>
            <a:ext cx="210312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026663" y="2231136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20 s countdown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3" y="2423160"/>
            <a:ext cx="190195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banner + progress; Win: 20→1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0" y="2542032"/>
            <a:ext cx="228600" cy="0"/>
          </a:xfrm>
          <a:prstGeom prst="line">
            <a:avLst/>
          </a:prstGeom>
          <a:ln w="12700">
            <a:solidFill>
              <a:srgbClr val="4454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5180076" y="2491739"/>
            <a:ext cx="77724" cy="100585"/>
          </a:xfrm>
          <a:custGeom>
            <a:avLst/>
            <a:gdLst/>
            <a:ahLst/>
            <a:cxnLst/>
            <a:rect l="l" t="t" r="r" b="b"/>
            <a:pathLst>
              <a:path w="77724" h="100585">
                <a:moveTo>
                  <a:pt x="0" y="0"/>
                </a:moveTo>
                <a:lnTo>
                  <a:pt x="77724" y="50293"/>
                </a:lnTo>
                <a:lnTo>
                  <a:pt x="0" y="100585"/>
                </a:lnTo>
              </a:path>
            </a:pathLst>
          </a:custGeom>
          <a:noFill/>
          <a:ln w="12700">
            <a:solidFill>
              <a:srgbClr val="4454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57800" y="2148840"/>
            <a:ext cx="2103120" cy="777240"/>
          </a:xfrm>
          <a:prstGeom prst="roundRect">
            <a:avLst>
              <a:gd name="adj" fmla="val 5882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257800" y="2148840"/>
            <a:ext cx="210312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58384" y="2231136"/>
            <a:ext cx="19019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read clipboard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423160"/>
            <a:ext cx="190195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40" b="0" i="0">
                <a:solidFill>
                  <a:srgbClr val="94A3B8"/>
                </a:solidFill>
                <a:latin typeface="Aptos"/>
              </a:rPr>
              <a:t>still byte-identical?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1874519"/>
            <a:ext cx="2240280" cy="640080"/>
          </a:xfrm>
          <a:prstGeom prst="roundRect">
            <a:avLst>
              <a:gd name="adj" fmla="val 7142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589520" y="1874519"/>
            <a:ext cx="224028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90104" y="1956815"/>
            <a:ext cx="2039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yes → clear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148839"/>
            <a:ext cx="2039112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20" b="0" i="0">
                <a:solidFill>
                  <a:srgbClr val="94A3B8"/>
                </a:solidFill>
                <a:latin typeface="Aptos"/>
              </a:rPr>
              <a:t>clearPrimaryClip / EmptyClipboard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2697480"/>
            <a:ext cx="2240280" cy="640080"/>
          </a:xfrm>
          <a:prstGeom prst="roundRect">
            <a:avLst>
              <a:gd name="adj" fmla="val 7142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589520" y="2697480"/>
            <a:ext cx="224028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90104" y="2779776"/>
            <a:ext cx="2039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no → leave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0104" y="2971800"/>
            <a:ext cx="2039112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20" b="0" i="0">
                <a:solidFill>
                  <a:srgbClr val="94A3B8"/>
                </a:solidFill>
                <a:latin typeface="Aptos"/>
              </a:rPr>
              <a:t>user copied something else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360920" y="2194560"/>
            <a:ext cx="228600" cy="347472"/>
          </a:xfrm>
          <a:prstGeom prst="line">
            <a:avLst/>
          </a:prstGeom>
          <a:ln w="1270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7504786" y="2194560"/>
            <a:ext cx="84734" cy="92573"/>
          </a:xfrm>
          <a:custGeom>
            <a:avLst/>
            <a:gdLst/>
            <a:ahLst/>
            <a:cxnLst/>
            <a:rect l="l" t="t" r="r" b="b"/>
            <a:pathLst>
              <a:path w="84734" h="92573">
                <a:moveTo>
                  <a:pt x="0" y="37290"/>
                </a:moveTo>
                <a:lnTo>
                  <a:pt x="84734" y="0"/>
                </a:lnTo>
                <a:lnTo>
                  <a:pt x="84030" y="92573"/>
                </a:lnTo>
              </a:path>
            </a:pathLst>
          </a:custGeom>
          <a:noFill/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360920" y="2542032"/>
            <a:ext cx="228600" cy="475488"/>
          </a:xfrm>
          <a:prstGeom prst="line">
            <a:avLst/>
          </a:prstGeom>
          <a:ln w="12700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7510516" y="2925679"/>
            <a:ext cx="90652" cy="91841"/>
          </a:xfrm>
          <a:custGeom>
            <a:avLst/>
            <a:gdLst/>
            <a:ahLst/>
            <a:cxnLst/>
            <a:rect l="l" t="t" r="r" b="b"/>
            <a:pathLst>
              <a:path w="90652" h="91841">
                <a:moveTo>
                  <a:pt x="90652" y="0"/>
                </a:moveTo>
                <a:lnTo>
                  <a:pt x="79004" y="91841"/>
                </a:lnTo>
                <a:lnTo>
                  <a:pt x="0" y="43583"/>
                </a:lnTo>
              </a:path>
            </a:pathLst>
          </a:cu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2011680"/>
            <a:ext cx="1645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60" b="0" i="0">
                <a:solidFill>
                  <a:srgbClr val="64748B"/>
                </a:solidFill>
                <a:latin typeface="Aptos"/>
              </a:rPr>
              <a:t>Background on Android? Unreadable → retried on resume, never cleared blind.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611880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94360" y="374903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NETWORK ISOLATION IS A BUILD PROPERTY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041648"/>
            <a:ext cx="5394960" cy="1737360"/>
          </a:xfrm>
          <a:prstGeom prst="roundRect">
            <a:avLst>
              <a:gd name="adj" fmla="val 2631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94360" y="4041648"/>
            <a:ext cx="539496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94944" y="4123944"/>
            <a:ext cx="5193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airgap (default)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" y="437083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onsolas"/>
              </a:rPr>
              <a:t>no network permission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" y="466344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src/airgapRelease strips INTERNET, ACCESS_NETWORK_STATE, WIFI/CHANGE_NETWORK_STATE even if a library merges them in. Bridge tab replaced by an air-gap notice.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041648"/>
            <a:ext cx="5394960" cy="1737360"/>
          </a:xfrm>
          <a:prstGeom prst="roundRect">
            <a:avLst>
              <a:gd name="adj" fmla="val 2631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172200" y="4041648"/>
            <a:ext cx="539496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72784" y="4123944"/>
            <a:ext cx="5193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lan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1928" y="437083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0B429"/>
                </a:solidFill>
                <a:latin typeface="Consolas"/>
              </a:rPr>
              <a:t>android.permission.INTERNET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1928" y="466344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Opt-in WebSocket co-processor bridge to bridge_server.py; phone dials out, no listening port on the device.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" y="5998464"/>
            <a:ext cx="691286" cy="169164"/>
          </a:xfrm>
          <a:prstGeom prst="roundRect">
            <a:avLst>
              <a:gd name="adj" fmla="val 16216"/>
            </a:avLst>
          </a:prstGeom>
          <a:solidFill>
            <a:srgbClr val="112F31"/>
          </a:solidFill>
          <a:ln w="7620">
            <a:solidFill>
              <a:srgbClr val="166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94360" y="6024067"/>
            <a:ext cx="69128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22C55E"/>
                </a:solidFill>
                <a:latin typeface="Aptos"/>
              </a:rPr>
              <a:t>VERIFIED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31950" y="6016751"/>
            <a:ext cx="1012606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aapt2 dump permissions on both release APKs; Win32 scrub tested on a real clipboard (cleared vs replaced).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18 · DESKTOP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The laptop side: small, scriptable, verifying.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Two transports to the same engine — the clipboard loop for the air-gapped build, a LAN bridge for IDE and MCP clients.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440680" cy="2286000"/>
          </a:xfrm>
          <a:prstGeom prst="roundRect">
            <a:avLst>
              <a:gd name="adj" fmla="val 2000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103120"/>
            <a:ext cx="5440680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2185415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vaultlink.py  (clipboard, any build)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432304"/>
            <a:ext cx="5212080" cy="1828800"/>
          </a:xfrm>
          <a:prstGeom prst="roundRect">
            <a:avLst>
              <a:gd name="adj" fmla="val 2000"/>
            </a:avLst>
          </a:prstGeom>
          <a:solidFill>
            <a:srgbClr val="0B1120"/>
          </a:solidFill>
          <a:ln w="889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2104" y="2542032"/>
            <a:ext cx="4956048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python vaultlink.py pair XXXXX-XXXXX-XXXXX-XXXXX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python vaultlink.py enroll [--attestation-root root.pem]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python vaultlink.py ping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python vaultlink.py ask "question" [-k 5] [--no-generate]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python vaultlink.py all          # 14 ground-truth questions</a:t>
            </a:r>
          </a:p>
          <a:p>
            <a:pPr>
              <a:lnSpc>
                <a:spcPct val="112000"/>
              </a:lnSpc>
            </a:pPr>
            <a:r>
              <a:rPr sz="840" b="0">
                <a:solidFill>
                  <a:srgbClr val="94A3B8"/>
                </a:solidFill>
                <a:latin typeface="Consolas"/>
              </a:rPr>
              <a:t>python vaultlink.py verify out/capsule_s01.json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103120"/>
            <a:ext cx="5440680" cy="2286000"/>
          </a:xfrm>
          <a:prstGeom prst="roundRect">
            <a:avLst>
              <a:gd name="adj" fmla="val 2000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53912" y="2103120"/>
            <a:ext cx="5440680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54496" y="2185415"/>
            <a:ext cx="52395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bridge_server.py  (lan flavor)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432304"/>
            <a:ext cx="52120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80" b="1">
                <a:solidFill>
                  <a:srgbClr val="FFFFFF"/>
                </a:solidFill>
                <a:latin typeface="Aptos"/>
              </a:rPr>
              <a:t>IDE / MCP / query.py  → HTTP 127.0.0.1:8000</a:t>
            </a:r>
          </a:p>
          <a:p>
            <a:pPr>
              <a:lnSpc>
                <a:spcPct val="120000"/>
              </a:lnSpc>
            </a:pPr>
            <a:r>
              <a:rPr sz="780" b="0">
                <a:solidFill>
                  <a:srgbClr val="94A3B8"/>
                </a:solidFill>
                <a:latin typeface="Aptos"/>
              </a:rPr>
              <a:t>            ↓</a:t>
            </a:r>
          </a:p>
          <a:p>
            <a:pPr>
              <a:lnSpc>
                <a:spcPct val="120000"/>
              </a:lnSpc>
            </a:pPr>
            <a:r>
              <a:rPr sz="780" b="1">
                <a:solidFill>
                  <a:srgbClr val="FFFFFF"/>
                </a:solidFill>
                <a:latin typeface="Aptos"/>
              </a:rPr>
              <a:t>bridge_server.py  ← WebSocket /ws/phone ← phone dials out</a:t>
            </a:r>
          </a:p>
          <a:p>
            <a:pPr>
              <a:lnSpc>
                <a:spcPct val="120000"/>
              </a:lnSpc>
            </a:pPr>
            <a:r>
              <a:rPr sz="780" b="0">
                <a:solidFill>
                  <a:srgbClr val="94A3B8"/>
                </a:solidFill>
                <a:latin typeface="Aptos"/>
              </a:rPr>
              <a:t/>
            </a:r>
          </a:p>
          <a:p>
            <a:pPr>
              <a:lnSpc>
                <a:spcPct val="120000"/>
              </a:lnSpc>
            </a:pPr>
            <a:r>
              <a:rPr sz="780" b="0">
                <a:solidFill>
                  <a:srgbClr val="94A3B8"/>
                </a:solidFill>
                <a:latin typeface="Aptos"/>
              </a:rPr>
              <a:t>/api/status · /api/telemetry · /api/query · /api/llm · /api/ask · /api/index</a:t>
            </a:r>
          </a:p>
          <a:p>
            <a:pPr>
              <a:lnSpc>
                <a:spcPct val="120000"/>
              </a:lnSpc>
            </a:pPr>
            <a:r>
              <a:rPr sz="780" b="0">
                <a:solidFill>
                  <a:srgbClr val="94A3B8"/>
                </a:solidFill>
                <a:latin typeface="Aptos"/>
              </a:rPr>
              <a:t>MCP: iqoo_get_status · iqoo_get_telemetry · iqoo_query_agent · iqoo_ask_capsule · iqoo_index_code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9028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EVALUATION AND TEST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864608"/>
            <a:ext cx="3566160" cy="868680"/>
          </a:xfrm>
          <a:prstGeom prst="roundRect">
            <a:avLst>
              <a:gd name="adj" fmla="val 5263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94360" y="4864608"/>
            <a:ext cx="356616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94944" y="4946904"/>
            <a:ext cx="3364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gen_sensitive_doc.py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138928"/>
            <a:ext cx="3364991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60" b="0" i="0">
                <a:solidFill>
                  <a:srgbClr val="94A3B8"/>
                </a:solidFill>
                <a:latin typeface="Aptos"/>
              </a:rPr>
              <a:t>synthetic HR/finance secrets doc + 14 labelled questions, invalid-by-construction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4864608"/>
            <a:ext cx="3566160" cy="868680"/>
          </a:xfrm>
          <a:prstGeom prst="roundRect">
            <a:avLst>
              <a:gd name="adj" fmla="val 5263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25112" y="4864608"/>
            <a:ext cx="356616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25696" y="4946904"/>
            <a:ext cx="3364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corpus/ + run_eval.py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5138928"/>
            <a:ext cx="3364991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60" b="0" i="0">
                <a:solidFill>
                  <a:srgbClr val="94A3B8"/>
                </a:solidFill>
                <a:latin typeface="Aptos"/>
              </a:rPr>
              <a:t>4 policy documents with ground truth for retrieval scoring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4864608"/>
            <a:ext cx="3566160" cy="868680"/>
          </a:xfrm>
          <a:prstGeom prst="roundRect">
            <a:avLst>
              <a:gd name="adj" fmla="val 5263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55864" y="4864608"/>
            <a:ext cx="3566160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56448" y="4946904"/>
            <a:ext cx="3364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vault-embed · vault-query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5138928"/>
            <a:ext cx="3364991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60" b="0" i="0">
                <a:solidFill>
                  <a:srgbClr val="94A3B8"/>
                </a:solidFill>
                <a:latin typeface="Aptos"/>
              </a:rPr>
              <a:t>CLI to push documents and query over the bridge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19 · TELEMETRY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Measure what the hardware did, not what the brochure says.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Device counters where Android exposes them, and per-hardware leases from the code that dispatched the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84831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RUNTIME LEASES — INDEPENDENT PER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FFFFFF"/>
                </a:solidFill>
                <a:latin typeface="Aptos"/>
              </a:rPr>
              <a:t>NPU · minilm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2505456"/>
            <a:ext cx="5120640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484120" y="2395728"/>
            <a:ext cx="384048" cy="237744"/>
          </a:xfrm>
          <a:prstGeom prst="roundRect">
            <a:avLst>
              <a:gd name="adj" fmla="val 11538"/>
            </a:avLst>
          </a:prstGeom>
          <a:solidFill>
            <a:srgbClr val="197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380232" y="2395728"/>
            <a:ext cx="384048" cy="237744"/>
          </a:xfrm>
          <a:prstGeom prst="roundRect">
            <a:avLst>
              <a:gd name="adj" fmla="val 11538"/>
            </a:avLst>
          </a:prstGeom>
          <a:solidFill>
            <a:srgbClr val="197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276344" y="2395728"/>
            <a:ext cx="384047" cy="237744"/>
          </a:xfrm>
          <a:prstGeom prst="roundRect">
            <a:avLst>
              <a:gd name="adj" fmla="val 11538"/>
            </a:avLst>
          </a:prstGeom>
          <a:solidFill>
            <a:srgbClr val="197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172456" y="2395728"/>
            <a:ext cx="384047" cy="237744"/>
          </a:xfrm>
          <a:prstGeom prst="roundRect">
            <a:avLst>
              <a:gd name="adj" fmla="val 11538"/>
            </a:avLst>
          </a:prstGeom>
          <a:solidFill>
            <a:srgbClr val="197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068568" y="2395728"/>
            <a:ext cx="384048" cy="237744"/>
          </a:xfrm>
          <a:prstGeom prst="roundRect">
            <a:avLst>
              <a:gd name="adj" fmla="val 11538"/>
            </a:avLst>
          </a:prstGeom>
          <a:solidFill>
            <a:srgbClr val="197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287121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FFFFFF"/>
                </a:solidFill>
                <a:latin typeface="Aptos"/>
              </a:rPr>
              <a:t>GPU · llama.cpp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2926080"/>
            <a:ext cx="5120640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2228088" y="2816352"/>
            <a:ext cx="4523232" cy="237744"/>
          </a:xfrm>
          <a:prstGeom prst="roundRect">
            <a:avLst>
              <a:gd name="adj" fmla="val 11538"/>
            </a:avLst>
          </a:prstGeom>
          <a:solidFill>
            <a:srgbClr val="8A6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29184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FFFFFF"/>
                </a:solidFill>
                <a:latin typeface="Aptos"/>
              </a:rPr>
              <a:t>CPU · ranking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3346704"/>
            <a:ext cx="5120640" cy="10972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2910840" y="3236976"/>
            <a:ext cx="85344" cy="237744"/>
          </a:xfrm>
          <a:prstGeom prst="roundRect">
            <a:avLst>
              <a:gd name="adj" fmla="val 32142"/>
            </a:avLst>
          </a:prstGeom>
          <a:solidFill>
            <a:srgbClr val="58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4020312" y="3236976"/>
            <a:ext cx="85344" cy="237744"/>
          </a:xfrm>
          <a:prstGeom prst="roundRect">
            <a:avLst>
              <a:gd name="adj" fmla="val 32142"/>
            </a:avLst>
          </a:prstGeom>
          <a:solidFill>
            <a:srgbClr val="58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044440" y="3236976"/>
            <a:ext cx="85344" cy="237744"/>
          </a:xfrm>
          <a:prstGeom prst="roundRect">
            <a:avLst>
              <a:gd name="adj" fmla="val 32142"/>
            </a:avLst>
          </a:prstGeom>
          <a:solidFill>
            <a:srgbClr val="58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068568" y="3236976"/>
            <a:ext cx="85343" cy="237744"/>
          </a:xfrm>
          <a:prstGeom prst="roundRect">
            <a:avLst>
              <a:gd name="adj" fmla="val 32142"/>
            </a:avLst>
          </a:prstGeom>
          <a:solidFill>
            <a:srgbClr val="58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2228088" y="2304288"/>
            <a:ext cx="4523232" cy="1335024"/>
          </a:xfrm>
          <a:prstGeom prst="rect">
            <a:avLst/>
          </a:prstGeom>
          <a:noFill/>
          <a:ln w="8890">
            <a:solidFill>
              <a:srgbClr val="186E4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057400" y="3675887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>
                <a:solidFill>
                  <a:srgbClr val="22C55E"/>
                </a:solidFill>
                <a:latin typeface="Aptos"/>
              </a:rPr>
              <a:t>npu_gpu_overlap_ms = wall time both had work in flight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084831"/>
            <a:ext cx="4297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Device-wide probes</a:t>
            </a:r>
          </a:p>
          <a:p>
            <a:pPr>
              <a:lnSpc>
                <a:spcPct val="122000"/>
              </a:lnSpc>
            </a:pPr>
            <a:r>
              <a:rPr sz="800" b="0">
                <a:solidFill>
                  <a:srgbClr val="94A3B8"/>
                </a:solidFill>
                <a:latin typeface="Aptos"/>
              </a:rPr>
              <a:t>CPU /proc/stat · GPU KGSL busy · NPU devfreq (not exposed on production Android — shown unavailable, never faked) · thermal via PowerManager</a:t>
            </a:r>
          </a:p>
          <a:p>
            <a:pPr>
              <a:lnSpc>
                <a:spcPct val="122000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Attribution rules</a:t>
            </a:r>
          </a:p>
          <a:p>
            <a:pPr>
              <a:lnSpc>
                <a:spcPct val="122000"/>
              </a:lnSpc>
            </a:pPr>
            <a:r>
              <a:rPr sz="800" b="0">
                <a:solidFill>
                  <a:srgbClr val="94A3B8"/>
                </a:solidFill>
                <a:latin typeface="Aptos"/>
              </a:rPr>
              <a:t>NPU only after QNN HTP verified; GPU only when ggml reports the model on a GPU device; MediaPipe by its load backend.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023360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4133087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BENCHMARKS ON THE STATS TAB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425696"/>
            <a:ext cx="2670048" cy="1325880"/>
          </a:xfrm>
          <a:prstGeom prst="roundRect">
            <a:avLst>
              <a:gd name="adj" fmla="val 3448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94360" y="4425696"/>
            <a:ext cx="2670048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94944" y="4507992"/>
            <a:ext cx="2468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Embedding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4700016"/>
            <a:ext cx="2468879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warm-up discarded; P50/P90/P95; per-backend sweep incl. QNN HTP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74136" y="4425696"/>
            <a:ext cx="2670048" cy="1325880"/>
          </a:xfrm>
          <a:prstGeom prst="roundRect">
            <a:avLst>
              <a:gd name="adj" fmla="val 3448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374136" y="4425696"/>
            <a:ext cx="2670048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474720" y="4507992"/>
            <a:ext cx="2468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Reasoning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700016"/>
            <a:ext cx="2468879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timed generations on the loaded runtime with utilisation averaged over the run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3912" y="4425696"/>
            <a:ext cx="2670048" cy="1325880"/>
          </a:xfrm>
          <a:prstGeom prst="roundRect">
            <a:avLst>
              <a:gd name="adj" fmla="val 3448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153912" y="4425696"/>
            <a:ext cx="267004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54496" y="4507992"/>
            <a:ext cx="2468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Two-model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4496" y="4700016"/>
            <a:ext cx="2468879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MiniLM · CPU ranking · retrieval-only · prefill/decode/tok/s · indexing during generation · RSS · thermal · QNN + llama status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33688" y="4425696"/>
            <a:ext cx="2670048" cy="1325880"/>
          </a:xfrm>
          <a:prstGeom prst="roundRect">
            <a:avLst>
              <a:gd name="adj" fmla="val 3448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933688" y="4425696"/>
            <a:ext cx="2670048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034272" y="4507992"/>
            <a:ext cx="2468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Rank micro-bench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4272" y="4700016"/>
            <a:ext cx="2468879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bench_rank_main.dart: 1,000 and 5,000 × 384 in release AOT on device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998464"/>
            <a:ext cx="1371600" cy="169164"/>
          </a:xfrm>
          <a:prstGeom prst="roundRect">
            <a:avLst>
              <a:gd name="adj" fmla="val 16216"/>
            </a:avLst>
          </a:prstGeom>
          <a:solidFill>
            <a:srgbClr val="2E2C29"/>
          </a:solidFill>
          <a:ln w="7620">
            <a:solidFill>
              <a:srgbClr val="6D58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94360" y="6024067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F0B429"/>
                </a:solidFill>
                <a:latin typeface="Aptos"/>
              </a:rPr>
              <a:t>BUILT - NOT HARDENED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12264" y="6016751"/>
            <a:ext cx="9445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Pipeline benchmark built; device run pending once QNN is confirmed. Host rank bench: 0.6–0.8 ms (not a device figure).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20 ·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What is measured, what is verified, what is open.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Numbers from the iQOO 15 VaultLink sessions and from host tooling, each labelled by where it came from.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66692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00">
                <a:solidFill>
                  <a:srgbClr val="64748B"/>
                </a:solidFill>
                <a:latin typeface="Aptos"/>
              </a:rPr>
              <a:t>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438" y="2103120"/>
            <a:ext cx="47669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00">
                <a:solidFill>
                  <a:srgbClr val="64748B"/>
                </a:solidFill>
                <a:latin typeface="Aptos"/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4540" y="2103120"/>
            <a:ext cx="23468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00">
                <a:solidFill>
                  <a:srgbClr val="64748B"/>
                </a:solidFill>
                <a:latin typeface="Aptos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77439"/>
            <a:ext cx="11000232" cy="10058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2468879"/>
            <a:ext cx="364863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FFFFFF"/>
                </a:solidFill>
                <a:latin typeface="Aptos"/>
              </a:rPr>
              <a:t>SoC reported by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438" y="2468879"/>
            <a:ext cx="4748662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SM8850 · Hexagon V81 skel packaged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4540" y="2468879"/>
            <a:ext cx="2328611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22C55E"/>
                </a:solidFill>
                <a:latin typeface="Aptos"/>
              </a:rPr>
              <a:t>MEASURED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61487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2830068"/>
            <a:ext cx="364863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FFFFFF"/>
                </a:solidFill>
                <a:latin typeface="Aptos"/>
              </a:rPr>
              <a:t>Key location (KeyInfo)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438" y="2830068"/>
            <a:ext cx="4748662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StrongBox for AES + ECDSA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4540" y="2830068"/>
            <a:ext cx="2328611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22C55E"/>
                </a:solidFill>
                <a:latin typeface="Aptos"/>
              </a:rPr>
              <a:t>MEASURED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122675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4360" y="3191256"/>
            <a:ext cx="364863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FFFFFF"/>
                </a:solidFill>
                <a:latin typeface="Aptos"/>
              </a:rPr>
              <a:t>Capsule signature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438" y="3191256"/>
            <a:ext cx="4748662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valid ECDSA-P256 from device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4540" y="3191256"/>
            <a:ext cx="2328611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22C55E"/>
                </a:solidFill>
                <a:latin typeface="Aptos"/>
              </a:rPr>
              <a:t>MEASURED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483863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3552444"/>
            <a:ext cx="364863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FFFFFF"/>
                </a:solidFill>
                <a:latin typeface="Aptos"/>
              </a:rPr>
              <a:t>MiniLM encoder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438" y="3552444"/>
            <a:ext cx="4748662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XNNPACK: 58 ms load bench · 113–137 ms in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4540" y="3552444"/>
            <a:ext cx="2328611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22C55E"/>
                </a:solidFill>
                <a:latin typeface="Aptos"/>
              </a:rPr>
              <a:t>MEASURED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845051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3913631"/>
            <a:ext cx="364863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FFFFFF"/>
                </a:solidFill>
                <a:latin typeface="Aptos"/>
              </a:rPr>
              <a:t>Retrieval end-to-end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438" y="3913631"/>
            <a:ext cx="4748662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≈2.0 s (StrongBox decrypt of 3 chunks)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4540" y="3913631"/>
            <a:ext cx="2328611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22C55E"/>
                </a:solidFill>
                <a:latin typeface="Aptos"/>
              </a:rPr>
              <a:t>MEASURED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206239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94360" y="4274820"/>
            <a:ext cx="364863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FFFFFF"/>
                </a:solidFill>
                <a:latin typeface="Aptos"/>
              </a:rPr>
              <a:t>Reasoner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438" y="4274820"/>
            <a:ext cx="4748662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SmolLM2-1.7B Q4_K_M · llama.cpp GPU · ≈10.5 tok/s e2e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4540" y="4274820"/>
            <a:ext cx="2328611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22C55E"/>
                </a:solidFill>
                <a:latin typeface="Aptos"/>
              </a:rPr>
              <a:t>MEASURED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567428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94360" y="4636008"/>
            <a:ext cx="364863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FFFFFF"/>
                </a:solidFill>
                <a:latin typeface="Aptos"/>
              </a:rPr>
              <a:t>QNN HTP embeddings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438" y="4636008"/>
            <a:ext cx="4748662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first export failed; re-export pending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4540" y="4636008"/>
            <a:ext cx="2328611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DC2626"/>
                </a:solidFill>
                <a:latin typeface="Aptos"/>
              </a:rPr>
              <a:t>OPEN GAP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928616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94360" y="4997196"/>
            <a:ext cx="364863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FFFFFF"/>
                </a:solidFill>
                <a:latin typeface="Aptos"/>
              </a:rPr>
              <a:t>Network permissions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438" y="4997196"/>
            <a:ext cx="4748662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airgap: none · lan: INTERNET (aapt2)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4540" y="4997196"/>
            <a:ext cx="2328611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22C55E"/>
                </a:solidFill>
                <a:latin typeface="Aptos"/>
              </a:rPr>
              <a:t>VERIFIED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5289803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94360" y="5358383"/>
            <a:ext cx="364863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FFFFFF"/>
                </a:solidFill>
                <a:latin typeface="Aptos"/>
              </a:rPr>
              <a:t>Crypto + protocol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438" y="5358383"/>
            <a:ext cx="4748662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236 Flutter · 66 Python tests; JCA interop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4540" y="5358383"/>
            <a:ext cx="2328611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22C55E"/>
                </a:solidFill>
                <a:latin typeface="Aptos"/>
              </a:rPr>
              <a:t>VERIFIED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5650991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94360" y="5719572"/>
            <a:ext cx="364863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FFFFFF"/>
                </a:solidFill>
                <a:latin typeface="Aptos"/>
              </a:rPr>
              <a:t>NPU-shaped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438" y="5719572"/>
            <a:ext cx="4748662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305 nodes · cosine 1.000000 vs ONNX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74540" y="5719572"/>
            <a:ext cx="2328611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40" b="1" i="0">
                <a:solidFill>
                  <a:srgbClr val="22C55E"/>
                </a:solidFill>
                <a:latin typeface="Aptos"/>
              </a:rPr>
              <a:t>VERIFIED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21 · WHAT THE DEVICE TAUGHT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When answers fail, look at retrieval before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Five sensitive-doc questions on the phone: every question that reached the model was answered correctly.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84831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256-WORD CHUNK VS MINILM'S 254-TOKEN WINDOW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95728"/>
            <a:ext cx="5486400" cy="420624"/>
          </a:xfrm>
          <a:prstGeom prst="rect">
            <a:avLst/>
          </a:prstGeom>
          <a:solidFill>
            <a:srgbClr val="144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050792" y="2395728"/>
            <a:ext cx="2029967" cy="420624"/>
          </a:xfrm>
          <a:prstGeom prst="rect">
            <a:avLst/>
          </a:prstGeom>
          <a:solidFill>
            <a:srgbClr val="56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2505456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embedded · 254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2" y="2505456"/>
            <a:ext cx="202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never seen · 35–38 %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99266" y="2852928"/>
            <a:ext cx="0" cy="201168"/>
          </a:xfrm>
          <a:prstGeom prst="line">
            <a:avLst/>
          </a:prstGeom>
          <a:ln w="15240">
            <a:solidFill>
              <a:srgbClr val="22C5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93426" y="307238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>
                <a:solidFill>
                  <a:srgbClr val="22C55E"/>
                </a:solidFill>
                <a:latin typeface="Aptos"/>
              </a:rPr>
              <a:t>s01 salary · token 148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33240" y="2852928"/>
            <a:ext cx="0" cy="201168"/>
          </a:xfrm>
          <a:prstGeom prst="line">
            <a:avLst/>
          </a:prstGeom>
          <a:ln w="1524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27400" y="307238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>
                <a:solidFill>
                  <a:srgbClr val="DC2626"/>
                </a:solidFill>
                <a:latin typeface="Aptos"/>
              </a:rPr>
              <a:t>s03 bonus 272 · s11 card 280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290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40" b="0">
                <a:solidFill>
                  <a:srgbClr val="94A3B8"/>
                </a:solidFill>
                <a:latin typeface="Aptos"/>
              </a:rPr>
              <a:t>A ~400-token chunk is cut at 254 tokens, so facts in the back third are unretrievable, and one vector averaged over many facts dilutes single-fact questions (scores 0.30–0.45).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2108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00">
                <a:solidFill>
                  <a:srgbClr val="64748B"/>
                </a:solidFill>
                <a:latin typeface="Aptos"/>
              </a:rP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2192" y="2103120"/>
            <a:ext cx="2939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00">
                <a:solidFill>
                  <a:srgbClr val="64748B"/>
                </a:solidFill>
                <a:latin typeface="Aptos"/>
              </a:rPr>
              <a:t>CAUSE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77439"/>
            <a:ext cx="5193792" cy="10058"/>
          </a:xfrm>
          <a:prstGeom prst="rect">
            <a:avLst/>
          </a:prstGeom>
          <a:solidFill>
            <a:srgbClr val="2A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0" y="2468879"/>
            <a:ext cx="2089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30" b="1" i="0">
                <a:solidFill>
                  <a:srgbClr val="FFFFFF"/>
                </a:solidFill>
                <a:latin typeface="Aptos"/>
              </a:rPr>
              <a:t>3/5 refused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2192" y="2468879"/>
            <a:ext cx="2920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30" b="0" i="0">
                <a:solidFill>
                  <a:srgbClr val="94A3B8"/>
                </a:solidFill>
                <a:latin typeface="Aptos"/>
              </a:rPr>
              <a:t>similarity gate — removed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766059"/>
            <a:ext cx="519379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0" y="2834639"/>
            <a:ext cx="2089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30" b="1" i="0">
                <a:solidFill>
                  <a:srgbClr val="FFFFFF"/>
                </a:solidFill>
                <a:latin typeface="Aptos"/>
              </a:rPr>
              <a:t>facts not found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2192" y="2834639"/>
            <a:ext cx="2920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30" b="0" i="0">
                <a:solidFill>
                  <a:srgbClr val="94A3B8"/>
                </a:solidFill>
                <a:latin typeface="Aptos"/>
              </a:rPr>
              <a:t>chunks overflow the encoder 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131819"/>
            <a:ext cx="519379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0" y="3200400"/>
            <a:ext cx="2089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30" b="1" i="0">
                <a:solidFill>
                  <a:srgbClr val="FFFFFF"/>
                </a:solidFill>
                <a:latin typeface="Aptos"/>
              </a:rPr>
              <a:t>≈2 s retrieval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2192" y="3200400"/>
            <a:ext cx="2920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30" b="0" i="0">
                <a:solidFill>
                  <a:srgbClr val="94A3B8"/>
                </a:solidFill>
                <a:latin typeface="Aptos"/>
              </a:rPr>
              <a:t>chunk key in StrongBox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497579"/>
            <a:ext cx="519379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0" y="3566160"/>
            <a:ext cx="2089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30" b="1" i="0">
                <a:solidFill>
                  <a:srgbClr val="FFFFFF"/>
                </a:solidFill>
                <a:latin typeface="Aptos"/>
              </a:rPr>
              <a:t>≈10.5 tok/s e2e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2192" y="3566160"/>
            <a:ext cx="2920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30" b="0" i="0">
                <a:solidFill>
                  <a:srgbClr val="94A3B8"/>
                </a:solidFill>
                <a:latin typeface="Aptos"/>
              </a:rPr>
              <a:t>long prompt + verbose JSON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863339"/>
            <a:ext cx="519379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0" y="3931920"/>
            <a:ext cx="2089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30" b="1" i="0">
                <a:solidFill>
                  <a:srgbClr val="FFFFFF"/>
                </a:solidFill>
                <a:latin typeface="Aptos"/>
              </a:rPr>
              <a:t>no NPU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2192" y="3931920"/>
            <a:ext cx="2920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30" b="0" i="0">
                <a:solidFill>
                  <a:srgbClr val="94A3B8"/>
                </a:solidFill>
                <a:latin typeface="Aptos"/>
              </a:rPr>
              <a:t>export with shape ops + int64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526280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94360" y="464515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64748B"/>
                </a:solidFill>
                <a:latin typeface="Aptos"/>
              </a:rPr>
              <a:t>FIXES, IN ORDER OF IMPACT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937760"/>
            <a:ext cx="2670048" cy="822960"/>
          </a:xfrm>
          <a:prstGeom prst="roundRect">
            <a:avLst>
              <a:gd name="adj" fmla="val 5555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94360" y="4937760"/>
            <a:ext cx="267004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94944" y="5020056"/>
            <a:ext cx="2468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Token-aware chunks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5212080"/>
            <a:ext cx="2468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≤ ~200 tokens, ~40 overlap; re-index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74136" y="4937760"/>
            <a:ext cx="2670048" cy="822960"/>
          </a:xfrm>
          <a:prstGeom prst="roundRect">
            <a:avLst>
              <a:gd name="adj" fmla="val 5555"/>
            </a:avLst>
          </a:prstGeom>
          <a:solidFill>
            <a:srgbClr val="10192E"/>
          </a:solidFill>
          <a:ln w="10160">
            <a:solidFill>
              <a:srgbClr val="176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374136" y="4937760"/>
            <a:ext cx="2670048" cy="27432"/>
          </a:xfrm>
          <a:prstGeom prst="rect">
            <a:avLst/>
          </a:prstGeom>
          <a:solidFill>
            <a:srgbClr val="1A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474720" y="5020056"/>
            <a:ext cx="2468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Chunk key in TEE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212080"/>
            <a:ext cx="2468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keep signing key in StrongBox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3912" y="4937760"/>
            <a:ext cx="2670048" cy="822960"/>
          </a:xfrm>
          <a:prstGeom prst="roundRect">
            <a:avLst>
              <a:gd name="adj" fmla="val 5555"/>
            </a:avLst>
          </a:prstGeom>
          <a:solidFill>
            <a:srgbClr val="10192E"/>
          </a:solidFill>
          <a:ln w="10160">
            <a:solidFill>
              <a:srgbClr val="74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153912" y="4937760"/>
            <a:ext cx="2670048" cy="27432"/>
          </a:xfrm>
          <a:prstGeom prst="rect">
            <a:avLst/>
          </a:prstGeom>
          <a:solidFill>
            <a:srgbClr val="9A7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54496" y="5020056"/>
            <a:ext cx="2468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Confirm QNN on device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4496" y="5212080"/>
            <a:ext cx="2468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NPU-shaped model shipped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33688" y="4937760"/>
            <a:ext cx="2670048" cy="822960"/>
          </a:xfrm>
          <a:prstGeom prst="roundRect">
            <a:avLst>
              <a:gd name="adj" fmla="val 5555"/>
            </a:avLst>
          </a:prstGeom>
          <a:solidFill>
            <a:srgbClr val="10192E"/>
          </a:solidFill>
          <a:ln w="10160">
            <a:solidFill>
              <a:srgbClr val="4A5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8933688" y="4937760"/>
            <a:ext cx="2670048" cy="27432"/>
          </a:xfrm>
          <a:prstGeom prst="rect">
            <a:avLst/>
          </a:prstGeom>
          <a:solidFill>
            <a:srgbClr val="616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034272" y="5020056"/>
            <a:ext cx="2468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Record prefill/decode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34272" y="5212080"/>
            <a:ext cx="2468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cap tokens for short answers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" y="5998464"/>
            <a:ext cx="1258214" cy="169164"/>
          </a:xfrm>
          <a:prstGeom prst="roundRect">
            <a:avLst>
              <a:gd name="adj" fmla="val 16216"/>
            </a:avLst>
          </a:prstGeom>
          <a:solidFill>
            <a:srgbClr val="112F31"/>
          </a:solidFill>
          <a:ln w="7620">
            <a:solidFill>
              <a:srgbClr val="166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94360" y="6024067"/>
            <a:ext cx="125821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55">
                <a:solidFill>
                  <a:srgbClr val="22C55E"/>
                </a:solidFill>
                <a:latin typeface="Aptos"/>
              </a:rPr>
              <a:t>MEASURED ON DEVICE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98878" y="6016751"/>
            <a:ext cx="955913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4546F"/>
                </a:solidFill>
                <a:latin typeface="Aptos"/>
              </a:rPr>
              <a:t>Token offsets computed with the verified tokenizer port on the exact chunks the phone returned.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22 · ROADMAP &amp;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What comes next, and what is not claimed.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Ordered by what moves answer quality and demo credibility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40">
                <a:solidFill>
                  <a:srgbClr val="22C55E"/>
                </a:solidFill>
                <a:latin typeface="Aptos"/>
              </a:rPr>
              <a:t>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3529584" cy="27432"/>
          </a:xfrm>
          <a:prstGeom prst="rect">
            <a:avLst/>
          </a:prstGeom>
          <a:solidFill>
            <a:srgbClr val="1A7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94360" y="2542032"/>
            <a:ext cx="3529584" cy="694944"/>
          </a:xfrm>
          <a:prstGeom prst="roundRect">
            <a:avLst>
              <a:gd name="adj" fmla="val 6578"/>
            </a:avLst>
          </a:prstGeom>
          <a:solidFill>
            <a:srgbClr val="10192E"/>
          </a:solidFill>
          <a:ln w="1016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4944" y="2624327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Retrieval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1"/>
            <a:ext cx="33284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token-aware chunking, re-index, eval with run_eval.py on the sensitive doc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28415"/>
            <a:ext cx="3529584" cy="694944"/>
          </a:xfrm>
          <a:prstGeom prst="roundRect">
            <a:avLst>
              <a:gd name="adj" fmla="val 6578"/>
            </a:avLst>
          </a:prstGeom>
          <a:solidFill>
            <a:srgbClr val="10192E"/>
          </a:solidFill>
          <a:ln w="1016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4944" y="3410711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NPU 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602735"/>
            <a:ext cx="33284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QNN HTP verified on iQOO 15, pipeline benchmark with NPU∩GPU overlap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14800"/>
            <a:ext cx="3529584" cy="694944"/>
          </a:xfrm>
          <a:prstGeom prst="roundRect">
            <a:avLst>
              <a:gd name="adj" fmla="val 6578"/>
            </a:avLst>
          </a:prstGeom>
          <a:solidFill>
            <a:srgbClr val="10192E"/>
          </a:solidFill>
          <a:ln w="1016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4944" y="4197096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389120"/>
            <a:ext cx="33284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TEE chunk key; shorter capsule prompt; prefill/decode split in capsules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10312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40">
                <a:solidFill>
                  <a:srgbClr val="F0B429"/>
                </a:solidFill>
                <a:latin typeface="Aptos"/>
              </a:rPr>
              <a:t>NEXT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5112" y="2359152"/>
            <a:ext cx="3529584" cy="27432"/>
          </a:xfrm>
          <a:prstGeom prst="rect">
            <a:avLst/>
          </a:prstGeom>
          <a:solidFill>
            <a:srgbClr val="967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325112" y="2542032"/>
            <a:ext cx="3529584" cy="694944"/>
          </a:xfrm>
          <a:prstGeom prst="roundRect">
            <a:avLst>
              <a:gd name="adj" fmla="val 6578"/>
            </a:avLst>
          </a:prstGeom>
          <a:solidFill>
            <a:srgbClr val="10192E"/>
          </a:solidFill>
          <a:ln w="1016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25696" y="2624327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Embeddings encrypted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2816351"/>
            <a:ext cx="33284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decrypt once into RAM at open, zeroise on background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328415"/>
            <a:ext cx="3529584" cy="694944"/>
          </a:xfrm>
          <a:prstGeom prst="roundRect">
            <a:avLst>
              <a:gd name="adj" fmla="val 6578"/>
            </a:avLst>
          </a:prstGeom>
          <a:solidFill>
            <a:srgbClr val="10192E"/>
          </a:solidFill>
          <a:ln w="1016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425696" y="3410711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Unlocked-device 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3602735"/>
            <a:ext cx="33284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setUnlockedDeviceRequired after device testing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4114800"/>
            <a:ext cx="3529584" cy="694944"/>
          </a:xfrm>
          <a:prstGeom prst="roundRect">
            <a:avLst>
              <a:gd name="adj" fmla="val 6578"/>
            </a:avLst>
          </a:prstGeom>
          <a:solidFill>
            <a:srgbClr val="10192E"/>
          </a:solidFill>
          <a:ln w="1016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425696" y="4197096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Fresh attestation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4389120"/>
            <a:ext cx="33284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laptop-supplied challenge at enrollment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210312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40">
                <a:solidFill>
                  <a:srgbClr val="7C8CF8"/>
                </a:solidFill>
                <a:latin typeface="Aptos"/>
              </a:rPr>
              <a:t>LATER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5864" y="2359152"/>
            <a:ext cx="3529584" cy="27432"/>
          </a:xfrm>
          <a:prstGeom prst="rect">
            <a:avLst/>
          </a:prstGeom>
          <a:solidFill>
            <a:srgbClr val="505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055864" y="2542032"/>
            <a:ext cx="3529584" cy="694944"/>
          </a:xfrm>
          <a:prstGeom prst="roundRect">
            <a:avLst>
              <a:gd name="adj" fmla="val 6578"/>
            </a:avLst>
          </a:prstGeom>
          <a:solidFill>
            <a:srgbClr val="10192E"/>
          </a:solidFill>
          <a:ln w="1016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156448" y="2624327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TLS / Noise for lan bridge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816351"/>
            <a:ext cx="33284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same pairing as VaultLink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4" y="3328415"/>
            <a:ext cx="3529584" cy="694944"/>
          </a:xfrm>
          <a:prstGeom prst="roundRect">
            <a:avLst>
              <a:gd name="adj" fmla="val 6578"/>
            </a:avLst>
          </a:prstGeom>
          <a:solidFill>
            <a:srgbClr val="10192E"/>
          </a:solidFill>
          <a:ln w="1016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156448" y="3410711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Persisted replay cache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3602735"/>
            <a:ext cx="33284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reject replays across restarts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5864" y="4114800"/>
            <a:ext cx="3529584" cy="694944"/>
          </a:xfrm>
          <a:prstGeom prst="roundRect">
            <a:avLst>
              <a:gd name="adj" fmla="val 6578"/>
            </a:avLst>
          </a:prstGeom>
          <a:solidFill>
            <a:srgbClr val="10192E"/>
          </a:solidFill>
          <a:ln w="1016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156448" y="4197096"/>
            <a:ext cx="332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PAKE pairing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4389120"/>
            <a:ext cx="332841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780" b="0" i="0">
                <a:solidFill>
                  <a:srgbClr val="94A3B8"/>
                </a:solidFill>
                <a:latin typeface="Aptos"/>
              </a:rPr>
              <a:t>SPAKE2 + 6-digit compare; retire legacy v1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983480"/>
            <a:ext cx="11000232" cy="822960"/>
          </a:xfrm>
          <a:prstGeom prst="roundRect">
            <a:avLst>
              <a:gd name="adj" fmla="val 5555"/>
            </a:avLst>
          </a:prstGeom>
          <a:solidFill>
            <a:srgbClr val="10192E"/>
          </a:solidFill>
          <a:ln w="10160">
            <a:solidFill>
              <a:srgbClr val="6B1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94360" y="4983480"/>
            <a:ext cx="11000232" cy="27432"/>
          </a:xfrm>
          <a:prstGeom prst="rect">
            <a:avLst/>
          </a:prstGeom>
          <a:solidFill>
            <a:srgbClr val="8E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94944" y="5065776"/>
            <a:ext cx="107990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FFFFFF"/>
                </a:solidFill>
                <a:latin typeface="Aptos"/>
              </a:rPr>
              <a:t>Not claimed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5257800"/>
            <a:ext cx="1079906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40" b="0" i="0">
                <a:solidFill>
                  <a:srgbClr val="94A3B8"/>
                </a:solidFill>
                <a:latin typeface="Aptos"/>
              </a:rPr>
              <a:t>NPU acceleration is not claimed until QNN HTP is verified on the device. Embeddings are plaintext vectors. Hardware level is device-reported unless the attestation root is supplied. The QNN AARs carry the Qualcomm AI Hub Model License.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Oval 2"/>
          <p:cNvSpPr/>
          <p:nvPr/>
        </p:nvSpPr>
        <p:spPr>
          <a:xfrm>
            <a:off x="10112202" y="1887159"/>
            <a:ext cx="31089" cy="31089"/>
          </a:xfrm>
          <a:prstGeom prst="ellipse">
            <a:avLst/>
          </a:prstGeom>
          <a:solidFill>
            <a:srgbClr val="12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Oval 3"/>
          <p:cNvSpPr/>
          <p:nvPr/>
        </p:nvSpPr>
        <p:spPr>
          <a:xfrm>
            <a:off x="11846313" y="2221400"/>
            <a:ext cx="31089" cy="31089"/>
          </a:xfrm>
          <a:prstGeom prst="ellipse">
            <a:avLst/>
          </a:prstGeom>
          <a:solidFill>
            <a:srgbClr val="10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Oval 4"/>
          <p:cNvSpPr/>
          <p:nvPr/>
        </p:nvSpPr>
        <p:spPr>
          <a:xfrm>
            <a:off x="10039842" y="4815802"/>
            <a:ext cx="31089" cy="31089"/>
          </a:xfrm>
          <a:prstGeom prst="ellipse">
            <a:avLst/>
          </a:prstGeom>
          <a:solidFill>
            <a:srgbClr val="0F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Oval 5"/>
          <p:cNvSpPr/>
          <p:nvPr/>
        </p:nvSpPr>
        <p:spPr>
          <a:xfrm>
            <a:off x="10230843" y="6080833"/>
            <a:ext cx="31089" cy="31089"/>
          </a:xfrm>
          <a:prstGeom prst="ellipse">
            <a:avLst/>
          </a:prstGeom>
          <a:solidFill>
            <a:srgbClr val="112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Oval 6"/>
          <p:cNvSpPr/>
          <p:nvPr/>
        </p:nvSpPr>
        <p:spPr>
          <a:xfrm>
            <a:off x="10653374" y="4354219"/>
            <a:ext cx="31089" cy="31089"/>
          </a:xfrm>
          <a:prstGeom prst="ellipse">
            <a:avLst/>
          </a:prstGeom>
          <a:solidFill>
            <a:srgbClr val="12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Oval 7"/>
          <p:cNvSpPr/>
          <p:nvPr/>
        </p:nvSpPr>
        <p:spPr>
          <a:xfrm>
            <a:off x="9893204" y="5793120"/>
            <a:ext cx="31089" cy="31089"/>
          </a:xfrm>
          <a:prstGeom prst="ellipse">
            <a:avLst/>
          </a:prstGeom>
          <a:solidFill>
            <a:srgbClr val="144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Oval 8"/>
          <p:cNvSpPr/>
          <p:nvPr/>
        </p:nvSpPr>
        <p:spPr>
          <a:xfrm>
            <a:off x="11871407" y="4960447"/>
            <a:ext cx="31089" cy="31089"/>
          </a:xfrm>
          <a:prstGeom prst="ellipse">
            <a:avLst/>
          </a:prstGeom>
          <a:solidFill>
            <a:srgbClr val="112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Oval 9"/>
          <p:cNvSpPr/>
          <p:nvPr/>
        </p:nvSpPr>
        <p:spPr>
          <a:xfrm>
            <a:off x="10930335" y="2226232"/>
            <a:ext cx="31089" cy="31089"/>
          </a:xfrm>
          <a:prstGeom prst="ellipse">
            <a:avLst/>
          </a:prstGeom>
          <a:solidFill>
            <a:srgbClr val="11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Oval 10"/>
          <p:cNvSpPr/>
          <p:nvPr/>
        </p:nvSpPr>
        <p:spPr>
          <a:xfrm>
            <a:off x="11174192" y="1961896"/>
            <a:ext cx="31089" cy="31089"/>
          </a:xfrm>
          <a:prstGeom prst="ellipse">
            <a:avLst/>
          </a:prstGeom>
          <a:solidFill>
            <a:srgbClr val="1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Oval 11"/>
          <p:cNvSpPr/>
          <p:nvPr/>
        </p:nvSpPr>
        <p:spPr>
          <a:xfrm>
            <a:off x="8405324" y="727013"/>
            <a:ext cx="31089" cy="31089"/>
          </a:xfrm>
          <a:prstGeom prst="ellipse">
            <a:avLst/>
          </a:prstGeom>
          <a:solidFill>
            <a:srgbClr val="133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Oval 12"/>
          <p:cNvSpPr/>
          <p:nvPr/>
        </p:nvSpPr>
        <p:spPr>
          <a:xfrm>
            <a:off x="10221644" y="1642393"/>
            <a:ext cx="31089" cy="31089"/>
          </a:xfrm>
          <a:prstGeom prst="ellipse">
            <a:avLst/>
          </a:prstGeom>
          <a:solidFill>
            <a:srgbClr val="134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Oval 13"/>
          <p:cNvSpPr/>
          <p:nvPr/>
        </p:nvSpPr>
        <p:spPr>
          <a:xfrm>
            <a:off x="11889481" y="5364366"/>
            <a:ext cx="31089" cy="31089"/>
          </a:xfrm>
          <a:prstGeom prst="ellipse">
            <a:avLst/>
          </a:prstGeom>
          <a:solidFill>
            <a:srgbClr val="11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Oval 14"/>
          <p:cNvSpPr/>
          <p:nvPr/>
        </p:nvSpPr>
        <p:spPr>
          <a:xfrm>
            <a:off x="11470417" y="1447281"/>
            <a:ext cx="31089" cy="31089"/>
          </a:xfrm>
          <a:prstGeom prst="ellipse">
            <a:avLst/>
          </a:prstGeom>
          <a:solidFill>
            <a:srgbClr val="13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Oval 15"/>
          <p:cNvSpPr/>
          <p:nvPr/>
        </p:nvSpPr>
        <p:spPr>
          <a:xfrm>
            <a:off x="10032601" y="1604812"/>
            <a:ext cx="31089" cy="31089"/>
          </a:xfrm>
          <a:prstGeom prst="ellipse">
            <a:avLst/>
          </a:prstGeom>
          <a:solidFill>
            <a:srgbClr val="134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Oval 16"/>
          <p:cNvSpPr/>
          <p:nvPr/>
        </p:nvSpPr>
        <p:spPr>
          <a:xfrm>
            <a:off x="7707963" y="2114059"/>
            <a:ext cx="31089" cy="31089"/>
          </a:xfrm>
          <a:prstGeom prst="ellipse">
            <a:avLst/>
          </a:prstGeom>
          <a:solidFill>
            <a:srgbClr val="1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Oval 17"/>
          <p:cNvSpPr/>
          <p:nvPr/>
        </p:nvSpPr>
        <p:spPr>
          <a:xfrm>
            <a:off x="11846041" y="1427582"/>
            <a:ext cx="31089" cy="31089"/>
          </a:xfrm>
          <a:prstGeom prst="ellipse">
            <a:avLst/>
          </a:prstGeom>
          <a:solidFill>
            <a:srgbClr val="112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Oval 18"/>
          <p:cNvSpPr/>
          <p:nvPr/>
        </p:nvSpPr>
        <p:spPr>
          <a:xfrm>
            <a:off x="10692102" y="6504802"/>
            <a:ext cx="31089" cy="31089"/>
          </a:xfrm>
          <a:prstGeom prst="ellipse">
            <a:avLst/>
          </a:prstGeom>
          <a:solidFill>
            <a:srgbClr val="134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Oval 19"/>
          <p:cNvSpPr/>
          <p:nvPr/>
        </p:nvSpPr>
        <p:spPr>
          <a:xfrm>
            <a:off x="10041963" y="1926876"/>
            <a:ext cx="31089" cy="31089"/>
          </a:xfrm>
          <a:prstGeom prst="ellipse">
            <a:avLst/>
          </a:prstGeom>
          <a:solidFill>
            <a:srgbClr val="12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Oval 20"/>
          <p:cNvSpPr/>
          <p:nvPr/>
        </p:nvSpPr>
        <p:spPr>
          <a:xfrm>
            <a:off x="8311619" y="3083976"/>
            <a:ext cx="31089" cy="31089"/>
          </a:xfrm>
          <a:prstGeom prst="ellipse">
            <a:avLst/>
          </a:prstGeom>
          <a:solidFill>
            <a:srgbClr val="10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Oval 21"/>
          <p:cNvSpPr/>
          <p:nvPr/>
        </p:nvSpPr>
        <p:spPr>
          <a:xfrm>
            <a:off x="9982356" y="983913"/>
            <a:ext cx="31089" cy="31089"/>
          </a:xfrm>
          <a:prstGeom prst="ellipse">
            <a:avLst/>
          </a:prstGeom>
          <a:solidFill>
            <a:srgbClr val="11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Oval 22"/>
          <p:cNvSpPr/>
          <p:nvPr/>
        </p:nvSpPr>
        <p:spPr>
          <a:xfrm>
            <a:off x="11939782" y="2065963"/>
            <a:ext cx="31089" cy="31089"/>
          </a:xfrm>
          <a:prstGeom prst="ellipse">
            <a:avLst/>
          </a:prstGeom>
          <a:solidFill>
            <a:srgbClr val="11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Oval 23"/>
          <p:cNvSpPr/>
          <p:nvPr/>
        </p:nvSpPr>
        <p:spPr>
          <a:xfrm>
            <a:off x="11131013" y="1870447"/>
            <a:ext cx="31089" cy="31089"/>
          </a:xfrm>
          <a:prstGeom prst="ellipse">
            <a:avLst/>
          </a:prstGeom>
          <a:solidFill>
            <a:srgbClr val="144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Oval 24"/>
          <p:cNvSpPr/>
          <p:nvPr/>
        </p:nvSpPr>
        <p:spPr>
          <a:xfrm>
            <a:off x="9916053" y="4540848"/>
            <a:ext cx="31089" cy="31089"/>
          </a:xfrm>
          <a:prstGeom prst="ellipse">
            <a:avLst/>
          </a:prstGeom>
          <a:solidFill>
            <a:srgbClr val="0F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Oval 25"/>
          <p:cNvSpPr/>
          <p:nvPr/>
        </p:nvSpPr>
        <p:spPr>
          <a:xfrm>
            <a:off x="8597237" y="1085932"/>
            <a:ext cx="31089" cy="31089"/>
          </a:xfrm>
          <a:prstGeom prst="ellipse">
            <a:avLst/>
          </a:prstGeom>
          <a:solidFill>
            <a:srgbClr val="11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Oval 26"/>
          <p:cNvSpPr/>
          <p:nvPr/>
        </p:nvSpPr>
        <p:spPr>
          <a:xfrm>
            <a:off x="8956457" y="1068859"/>
            <a:ext cx="31089" cy="31089"/>
          </a:xfrm>
          <a:prstGeom prst="ellipse">
            <a:avLst/>
          </a:prstGeom>
          <a:solidFill>
            <a:srgbClr val="144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Oval 27"/>
          <p:cNvSpPr/>
          <p:nvPr/>
        </p:nvSpPr>
        <p:spPr>
          <a:xfrm>
            <a:off x="7948088" y="2467818"/>
            <a:ext cx="31089" cy="31089"/>
          </a:xfrm>
          <a:prstGeom prst="ellipse">
            <a:avLst/>
          </a:prstGeom>
          <a:solidFill>
            <a:srgbClr val="12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Oval 28"/>
          <p:cNvSpPr/>
          <p:nvPr/>
        </p:nvSpPr>
        <p:spPr>
          <a:xfrm>
            <a:off x="10434974" y="2566947"/>
            <a:ext cx="31089" cy="31089"/>
          </a:xfrm>
          <a:prstGeom prst="ellipse">
            <a:avLst/>
          </a:prstGeom>
          <a:solidFill>
            <a:srgbClr val="123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Oval 29"/>
          <p:cNvSpPr/>
          <p:nvPr/>
        </p:nvSpPr>
        <p:spPr>
          <a:xfrm>
            <a:off x="8651418" y="5518167"/>
            <a:ext cx="31089" cy="31089"/>
          </a:xfrm>
          <a:prstGeom prst="ellipse">
            <a:avLst/>
          </a:prstGeom>
          <a:solidFill>
            <a:srgbClr val="1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Oval 30"/>
          <p:cNvSpPr/>
          <p:nvPr/>
        </p:nvSpPr>
        <p:spPr>
          <a:xfrm>
            <a:off x="10919521" y="4856013"/>
            <a:ext cx="31089" cy="31089"/>
          </a:xfrm>
          <a:prstGeom prst="ellipse">
            <a:avLst/>
          </a:prstGeom>
          <a:solidFill>
            <a:srgbClr val="13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Oval 31"/>
          <p:cNvSpPr/>
          <p:nvPr/>
        </p:nvSpPr>
        <p:spPr>
          <a:xfrm>
            <a:off x="8604269" y="1103055"/>
            <a:ext cx="31089" cy="31089"/>
          </a:xfrm>
          <a:prstGeom prst="ellipse">
            <a:avLst/>
          </a:prstGeom>
          <a:solidFill>
            <a:srgbClr val="12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Oval 32"/>
          <p:cNvSpPr/>
          <p:nvPr/>
        </p:nvSpPr>
        <p:spPr>
          <a:xfrm>
            <a:off x="9399323" y="6292213"/>
            <a:ext cx="31089" cy="31089"/>
          </a:xfrm>
          <a:prstGeom prst="ellipse">
            <a:avLst/>
          </a:prstGeom>
          <a:solidFill>
            <a:srgbClr val="1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Oval 33"/>
          <p:cNvSpPr/>
          <p:nvPr/>
        </p:nvSpPr>
        <p:spPr>
          <a:xfrm>
            <a:off x="8527887" y="4267799"/>
            <a:ext cx="31089" cy="31089"/>
          </a:xfrm>
          <a:prstGeom prst="ellipse">
            <a:avLst/>
          </a:prstGeom>
          <a:solidFill>
            <a:srgbClr val="133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Oval 34"/>
          <p:cNvSpPr/>
          <p:nvPr/>
        </p:nvSpPr>
        <p:spPr>
          <a:xfrm>
            <a:off x="8769133" y="2796207"/>
            <a:ext cx="31089" cy="31089"/>
          </a:xfrm>
          <a:prstGeom prst="ellipse">
            <a:avLst/>
          </a:prstGeom>
          <a:solidFill>
            <a:srgbClr val="10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Oval 35"/>
          <p:cNvSpPr/>
          <p:nvPr/>
        </p:nvSpPr>
        <p:spPr>
          <a:xfrm>
            <a:off x="7895247" y="1143174"/>
            <a:ext cx="31089" cy="31089"/>
          </a:xfrm>
          <a:prstGeom prst="ellipse">
            <a:avLst/>
          </a:prstGeom>
          <a:solidFill>
            <a:srgbClr val="13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Oval 36"/>
          <p:cNvSpPr/>
          <p:nvPr/>
        </p:nvSpPr>
        <p:spPr>
          <a:xfrm>
            <a:off x="10509553" y="1107878"/>
            <a:ext cx="31089" cy="31089"/>
          </a:xfrm>
          <a:prstGeom prst="ellipse">
            <a:avLst/>
          </a:prstGeom>
          <a:solidFill>
            <a:srgbClr val="112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Oval 37"/>
          <p:cNvSpPr/>
          <p:nvPr/>
        </p:nvSpPr>
        <p:spPr>
          <a:xfrm>
            <a:off x="9901843" y="5478893"/>
            <a:ext cx="31089" cy="31089"/>
          </a:xfrm>
          <a:prstGeom prst="ellipse">
            <a:avLst/>
          </a:prstGeom>
          <a:solidFill>
            <a:srgbClr val="11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Oval 38"/>
          <p:cNvSpPr/>
          <p:nvPr/>
        </p:nvSpPr>
        <p:spPr>
          <a:xfrm>
            <a:off x="7840046" y="1074792"/>
            <a:ext cx="31089" cy="31089"/>
          </a:xfrm>
          <a:prstGeom prst="ellipse">
            <a:avLst/>
          </a:prstGeom>
          <a:solidFill>
            <a:srgbClr val="0F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Oval 39"/>
          <p:cNvSpPr/>
          <p:nvPr/>
        </p:nvSpPr>
        <p:spPr>
          <a:xfrm>
            <a:off x="9602355" y="1199435"/>
            <a:ext cx="31089" cy="31089"/>
          </a:xfrm>
          <a:prstGeom prst="ellipse">
            <a:avLst/>
          </a:prstGeom>
          <a:solidFill>
            <a:srgbClr val="133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Oval 40"/>
          <p:cNvSpPr/>
          <p:nvPr/>
        </p:nvSpPr>
        <p:spPr>
          <a:xfrm>
            <a:off x="11320040" y="4240745"/>
            <a:ext cx="31089" cy="31089"/>
          </a:xfrm>
          <a:prstGeom prst="ellipse">
            <a:avLst/>
          </a:prstGeom>
          <a:solidFill>
            <a:srgbClr val="10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Oval 41"/>
          <p:cNvSpPr/>
          <p:nvPr/>
        </p:nvSpPr>
        <p:spPr>
          <a:xfrm>
            <a:off x="10977839" y="1786818"/>
            <a:ext cx="31089" cy="31089"/>
          </a:xfrm>
          <a:prstGeom prst="ellipse">
            <a:avLst/>
          </a:prstGeom>
          <a:solidFill>
            <a:srgbClr val="10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Oval 42"/>
          <p:cNvSpPr/>
          <p:nvPr/>
        </p:nvSpPr>
        <p:spPr>
          <a:xfrm>
            <a:off x="8745020" y="4348637"/>
            <a:ext cx="31089" cy="31089"/>
          </a:xfrm>
          <a:prstGeom prst="ellipse">
            <a:avLst/>
          </a:prstGeom>
          <a:solidFill>
            <a:srgbClr val="12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Oval 43"/>
          <p:cNvSpPr/>
          <p:nvPr/>
        </p:nvSpPr>
        <p:spPr>
          <a:xfrm>
            <a:off x="8293009" y="2072112"/>
            <a:ext cx="31089" cy="31089"/>
          </a:xfrm>
          <a:prstGeom prst="ellipse">
            <a:avLst/>
          </a:prstGeom>
          <a:solidFill>
            <a:srgbClr val="144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Oval 44"/>
          <p:cNvSpPr/>
          <p:nvPr/>
        </p:nvSpPr>
        <p:spPr>
          <a:xfrm>
            <a:off x="11348119" y="2310395"/>
            <a:ext cx="31089" cy="31089"/>
          </a:xfrm>
          <a:prstGeom prst="ellipse">
            <a:avLst/>
          </a:prstGeom>
          <a:solidFill>
            <a:srgbClr val="11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Oval 45"/>
          <p:cNvSpPr/>
          <p:nvPr/>
        </p:nvSpPr>
        <p:spPr>
          <a:xfrm>
            <a:off x="8179571" y="2149244"/>
            <a:ext cx="31089" cy="31089"/>
          </a:xfrm>
          <a:prstGeom prst="ellipse">
            <a:avLst/>
          </a:prstGeom>
          <a:solidFill>
            <a:srgbClr val="10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Oval 46"/>
          <p:cNvSpPr/>
          <p:nvPr/>
        </p:nvSpPr>
        <p:spPr>
          <a:xfrm>
            <a:off x="9704645" y="3303784"/>
            <a:ext cx="31089" cy="31089"/>
          </a:xfrm>
          <a:prstGeom prst="ellipse">
            <a:avLst/>
          </a:prstGeom>
          <a:solidFill>
            <a:srgbClr val="10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Oval 47"/>
          <p:cNvSpPr/>
          <p:nvPr/>
        </p:nvSpPr>
        <p:spPr>
          <a:xfrm>
            <a:off x="10799136" y="3183764"/>
            <a:ext cx="31089" cy="31089"/>
          </a:xfrm>
          <a:prstGeom prst="ellipse">
            <a:avLst/>
          </a:prstGeom>
          <a:solidFill>
            <a:srgbClr val="12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9" name="Oval 48"/>
          <p:cNvSpPr/>
          <p:nvPr/>
        </p:nvSpPr>
        <p:spPr>
          <a:xfrm>
            <a:off x="11881552" y="5301481"/>
            <a:ext cx="31089" cy="31089"/>
          </a:xfrm>
          <a:prstGeom prst="ellipse">
            <a:avLst/>
          </a:prstGeom>
          <a:solidFill>
            <a:srgbClr val="0F1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Oval 49"/>
          <p:cNvSpPr/>
          <p:nvPr/>
        </p:nvSpPr>
        <p:spPr>
          <a:xfrm>
            <a:off x="8038280" y="4761028"/>
            <a:ext cx="31089" cy="31089"/>
          </a:xfrm>
          <a:prstGeom prst="ellipse">
            <a:avLst/>
          </a:prstGeom>
          <a:solidFill>
            <a:srgbClr val="144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Oval 50"/>
          <p:cNvSpPr/>
          <p:nvPr/>
        </p:nvSpPr>
        <p:spPr>
          <a:xfrm>
            <a:off x="11118356" y="5380457"/>
            <a:ext cx="31089" cy="31089"/>
          </a:xfrm>
          <a:prstGeom prst="ellipse">
            <a:avLst/>
          </a:prstGeom>
          <a:solidFill>
            <a:srgbClr val="10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Oval 51"/>
          <p:cNvSpPr/>
          <p:nvPr/>
        </p:nvSpPr>
        <p:spPr>
          <a:xfrm>
            <a:off x="7793839" y="1316893"/>
            <a:ext cx="31089" cy="31089"/>
          </a:xfrm>
          <a:prstGeom prst="ellipse">
            <a:avLst/>
          </a:prstGeom>
          <a:solidFill>
            <a:srgbClr val="10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Oval 52"/>
          <p:cNvSpPr/>
          <p:nvPr/>
        </p:nvSpPr>
        <p:spPr>
          <a:xfrm>
            <a:off x="8693140" y="264022"/>
            <a:ext cx="31089" cy="31089"/>
          </a:xfrm>
          <a:prstGeom prst="ellipse">
            <a:avLst/>
          </a:prstGeom>
          <a:solidFill>
            <a:srgbClr val="112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4" name="Oval 53"/>
          <p:cNvSpPr/>
          <p:nvPr/>
        </p:nvSpPr>
        <p:spPr>
          <a:xfrm>
            <a:off x="10197710" y="4313211"/>
            <a:ext cx="31089" cy="31089"/>
          </a:xfrm>
          <a:prstGeom prst="ellipse">
            <a:avLst/>
          </a:prstGeom>
          <a:solidFill>
            <a:srgbClr val="123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5" name="Oval 54"/>
          <p:cNvSpPr/>
          <p:nvPr/>
        </p:nvSpPr>
        <p:spPr>
          <a:xfrm>
            <a:off x="9617871" y="3969492"/>
            <a:ext cx="31089" cy="31089"/>
          </a:xfrm>
          <a:prstGeom prst="ellipse">
            <a:avLst/>
          </a:prstGeom>
          <a:solidFill>
            <a:srgbClr val="123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6" name="Oval 55"/>
          <p:cNvSpPr/>
          <p:nvPr/>
        </p:nvSpPr>
        <p:spPr>
          <a:xfrm>
            <a:off x="10026312" y="1317221"/>
            <a:ext cx="31089" cy="31089"/>
          </a:xfrm>
          <a:prstGeom prst="ellipse">
            <a:avLst/>
          </a:prstGeom>
          <a:solidFill>
            <a:srgbClr val="113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Oval 56"/>
          <p:cNvSpPr/>
          <p:nvPr/>
        </p:nvSpPr>
        <p:spPr>
          <a:xfrm>
            <a:off x="11103811" y="1317700"/>
            <a:ext cx="31089" cy="31089"/>
          </a:xfrm>
          <a:prstGeom prst="ellipse">
            <a:avLst/>
          </a:prstGeom>
          <a:solidFill>
            <a:srgbClr val="11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Oval 57"/>
          <p:cNvSpPr/>
          <p:nvPr/>
        </p:nvSpPr>
        <p:spPr>
          <a:xfrm>
            <a:off x="10556055" y="3823840"/>
            <a:ext cx="31089" cy="31089"/>
          </a:xfrm>
          <a:prstGeom prst="ellipse">
            <a:avLst/>
          </a:prstGeom>
          <a:solidFill>
            <a:srgbClr val="1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9" name="Oval 58"/>
          <p:cNvSpPr/>
          <p:nvPr/>
        </p:nvSpPr>
        <p:spPr>
          <a:xfrm>
            <a:off x="9672291" y="5366521"/>
            <a:ext cx="31089" cy="31089"/>
          </a:xfrm>
          <a:prstGeom prst="ellipse">
            <a:avLst/>
          </a:prstGeom>
          <a:solidFill>
            <a:srgbClr val="0F1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0" name="Oval 59"/>
          <p:cNvSpPr/>
          <p:nvPr/>
        </p:nvSpPr>
        <p:spPr>
          <a:xfrm>
            <a:off x="8063092" y="1103567"/>
            <a:ext cx="31089" cy="31089"/>
          </a:xfrm>
          <a:prstGeom prst="ellipse">
            <a:avLst/>
          </a:prstGeom>
          <a:solidFill>
            <a:srgbClr val="10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1" name="Oval 60"/>
          <p:cNvSpPr/>
          <p:nvPr/>
        </p:nvSpPr>
        <p:spPr>
          <a:xfrm>
            <a:off x="11244656" y="4510515"/>
            <a:ext cx="31089" cy="31089"/>
          </a:xfrm>
          <a:prstGeom prst="ellipse">
            <a:avLst/>
          </a:prstGeom>
          <a:solidFill>
            <a:srgbClr val="112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2" name="Oval 61"/>
          <p:cNvSpPr/>
          <p:nvPr/>
        </p:nvSpPr>
        <p:spPr>
          <a:xfrm>
            <a:off x="11248934" y="4422998"/>
            <a:ext cx="31089" cy="31089"/>
          </a:xfrm>
          <a:prstGeom prst="ellipse">
            <a:avLst/>
          </a:prstGeom>
          <a:solidFill>
            <a:srgbClr val="144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Oval 62"/>
          <p:cNvSpPr/>
          <p:nvPr/>
        </p:nvSpPr>
        <p:spPr>
          <a:xfrm>
            <a:off x="9902361" y="2478608"/>
            <a:ext cx="31089" cy="31089"/>
          </a:xfrm>
          <a:prstGeom prst="ellipse">
            <a:avLst/>
          </a:prstGeom>
          <a:solidFill>
            <a:srgbClr val="112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Oval 63"/>
          <p:cNvSpPr/>
          <p:nvPr/>
        </p:nvSpPr>
        <p:spPr>
          <a:xfrm>
            <a:off x="8774801" y="4811058"/>
            <a:ext cx="31089" cy="31089"/>
          </a:xfrm>
          <a:prstGeom prst="ellipse">
            <a:avLst/>
          </a:prstGeom>
          <a:solidFill>
            <a:srgbClr val="113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5" name="Oval 64"/>
          <p:cNvSpPr/>
          <p:nvPr/>
        </p:nvSpPr>
        <p:spPr>
          <a:xfrm>
            <a:off x="10019809" y="6251638"/>
            <a:ext cx="31089" cy="31089"/>
          </a:xfrm>
          <a:prstGeom prst="ellipse">
            <a:avLst/>
          </a:prstGeom>
          <a:solidFill>
            <a:srgbClr val="10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6" name="Oval 65"/>
          <p:cNvSpPr/>
          <p:nvPr/>
        </p:nvSpPr>
        <p:spPr>
          <a:xfrm>
            <a:off x="9135579" y="6413347"/>
            <a:ext cx="31089" cy="31089"/>
          </a:xfrm>
          <a:prstGeom prst="ellipse">
            <a:avLst/>
          </a:prstGeom>
          <a:solidFill>
            <a:srgbClr val="11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7" name="Oval 66"/>
          <p:cNvSpPr/>
          <p:nvPr/>
        </p:nvSpPr>
        <p:spPr>
          <a:xfrm>
            <a:off x="9363835" y="1950952"/>
            <a:ext cx="31089" cy="31089"/>
          </a:xfrm>
          <a:prstGeom prst="ellipse">
            <a:avLst/>
          </a:prstGeom>
          <a:solidFill>
            <a:srgbClr val="123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8" name="Oval 67"/>
          <p:cNvSpPr/>
          <p:nvPr/>
        </p:nvSpPr>
        <p:spPr>
          <a:xfrm>
            <a:off x="11714110" y="1171258"/>
            <a:ext cx="31089" cy="31089"/>
          </a:xfrm>
          <a:prstGeom prst="ellipse">
            <a:avLst/>
          </a:prstGeom>
          <a:solidFill>
            <a:srgbClr val="12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9" name="Oval 68"/>
          <p:cNvSpPr/>
          <p:nvPr/>
        </p:nvSpPr>
        <p:spPr>
          <a:xfrm>
            <a:off x="10727602" y="1127929"/>
            <a:ext cx="31089" cy="31089"/>
          </a:xfrm>
          <a:prstGeom prst="ellipse">
            <a:avLst/>
          </a:prstGeom>
          <a:solidFill>
            <a:srgbClr val="133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0" name="Oval 69"/>
          <p:cNvSpPr/>
          <p:nvPr/>
        </p:nvSpPr>
        <p:spPr>
          <a:xfrm>
            <a:off x="9659791" y="1297937"/>
            <a:ext cx="31089" cy="31089"/>
          </a:xfrm>
          <a:prstGeom prst="ellipse">
            <a:avLst/>
          </a:prstGeom>
          <a:solidFill>
            <a:srgbClr val="134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1" name="Oval 70"/>
          <p:cNvSpPr/>
          <p:nvPr/>
        </p:nvSpPr>
        <p:spPr>
          <a:xfrm>
            <a:off x="8148162" y="6327082"/>
            <a:ext cx="31089" cy="31089"/>
          </a:xfrm>
          <a:prstGeom prst="ellipse">
            <a:avLst/>
          </a:prstGeom>
          <a:solidFill>
            <a:srgbClr val="112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2" name="Oval 71"/>
          <p:cNvSpPr/>
          <p:nvPr/>
        </p:nvSpPr>
        <p:spPr>
          <a:xfrm>
            <a:off x="9861234" y="5121438"/>
            <a:ext cx="31089" cy="31089"/>
          </a:xfrm>
          <a:prstGeom prst="ellipse">
            <a:avLst/>
          </a:prstGeom>
          <a:solidFill>
            <a:srgbClr val="123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594360" y="347472"/>
            <a:ext cx="8778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4748B"/>
                </a:solidFill>
                <a:latin typeface="Aptos"/>
              </a:rPr>
              <a:t>23 · IN ONE PAGE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731520"/>
            <a:ext cx="110002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 i="0">
                <a:solidFill>
                  <a:srgbClr val="FFFFFF"/>
                </a:solidFill>
                <a:latin typeface="Aptos Display"/>
              </a:rPr>
              <a:t>Vault, in one page.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" y="6291072"/>
            <a:ext cx="11000232" cy="10058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0881360" y="6419088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 spc="80">
                <a:solidFill>
                  <a:srgbClr val="64748B"/>
                </a:solidFill>
                <a:latin typeface="Aptos"/>
              </a:rPr>
              <a:t>23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4360" y="1600200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123232"/>
          </a:solidFill>
          <a:ln w="762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594360" y="164134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22C55E"/>
                </a:solidFill>
                <a:latin typeface="Aptos"/>
              </a:rPr>
              <a:t>OVERALL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74519" y="1581912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FFFFF"/>
                </a:solidFill>
                <a:latin typeface="Aptos"/>
              </a:rPr>
              <a:t>Phone holds corpus, index, encoder and one reasoner; the laptop gets a sealed, signed capsule over the clipboard.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4360" y="2313432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123232"/>
          </a:solidFill>
          <a:ln w="762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594360" y="235458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22C55E"/>
                </a:solidFill>
                <a:latin typeface="Aptos"/>
              </a:rPr>
              <a:t>VAULT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74519" y="2295144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FFFFF"/>
                </a:solidFill>
                <a:latin typeface="Aptos"/>
              </a:rPr>
              <a:t>Chunk → MiniLM → AES-GCM SQLite + RAM matrix; rank in RAM, decrypt only winners; the loaded LLM writes every answer.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3026664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123232"/>
          </a:solidFill>
          <a:ln w="762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594360" y="306781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22C55E"/>
                </a:solidFill>
                <a:latin typeface="Aptos"/>
              </a:rPr>
              <a:t>COMPUTE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74519" y="3008376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FFFFF"/>
                </a:solidFill>
                <a:latin typeface="Aptos"/>
              </a:rPr>
              <a:t>NPU for embeddings (QNN HTP, strictly gated), GPU for the reasoner, CPU for ranking, StrongBox/TEE for keys.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94360" y="3739896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123232"/>
          </a:solidFill>
          <a:ln w="762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594360" y="37810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22C55E"/>
                </a:solidFill>
                <a:latin typeface="Aptos"/>
              </a:rPr>
              <a:t>SECURITY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74519" y="372160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FFFFF"/>
                </a:solidFill>
                <a:latin typeface="Aptos"/>
              </a:rPr>
              <a:t>Keys never leave the keystore; capsules signed over a canonical payload; laptop trusts only a pinned key.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94360" y="4453128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123232"/>
          </a:solidFill>
          <a:ln w="762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594360" y="449427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22C55E"/>
                </a:solidFill>
                <a:latin typeface="Aptos"/>
              </a:rPr>
              <a:t>VLP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74519" y="443484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FFFFF"/>
                </a:solidFill>
                <a:latin typeface="Aptos"/>
              </a:rPr>
              <a:t>VAULTLINK/2: typed pairing code, HMAC key schedule, AES-GCM frames, direction keys, replay window, 20 s scrub.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4360" y="5166360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123232"/>
          </a:solidFill>
          <a:ln w="7620">
            <a:solidFill>
              <a:srgbClr val="186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594360" y="520750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50">
                <a:solidFill>
                  <a:srgbClr val="22C55E"/>
                </a:solidFill>
                <a:latin typeface="Aptos"/>
              </a:rPr>
              <a:t>EVIDENCE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74519" y="5148072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FFFFFF"/>
                </a:solidFill>
                <a:latin typeface="Aptos"/>
              </a:rPr>
              <a:t>Measured on the iQOO 15 where possible; verified on host otherwise; open gaps named, not hidden.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